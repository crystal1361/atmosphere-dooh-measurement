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ser>
          <c:idx val="2"/>
          <c:order val="2"/>
          <c:tx>
            <c:strRef>
              <c:f>Sheet1!$D$1</c:f>
              <c:strCache>
                <c:ptCount val="1"/>
                <c:pt idx="0">
                  <c:v>True max lift</c:v>
                </c:pt>
              </c:strCache>
            </c:strRef>
          </c:tx>
          <c:spPr>
            <a:solidFill>
              <a:srgbClr val="E8871E"/>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Sheet1!$D$2:$D$5</c:f>
              <c:numCache>
                <c:formatCode>General</c:formatCode>
                <c:ptCount val="4"/>
                <c:pt idx="0">
                  <c:v>18</c:v>
                </c:pt>
                <c:pt idx="1">
                  <c:v>14</c:v>
                </c:pt>
                <c:pt idx="2">
                  <c:v>22</c:v>
                </c:pt>
                <c:pt idx="3">
                  <c:v>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ser>
          <c:idx val="2"/>
          <c:order val="2"/>
          <c:tx>
            <c:strRef>
              <c:f>Sheet1!$D$1</c:f>
              <c:strCache>
                <c:ptCount val="1"/>
                <c:pt idx="0">
                  <c:v>True max lift</c:v>
                </c:pt>
              </c:strCache>
            </c:strRef>
          </c:tx>
          <c:spPr>
            <a:solidFill>
              <a:srgbClr val="E8871E"/>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Sheet1!$D$2:$D$5</c:f>
              <c:numCache>
                <c:formatCode>General</c:formatCode>
                <c:ptCount val="4"/>
                <c:pt idx="0">
                  <c:v>18</c:v>
                </c:pt>
                <c:pt idx="1">
                  <c:v>14</c:v>
                </c:pt>
                <c:pt idx="2">
                  <c:v>22</c:v>
                </c:pt>
                <c:pt idx="3">
                  <c:v>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Design: one pipeline, confidence flows from experiment to product</a:t>
            </a:r>
            <a:endParaRPr lang="en-US" sz="2600" dirty="0"/>
          </a:p>
        </p:txBody>
      </p:sp>
      <p:sp>
        <p:nvSpPr>
          <p:cNvPr id="3" name="Shape 1"/>
          <p:cNvSpPr/>
          <p:nvPr/>
        </p:nvSpPr>
        <p:spPr>
          <a:xfrm>
            <a:off x="502920" y="1828800"/>
            <a:ext cx="1737360" cy="2834640"/>
          </a:xfrm>
          <a:prstGeom prst="roundRect">
            <a:avLst>
              <a:gd name="adj" fmla="val 5263"/>
            </a:avLst>
          </a:prstGeom>
          <a:solidFill>
            <a:srgbClr val="1E2761"/>
          </a:solidFill>
          <a:ln/>
        </p:spPr>
      </p:sp>
      <p:sp>
        <p:nvSpPr>
          <p:cNvPr id="4" name="Shape 2"/>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5" name="Text 3"/>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6" name="Text 4"/>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8" name="Text 6"/>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9" name="Text 7"/>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0" name="Text 8"/>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1" name="Shape 9"/>
          <p:cNvSpPr/>
          <p:nvPr/>
        </p:nvSpPr>
        <p:spPr>
          <a:xfrm>
            <a:off x="2423160" y="1828800"/>
            <a:ext cx="1737360" cy="2834640"/>
          </a:xfrm>
          <a:prstGeom prst="roundRect">
            <a:avLst>
              <a:gd name="adj" fmla="val 5263"/>
            </a:avLst>
          </a:prstGeom>
          <a:solidFill>
            <a:srgbClr val="E4E9F7"/>
          </a:solidFill>
          <a:ln/>
        </p:spPr>
      </p:sp>
      <p:sp>
        <p:nvSpPr>
          <p:cNvPr id="12" name="Shape 10"/>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3" name="Text 11"/>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4" name="Text 12"/>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5" name="Text 13"/>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6" name="Text 14"/>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7" name="Text 15"/>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8" name="Text 16"/>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9" name="Shape 17"/>
          <p:cNvSpPr/>
          <p:nvPr/>
        </p:nvSpPr>
        <p:spPr>
          <a:xfrm>
            <a:off x="4343400" y="1828800"/>
            <a:ext cx="1737360" cy="2834640"/>
          </a:xfrm>
          <a:prstGeom prst="roundRect">
            <a:avLst>
              <a:gd name="adj" fmla="val 5263"/>
            </a:avLst>
          </a:prstGeom>
          <a:solidFill>
            <a:srgbClr val="FBE8D2"/>
          </a:solidFill>
          <a:ln/>
        </p:spPr>
      </p:sp>
      <p:sp>
        <p:nvSpPr>
          <p:cNvPr id="20" name="Shape 18"/>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1" name="Text 19"/>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2" name="Text 20"/>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3" name="Text 21"/>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4" name="Text 22"/>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5" name="Text 23"/>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6" name="Text 24"/>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7" name="Shape 25"/>
          <p:cNvSpPr/>
          <p:nvPr/>
        </p:nvSpPr>
        <p:spPr>
          <a:xfrm>
            <a:off x="6263640" y="1828800"/>
            <a:ext cx="1737360" cy="2834640"/>
          </a:xfrm>
          <a:prstGeom prst="roundRect">
            <a:avLst>
              <a:gd name="adj" fmla="val 5263"/>
            </a:avLst>
          </a:prstGeom>
          <a:solidFill>
            <a:srgbClr val="E8871E"/>
          </a:solidFill>
          <a:ln/>
        </p:spPr>
      </p:sp>
      <p:sp>
        <p:nvSpPr>
          <p:cNvPr id="28" name="Shape 26"/>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29" name="Text 27"/>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0" name="Text 28"/>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1" name="Text 29"/>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2" name="Text 30"/>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3" name="Text 31"/>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4" name="Text 32"/>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5" name="Shape 33"/>
          <p:cNvSpPr/>
          <p:nvPr/>
        </p:nvSpPr>
        <p:spPr>
          <a:xfrm>
            <a:off x="8183880" y="1828800"/>
            <a:ext cx="1737360" cy="2834640"/>
          </a:xfrm>
          <a:prstGeom prst="roundRect">
            <a:avLst>
              <a:gd name="adj" fmla="val 5263"/>
            </a:avLst>
          </a:prstGeom>
          <a:solidFill>
            <a:srgbClr val="2C7A57"/>
          </a:solidFill>
          <a:ln/>
        </p:spPr>
      </p:sp>
      <p:sp>
        <p:nvSpPr>
          <p:cNvPr id="36" name="Shape 34"/>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7" name="Text 35"/>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8" name="Text 36"/>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9" name="Text 37"/>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0" name="Text 38"/>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1" name="Text 39"/>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2" name="Text 40"/>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3" name="Shape 41"/>
          <p:cNvSpPr/>
          <p:nvPr/>
        </p:nvSpPr>
        <p:spPr>
          <a:xfrm>
            <a:off x="10104120" y="1828800"/>
            <a:ext cx="1737360" cy="2834640"/>
          </a:xfrm>
          <a:prstGeom prst="roundRect">
            <a:avLst>
              <a:gd name="adj" fmla="val 5263"/>
            </a:avLst>
          </a:prstGeom>
          <a:solidFill>
            <a:srgbClr val="8E3B60"/>
          </a:solidFill>
          <a:ln/>
        </p:spPr>
      </p:sp>
      <p:sp>
        <p:nvSpPr>
          <p:cNvPr id="44" name="Shape 42"/>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5" name="Text 43"/>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6" name="Text 44"/>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7" name="Text 45"/>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8" name="Text 46"/>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49" name="Text 47"/>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0" name="Text 48"/>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1" name="Text 49"/>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2" name="Text 50"/>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3" name="Text 51"/>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4" name="Text 52"/>
          <p:cNvSpPr/>
          <p:nvPr/>
        </p:nvSpPr>
        <p:spPr>
          <a:xfrm>
            <a:off x="640080" y="5285232"/>
            <a:ext cx="10881360" cy="105156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Steps 1–2 answer Q1: RCT for randomized campaigns, synthetic control extending coverage to historical, non-randomized ones. Steps 3–4 turn that into Q2: MMM shapes the response curve, the RCT pins its scale, and the allocator solves the exact split. Step 5 answers Q3: the venue-revenue model reuses the calibrated per-exposure lift from steps 1–3 as a feature. Step 6 answers Q4: a separate churn classifier flags at-risk venues, then combines its risk score with step 5's revenue into one value-×-risk priority — one connected system feeding all four answers, not four separate projects bolted together.</a:t>
            </a:r>
            <a:endParaRPr lang="en-US" sz="1050" dirty="0"/>
          </a:p>
        </p:txBody>
      </p:sp>
      <p:sp>
        <p:nvSpPr>
          <p:cNvPr id="55" name="Text 5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Design overview</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Two data sources: a designed holdout test, and campaign history</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Foundation for Steps 1–3 · Q1–Q2</a:t>
            </a:r>
            <a:endParaRPr lang="en-US" sz="950" dirty="0"/>
          </a:p>
        </p:txBody>
      </p:sp>
      <p:sp>
        <p:nvSpPr>
          <p:cNvPr id="5" name="Text 3"/>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sp>
        <p:nvSpPr>
          <p:cNvPr id="6" name="Shape 4"/>
          <p:cNvSpPr/>
          <p:nvPr/>
        </p:nvSpPr>
        <p:spPr>
          <a:xfrm>
            <a:off x="548640" y="1828800"/>
            <a:ext cx="5394960" cy="4023360"/>
          </a:xfrm>
          <a:prstGeom prst="roundRect">
            <a:avLst>
              <a:gd name="adj" fmla="val 2273"/>
            </a:avLst>
          </a:prstGeom>
          <a:solidFill>
            <a:srgbClr val="F5F7FC"/>
          </a:solidFill>
          <a:ln/>
        </p:spPr>
      </p:sp>
      <p:sp>
        <p:nvSpPr>
          <p:cNvPr id="7" name="Text 5"/>
          <p:cNvSpPr/>
          <p:nvPr/>
        </p:nvSpPr>
        <p:spPr>
          <a:xfrm>
            <a:off x="86868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RCT pool</a:t>
            </a:r>
            <a:endParaRPr lang="en-US" sz="1700" dirty="0"/>
          </a:p>
        </p:txBody>
      </p:sp>
      <p:sp>
        <p:nvSpPr>
          <p:cNvPr id="8" name="Text 6"/>
          <p:cNvSpPr/>
          <p:nvPr/>
        </p:nvSpPr>
        <p:spPr>
          <a:xfrm>
            <a:off x="86868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Randomly split treated / holdout within venue_type × geo_cluster × traffic-tier strata for a fixed benchmark campaign. This is a real Atmosphere-designed measurement product, not a historical campaign.</a:t>
            </a:r>
            <a:endParaRPr lang="en-US" sz="1250" dirty="0"/>
          </a:p>
        </p:txBody>
      </p:sp>
      <p:sp>
        <p:nvSpPr>
          <p:cNvPr id="9" name="Text 7"/>
          <p:cNvSpPr/>
          <p:nvPr/>
        </p:nvSpPr>
        <p:spPr>
          <a:xfrm>
            <a:off x="868680" y="5029200"/>
            <a:ext cx="4754880" cy="731520"/>
          </a:xfrm>
          <a:prstGeom prst="rect">
            <a:avLst/>
          </a:prstGeom>
          <a:noFill/>
          <a:ln/>
        </p:spPr>
        <p:txBody>
          <a:bodyPr wrap="square" rtlCol="0" anchor="ctr"/>
          <a:lstStyle/>
          <a:p>
            <a:pPr indent="0" marL="0">
              <a:lnSpc>
                <a:spcPts val="1600"/>
              </a:lnSpc>
              <a:buNone/>
            </a:pPr>
            <a:r>
              <a:rPr lang="en-US" sz="1200" i="1" dirty="0">
                <a:solidFill>
                  <a:srgbClr val="2C7A57"/>
                </a:solidFill>
                <a:latin typeface="Calibri" pitchFamily="34" charset="0"/>
                <a:ea typeface="Calibri" pitchFamily="34" charset="-122"/>
                <a:cs typeface="Calibri" pitchFamily="34" charset="-120"/>
              </a:rPr>
              <a:t>Used to anchor confidence — assignment is verified, not assumed.</a:t>
            </a:r>
            <a:endParaRPr lang="en-US" sz="1200" dirty="0"/>
          </a:p>
        </p:txBody>
      </p:sp>
      <p:sp>
        <p:nvSpPr>
          <p:cNvPr id="10" name="Shape 8"/>
          <p:cNvSpPr/>
          <p:nvPr/>
        </p:nvSpPr>
        <p:spPr>
          <a:xfrm>
            <a:off x="6309360" y="1828800"/>
            <a:ext cx="5394960" cy="4023360"/>
          </a:xfrm>
          <a:prstGeom prst="roundRect">
            <a:avLst>
              <a:gd name="adj" fmla="val 2273"/>
            </a:avLst>
          </a:prstGeom>
          <a:solidFill>
            <a:srgbClr val="F5F7FC"/>
          </a:solidFill>
          <a:ln/>
        </p:spPr>
      </p:sp>
      <p:sp>
        <p:nvSpPr>
          <p:cNvPr id="11" name="Text 9"/>
          <p:cNvSpPr/>
          <p:nvPr/>
        </p:nvSpPr>
        <p:spPr>
          <a:xfrm>
            <a:off x="662940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Observational pool</a:t>
            </a:r>
            <a:endParaRPr lang="en-US" sz="1700" dirty="0"/>
          </a:p>
        </p:txBody>
      </p:sp>
      <p:sp>
        <p:nvSpPr>
          <p:cNvPr id="12" name="Text 10"/>
          <p:cNvSpPr/>
          <p:nvPr/>
        </p:nvSpPr>
        <p:spPr>
          <a:xfrm>
            <a:off x="662940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Advertisers activate venues themselves — non-randomly. Higher-baseline-traffic venues are systematically more likely to be activated (a real selection mechanism), and weekly frequency varies venue-to-venue.</a:t>
            </a:r>
            <a:endParaRPr lang="en-US" sz="1250" dirty="0"/>
          </a:p>
        </p:txBody>
      </p:sp>
      <p:sp>
        <p:nvSpPr>
          <p:cNvPr id="13" name="Text 11"/>
          <p:cNvSpPr/>
          <p:nvPr/>
        </p:nvSpPr>
        <p:spPr>
          <a:xfrm>
            <a:off x="6629400" y="5029200"/>
            <a:ext cx="4754880" cy="731520"/>
          </a:xfrm>
          <a:prstGeom prst="rect">
            <a:avLst/>
          </a:prstGeom>
          <a:noFill/>
          <a:ln/>
        </p:spPr>
        <p:txBody>
          <a:bodyPr wrap="square" rtlCol="0" anchor="ctr"/>
          <a:lstStyle/>
          <a:p>
            <a:pPr indent="0" marL="0">
              <a:lnSpc>
                <a:spcPts val="1600"/>
              </a:lnSpc>
              <a:buNone/>
            </a:pPr>
            <a:r>
              <a:rPr lang="en-US" sz="1200" i="1" dirty="0">
                <a:solidFill>
                  <a:srgbClr val="B8500A"/>
                </a:solidFill>
                <a:latin typeface="Calibri" pitchFamily="34" charset="0"/>
                <a:ea typeface="Calibri" pitchFamily="34" charset="-122"/>
                <a:cs typeface="Calibri" pitchFamily="34" charset="-120"/>
              </a:rPr>
              <a:t>A naive before/after comparison here is confounded by selection — this is what synthetic control and the MMM have to work around.</a:t>
            </a:r>
            <a:endParaRPr lang="en-US" sz="1200" dirty="0"/>
          </a:p>
        </p:txBody>
      </p:sp>
      <p:sp>
        <p:nvSpPr>
          <p:cNvPr id="14" name="Text 1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proof point: ads move real foot traffic</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of 6 · Answers Q1</a:t>
            </a:r>
            <a:endParaRPr lang="en-US" sz="950" dirty="0"/>
          </a:p>
        </p:txBody>
      </p:sp>
      <p:sp>
        <p:nvSpPr>
          <p:cNvPr id="5" name="Shape 3"/>
          <p:cNvSpPr/>
          <p:nvPr/>
        </p:nvSpPr>
        <p:spPr>
          <a:xfrm>
            <a:off x="9784080" y="457200"/>
            <a:ext cx="1920240" cy="502920"/>
          </a:xfrm>
          <a:prstGeom prst="roundRect">
            <a:avLst>
              <a:gd name="adj" fmla="val 14545"/>
            </a:avLst>
          </a:prstGeom>
          <a:solidFill>
            <a:srgbClr val="2C7A57"/>
          </a:solidFill>
          <a:ln/>
        </p:spPr>
      </p:sp>
      <p:sp>
        <p:nvSpPr>
          <p:cNvPr id="6" name="Text 4"/>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7" name="Chart 0" descr=""/>
          <p:cNvGraphicFramePr/>
          <p:nvPr/>
        </p:nvGraphicFramePr>
        <p:xfrm>
          <a:off x="548640" y="11887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06640" y="11887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95% CI               p-value</a:t>
            </a:r>
            <a:endParaRPr lang="en-US" sz="1000" dirty="0"/>
          </a:p>
        </p:txBody>
      </p:sp>
      <p:sp>
        <p:nvSpPr>
          <p:cNvPr id="9" name="Text 6"/>
          <p:cNvSpPr/>
          <p:nvPr/>
        </p:nvSpPr>
        <p:spPr>
          <a:xfrm>
            <a:off x="7406640" y="15087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[11.1, 22.4]   &lt; 0.001</a:t>
            </a:r>
            <a:endParaRPr lang="en-US" sz="1050" dirty="0"/>
          </a:p>
        </p:txBody>
      </p:sp>
      <p:sp>
        <p:nvSpPr>
          <p:cNvPr id="10" name="Text 7"/>
          <p:cNvSpPr/>
          <p:nvPr/>
        </p:nvSpPr>
        <p:spPr>
          <a:xfrm>
            <a:off x="7406640" y="18928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[5.2, 15.4]   &lt; 0.001</a:t>
            </a:r>
            <a:endParaRPr lang="en-US" sz="1050" dirty="0"/>
          </a:p>
        </p:txBody>
      </p:sp>
      <p:sp>
        <p:nvSpPr>
          <p:cNvPr id="11" name="Text 8"/>
          <p:cNvSpPr/>
          <p:nvPr/>
        </p:nvSpPr>
        <p:spPr>
          <a:xfrm>
            <a:off x="7406640" y="22768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[13.3, 22.5]   &lt; 0.001</a:t>
            </a:r>
            <a:endParaRPr lang="en-US" sz="1050" dirty="0"/>
          </a:p>
        </p:txBody>
      </p:sp>
      <p:sp>
        <p:nvSpPr>
          <p:cNvPr id="12" name="Text 9"/>
          <p:cNvSpPr/>
          <p:nvPr/>
        </p:nvSpPr>
        <p:spPr>
          <a:xfrm>
            <a:off x="7406640" y="26609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[5.1, 10.2]   &lt; 0.001</a:t>
            </a:r>
            <a:endParaRPr lang="en-US" sz="1050" dirty="0"/>
          </a:p>
        </p:txBody>
      </p:sp>
      <p:sp>
        <p:nvSpPr>
          <p:cNvPr id="13" name="Text 10"/>
          <p:cNvSpPr/>
          <p:nvPr/>
        </p:nvSpPr>
        <p:spPr>
          <a:xfrm>
            <a:off x="7406640" y="3319272"/>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Why 2/16 isn't a red flag</a:t>
            </a:r>
            <a:endParaRPr lang="en-US" sz="1200" dirty="0"/>
          </a:p>
        </p:txBody>
      </p:sp>
      <p:sp>
        <p:nvSpPr>
          <p:cNvPr id="14" name="Text 11"/>
          <p:cNvSpPr/>
          <p:nvPr/>
        </p:nvSpPr>
        <p:spPr>
          <a:xfrm>
            <a:off x="7406640" y="3639312"/>
            <a:ext cx="4206240" cy="77724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16 tests = 4 pre-treatment covariates (baseline traffic level, dwell time, screen count, audience quality) × 4 venue types. Only 2 came back significant at p≤0.05.</a:t>
            </a:r>
            <a:endParaRPr lang="en-US" sz="1050" dirty="0"/>
          </a:p>
        </p:txBody>
      </p:sp>
      <p:sp>
        <p:nvSpPr>
          <p:cNvPr id="15" name="Text 12"/>
          <p:cNvSpPr/>
          <p:nvPr/>
        </p:nvSpPr>
        <p:spPr>
          <a:xfrm>
            <a:off x="7406640" y="4462272"/>
            <a:ext cx="4206240" cy="137160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If randomization is clean, the count of false positives across 16 independent tests follows Binomial(16, 0.05): mean 0.8, P(≥2) ≈ 19%. Two sits well inside that distribution's main mass — nowhere near a red-flag tail value like 8+. Randomization worked as designed, not assumed.</a:t>
            </a:r>
            <a:endParaRPr lang="en-US" sz="1050" dirty="0"/>
          </a:p>
        </p:txBody>
      </p:sp>
      <p:sp>
        <p:nvSpPr>
          <p:cNvPr id="16" name="Text 1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Measuring the campaigns we couldn't randomize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2 of 6 · Answers Q1</a:t>
            </a:r>
            <a:endParaRPr lang="en-US" sz="950" dirty="0"/>
          </a:p>
        </p:txBody>
      </p:sp>
      <p:sp>
        <p:nvSpPr>
          <p:cNvPr id="5" name="Text 3"/>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Most advertisers' campaigns already ran, on venues they picked — not us. Synthetic control reconstructs the counterfactual anyway, with its own built-in checks.</a:t>
            </a:r>
            <a:endParaRPr lang="en-US" sz="1250" dirty="0"/>
          </a:p>
        </p:txBody>
      </p:sp>
      <p:graphicFrame>
        <p:nvGraphicFramePr>
          <p:cNvPr id="6" name="Chart 0" descr=""/>
          <p:cNvGraphicFramePr/>
          <p:nvPr/>
        </p:nvGraphicFramePr>
        <p:xfrm>
          <a:off x="548640" y="16459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406640" y="16459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Placebo p    Pre-RMSPE</a:t>
            </a:r>
            <a:endParaRPr lang="en-US" sz="1000" dirty="0"/>
          </a:p>
        </p:txBody>
      </p:sp>
      <p:sp>
        <p:nvSpPr>
          <p:cNvPr id="8" name="Text 5"/>
          <p:cNvSpPr/>
          <p:nvPr/>
        </p:nvSpPr>
        <p:spPr>
          <a:xfrm>
            <a:off x="7406640" y="19659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0.160        26.4</a:t>
            </a:r>
            <a:endParaRPr lang="en-US" sz="1050" dirty="0"/>
          </a:p>
        </p:txBody>
      </p:sp>
      <p:sp>
        <p:nvSpPr>
          <p:cNvPr id="9" name="Text 6"/>
          <p:cNvSpPr/>
          <p:nvPr/>
        </p:nvSpPr>
        <p:spPr>
          <a:xfrm>
            <a:off x="7406640" y="23500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0.050        14.4</a:t>
            </a:r>
            <a:endParaRPr lang="en-US" sz="1050" dirty="0"/>
          </a:p>
        </p:txBody>
      </p:sp>
      <p:sp>
        <p:nvSpPr>
          <p:cNvPr id="10" name="Text 7"/>
          <p:cNvSpPr/>
          <p:nvPr/>
        </p:nvSpPr>
        <p:spPr>
          <a:xfrm>
            <a:off x="7406640" y="27340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0.100        17.8</a:t>
            </a:r>
            <a:endParaRPr lang="en-US" sz="1050" dirty="0"/>
          </a:p>
        </p:txBody>
      </p:sp>
      <p:sp>
        <p:nvSpPr>
          <p:cNvPr id="11" name="Text 8"/>
          <p:cNvSpPr/>
          <p:nvPr/>
        </p:nvSpPr>
        <p:spPr>
          <a:xfrm>
            <a:off x="7406640" y="31181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0.110        8.3</a:t>
            </a:r>
            <a:endParaRPr lang="en-US" sz="1050" dirty="0"/>
          </a:p>
        </p:txBody>
      </p:sp>
      <p:sp>
        <p:nvSpPr>
          <p:cNvPr id="12" name="Text 9"/>
          <p:cNvSpPr/>
          <p:nvPr/>
        </p:nvSpPr>
        <p:spPr>
          <a:xfrm>
            <a:off x="7406640" y="3776472"/>
            <a:ext cx="4206240" cy="155448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Two validation checks, since synthetic control has no closed-form standard error: pre-period fit quality (RMSPE — poor fits are flagged and excluded from the aggregate estimate) and an in-space placebo test on every donor venue.</a:t>
            </a:r>
            <a:endParaRPr lang="en-US" sz="1100" dirty="0"/>
          </a:p>
        </p:txBody>
      </p:sp>
      <p:sp>
        <p:nvSpPr>
          <p:cNvPr id="13" name="Text 1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772400" y="1737360"/>
            <a:ext cx="3840480" cy="32004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Calibration adjustment</a:t>
            </a:r>
            <a:endParaRPr lang="en-US" sz="1200" dirty="0"/>
          </a:p>
        </p:txBody>
      </p:sp>
      <p:sp>
        <p:nvSpPr>
          <p:cNvPr id="8" name="Text 5"/>
          <p:cNvSpPr/>
          <p:nvPr/>
        </p:nvSpPr>
        <p:spPr>
          <a:xfrm>
            <a:off x="7772400" y="219456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Restaurants</a:t>
            </a:r>
            <a:endParaRPr lang="en-US" sz="1200" dirty="0"/>
          </a:p>
        </p:txBody>
      </p:sp>
      <p:sp>
        <p:nvSpPr>
          <p:cNvPr id="9" name="Text 6"/>
          <p:cNvSpPr/>
          <p:nvPr/>
        </p:nvSpPr>
        <p:spPr>
          <a:xfrm>
            <a:off x="9509760" y="219456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+134%</a:t>
            </a:r>
            <a:endParaRPr lang="en-US" sz="1800" dirty="0"/>
          </a:p>
        </p:txBody>
      </p:sp>
      <p:sp>
        <p:nvSpPr>
          <p:cNvPr id="10" name="Text 7"/>
          <p:cNvSpPr/>
          <p:nvPr/>
        </p:nvSpPr>
        <p:spPr>
          <a:xfrm>
            <a:off x="7772400" y="278892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Gyms</a:t>
            </a:r>
            <a:endParaRPr lang="en-US" sz="1200" dirty="0"/>
          </a:p>
        </p:txBody>
      </p:sp>
      <p:sp>
        <p:nvSpPr>
          <p:cNvPr id="11" name="Text 8"/>
          <p:cNvSpPr/>
          <p:nvPr/>
        </p:nvSpPr>
        <p:spPr>
          <a:xfrm>
            <a:off x="9509760" y="278892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+165%</a:t>
            </a:r>
            <a:endParaRPr lang="en-US" sz="1800" dirty="0"/>
          </a:p>
        </p:txBody>
      </p:sp>
      <p:sp>
        <p:nvSpPr>
          <p:cNvPr id="12" name="Text 9"/>
          <p:cNvSpPr/>
          <p:nvPr/>
        </p:nvSpPr>
        <p:spPr>
          <a:xfrm>
            <a:off x="7772400" y="338328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Bars</a:t>
            </a:r>
            <a:endParaRPr lang="en-US" sz="1200" dirty="0"/>
          </a:p>
        </p:txBody>
      </p:sp>
      <p:sp>
        <p:nvSpPr>
          <p:cNvPr id="13" name="Text 10"/>
          <p:cNvSpPr/>
          <p:nvPr/>
        </p:nvSpPr>
        <p:spPr>
          <a:xfrm>
            <a:off x="9509760" y="3383280"/>
            <a:ext cx="2103120" cy="502920"/>
          </a:xfrm>
          <a:prstGeom prst="rect">
            <a:avLst/>
          </a:prstGeom>
          <a:noFill/>
          <a:ln/>
        </p:spPr>
        <p:txBody>
          <a:bodyPr wrap="square" rtlCol="0" anchor="ctr"/>
          <a:lstStyle/>
          <a:p>
            <a:pPr indent="0" marL="0">
              <a:buNone/>
            </a:pPr>
            <a:r>
              <a:rPr lang="en-US" sz="1800" b="1" dirty="0">
                <a:solidFill>
                  <a:srgbClr val="2C7A57"/>
                </a:solidFill>
                <a:latin typeface="Calibri" pitchFamily="34" charset="0"/>
                <a:ea typeface="Calibri" pitchFamily="34" charset="-122"/>
                <a:cs typeface="Calibri" pitchFamily="34" charset="-120"/>
              </a:rPr>
              <a:t>+20%</a:t>
            </a:r>
            <a:endParaRPr lang="en-US" sz="1800" dirty="0"/>
          </a:p>
        </p:txBody>
      </p:sp>
      <p:sp>
        <p:nvSpPr>
          <p:cNvPr id="14" name="Text 11"/>
          <p:cNvSpPr/>
          <p:nvPr/>
        </p:nvSpPr>
        <p:spPr>
          <a:xfrm>
            <a:off x="7772400" y="397764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Waiting Rooms</a:t>
            </a:r>
            <a:endParaRPr lang="en-US" sz="1200" dirty="0"/>
          </a:p>
        </p:txBody>
      </p:sp>
      <p:sp>
        <p:nvSpPr>
          <p:cNvPr id="15" name="Text 12"/>
          <p:cNvSpPr/>
          <p:nvPr/>
        </p:nvSpPr>
        <p:spPr>
          <a:xfrm>
            <a:off x="9509760" y="397764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+100%</a:t>
            </a:r>
            <a:endParaRPr lang="en-US" sz="1800" dirty="0"/>
          </a:p>
        </p:txBody>
      </p:sp>
      <p:sp>
        <p:nvSpPr>
          <p:cNvPr id="16" name="Text 13"/>
          <p:cNvSpPr/>
          <p:nvPr/>
        </p:nvSpPr>
        <p:spPr>
          <a:xfrm>
            <a:off x="7772400" y="4709160"/>
            <a:ext cx="384048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For 3 of 4 venue types, the naive observational fit understated true incremental lift by 100–165% — the kind of gap real MMM practice cites as its core identification problem, and exactly why the RCT anchor matters.</a:t>
            </a:r>
            <a:endParaRPr lang="en-US" sz="110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robustness check ·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synthetic “other advertisers were busy too” shock, correlated with Atmosphere's own exposure ramp-up — layered onto the validated data as a labeled overlay, not a change to it.</a:t>
            </a:r>
            <a:endParaRPr lang="en-US" sz="120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600200"/>
            <a:ext cx="3867912" cy="1234440"/>
          </a:xfrm>
          <a:prstGeom prst="roundRect">
            <a:avLst>
              <a:gd name="adj" fmla="val 5926"/>
            </a:avLst>
          </a:prstGeom>
          <a:solidFill>
            <a:srgbClr val="F5F7FC"/>
          </a:solidFill>
          <a:ln/>
        </p:spPr>
      </p:sp>
      <p:sp>
        <p:nvSpPr>
          <p:cNvPr id="8" name="Text 5"/>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9" name="Text 6"/>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10" name="Text 7"/>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11" name="Text 8"/>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though the injected correlation between competing media and Atmosphere's own exposure ramp is only 0.35 (moderate, not a worst case). Controlling for the confound (green) recovers this model's own uncalibrated baseline from the previous slide — still short of true max lift (orange) until the RCT-scale calibration from that same slide is applied on top.</a:t>
            </a:r>
            <a:endParaRPr lang="en-US" sz="1000" dirty="0"/>
          </a:p>
        </p:txBody>
      </p:sp>
      <p:sp>
        <p:nvSpPr>
          <p:cNvPr id="12" name="Shape 9"/>
          <p:cNvSpPr/>
          <p:nvPr/>
        </p:nvSpPr>
        <p:spPr>
          <a:xfrm>
            <a:off x="548640" y="5687568"/>
            <a:ext cx="11091672" cy="713232"/>
          </a:xfrm>
          <a:prstGeom prst="roundRect">
            <a:avLst>
              <a:gd name="adj" fmla="val 7692"/>
            </a:avLst>
          </a:prstGeom>
          <a:solidFill>
            <a:srgbClr val="FDF1E3"/>
          </a:solidFill>
          <a:ln/>
        </p:spPr>
      </p:sp>
      <p:sp>
        <p:nvSpPr>
          <p:cNvPr id="13" name="Text 10"/>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of 6 · Answers Q2</a:t>
            </a:r>
            <a:endParaRPr lang="en-US" sz="950" dirty="0"/>
          </a:p>
        </p:txBody>
      </p:sp>
      <p:sp>
        <p:nvSpPr>
          <p:cNvPr id="5" name="Shape 3"/>
          <p:cNvSpPr/>
          <p:nvPr/>
        </p:nvSpPr>
        <p:spPr>
          <a:xfrm>
            <a:off x="548640" y="1143000"/>
            <a:ext cx="11064240" cy="914400"/>
          </a:xfrm>
          <a:prstGeom prst="roundRect">
            <a:avLst>
              <a:gd name="adj" fmla="val 8000"/>
            </a:avLst>
          </a:prstGeom>
          <a:solidFill>
            <a:srgbClr val="FDF1E3"/>
          </a:solidFill>
          <a:ln/>
        </p:spPr>
      </p:sp>
      <p:sp>
        <p:nvSpPr>
          <p:cNvPr id="6" name="Text 4"/>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7"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9" name="Text 6"/>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10" name="Text 7"/>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11" name="Text 8"/>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2" name="Text 9"/>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3" name="Text 10"/>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4" name="Text 11"/>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5" name="Text 12"/>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6" name="Text 13"/>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7" name="Text 14"/>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8" name="Text 15"/>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Transition · Q1–Q2 → Q3–Q4</a:t>
            </a:r>
            <a:endParaRPr lang="en-US" sz="950" dirty="0"/>
          </a:p>
        </p:txBody>
      </p:sp>
      <p:sp>
        <p:nvSpPr>
          <p:cNvPr id="5" name="Text 3"/>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6" name="Shape 4"/>
          <p:cNvSpPr/>
          <p:nvPr/>
        </p:nvSpPr>
        <p:spPr>
          <a:xfrm>
            <a:off x="548640" y="1691640"/>
            <a:ext cx="5212080" cy="4343400"/>
          </a:xfrm>
          <a:prstGeom prst="roundRect">
            <a:avLst>
              <a:gd name="adj" fmla="val 2105"/>
            </a:avLst>
          </a:prstGeom>
          <a:solidFill>
            <a:srgbClr val="2A3480"/>
          </a:solidFill>
          <a:ln/>
        </p:spPr>
      </p:sp>
      <p:sp>
        <p:nvSpPr>
          <p:cNvPr id="7" name="Text 5"/>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8" name="Text 6"/>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9" name="Text 7"/>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10" name="Text 8"/>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11" name="Text 9"/>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2" name="Shape 10"/>
          <p:cNvSpPr/>
          <p:nvPr/>
        </p:nvSpPr>
        <p:spPr>
          <a:xfrm>
            <a:off x="6217920" y="1691640"/>
            <a:ext cx="5212080" cy="4343400"/>
          </a:xfrm>
          <a:prstGeom prst="roundRect">
            <a:avLst>
              <a:gd name="adj" fmla="val 2105"/>
            </a:avLst>
          </a:prstGeom>
          <a:solidFill>
            <a:srgbClr val="E8871E"/>
          </a:solidFill>
          <a:ln/>
        </p:spPr>
      </p:sp>
      <p:sp>
        <p:nvSpPr>
          <p:cNvPr id="13" name="Text 11"/>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4" name="Text 12"/>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5" name="Text 13"/>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6" name="Text 14"/>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7" name="Text 15"/>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8" name="Text 16"/>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9" name="Text 17"/>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of 6 · Answers Q3</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0.94</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Corr. w/ latent true potential</a:t>
            </a:r>
            <a:endParaRPr lang="en-US" sz="95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90% vs 28%</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Flagged-tail latent gap rate</a:t>
            </a:r>
            <a:endParaRPr lang="en-US" sz="95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20" name="Text 17"/>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21" name="Text 18"/>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2" name="Text 19"/>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3" name="Text 20"/>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5" name="Text 22"/>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6" name="Text 23"/>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7" name="Text 24"/>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8" name="Text 25"/>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9" name="Text 26"/>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30" name="Text 27"/>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31" name="Text 28"/>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2" name="Text 29"/>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3" name="Text 30"/>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4" name="Text 31"/>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5" name="Text 32"/>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6" name="Text 33"/>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7" name="Text 34"/>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8" name="Text 3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8E3B60"/>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Step 6 of 6 · Answers Q4</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 (oracle ceiling: 0.73)</a:t>
            </a:r>
            <a:endParaRPr lang="en-US" sz="90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0.73</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OOF corr. w/ latent true risk</a:t>
            </a:r>
            <a:endParaRPr lang="en-US" sz="90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100% vs 31%</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Flagged-tail latent risk rate</a:t>
            </a:r>
            <a:endParaRPr lang="en-US" sz="90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20" name="Text 17"/>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21" name="Text 18"/>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2" name="Text 19"/>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3" name="Text 20"/>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4" name="Text 21"/>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5" name="Text 22"/>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6" name="Text 23"/>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7" name="Text 24"/>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8" name="Text 25"/>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9" name="Text 26"/>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30" name="Text 27"/>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31" name="Text 28"/>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3" name="Text 30"/>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4" name="Text 31"/>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5" name="Text 32"/>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7" name="Text 34"/>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8" name="Text 35"/>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only because the oracle ceiling here is 0.73 AUC.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true incremental value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recover their respective latent ground truths (0.95 and 0.73 correlation)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2026-09-08T06:01:06Z</dcterms:created>
  <dcterms:modified xsi:type="dcterms:W3CDTF">2026-09-08T06:01:06Z</dcterms:modified>
</cp:coreProperties>
</file>