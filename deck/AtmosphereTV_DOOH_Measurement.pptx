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(RCT)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16.79</c:v>
                </c:pt>
                <c:pt idx="1">
                  <c:v>10.32</c:v>
                </c:pt>
                <c:pt idx="2">
                  <c:v>17.88</c:v>
                </c:pt>
                <c:pt idx="3">
                  <c:v>7.63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13.46</c:v>
                </c:pt>
                <c:pt idx="1">
                  <c:v>10.31</c:v>
                </c:pt>
                <c:pt idx="2">
                  <c:v>16.42</c:v>
                </c:pt>
                <c:pt idx="3">
                  <c:v>8.08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(Synthetic Control)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15.46</c:v>
                </c:pt>
                <c:pt idx="1">
                  <c:v>9.92</c:v>
                </c:pt>
                <c:pt idx="2">
                  <c:v>17.96</c:v>
                </c:pt>
                <c:pt idx="3">
                  <c:v>6.53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12.17</c:v>
                </c:pt>
                <c:pt idx="1">
                  <c:v>9.52</c:v>
                </c:pt>
                <c:pt idx="2">
                  <c:v>15.82</c:v>
                </c:pt>
                <c:pt idx="3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Naive MMM (uncalibrated)</c:v>
                </c:pt>
              </c:strCache>
            </c:strRef>
          </c:tx>
          <c:spPr>
            <a:solidFill>
              <a:srgbClr val="A9AF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7.97</c:v>
                </c:pt>
                <c:pt idx="1">
                  <c:v>4.93</c:v>
                </c:pt>
                <c:pt idx="2">
                  <c:v>16.25</c:v>
                </c:pt>
                <c:pt idx="3">
                  <c:v>4.09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RCT-calibrated MMM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18.69</c:v>
                </c:pt>
                <c:pt idx="1">
                  <c:v>13.05</c:v>
                </c:pt>
                <c:pt idx="2">
                  <c:v>19.57</c:v>
                </c:pt>
                <c:pt idx="3">
                  <c:v>8.19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True max lift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14</c:v>
                </c:pt>
                <c:pt idx="2">
                  <c:v>22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Max lift at saturation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Allocated weekly budget ($)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</c:v>
                </c:pt>
                <c:pt idx="1">
                  <c:v>25500</c:v>
                </c:pt>
                <c:pt idx="2">
                  <c:v>38250</c:v>
                </c:pt>
                <c:pt idx="3">
                  <c:v>10350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50" b="0" i="0" u="none" strike="noStrike">
                <a:solidFill>
                  <a:srgbClr val="1E2761"/>
                </a:solidFill>
                <a:latin typeface="Arial"/>
              </a:rPr>
              <a:t>Feature importance (permutation, test set)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(mean R² drop)</c:v>
                </c:pt>
              </c:strCache>
            </c:strRef>
          </c:tx>
          <c:spPr>
            <a:solidFill>
              <a:srgbClr val="55A86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dwell time min</c:v>
                  </c:pt>
                  <c:pt idx="1">
                    <c:v>audience quality</c:v>
                  </c:pt>
                  <c:pt idx="2">
                    <c:v>geo cluster</c:v>
                  </c:pt>
                  <c:pt idx="3">
                    <c:v>baseline level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0.075</c:v>
                </c:pt>
                <c:pt idx="1">
                  <c:v>0.142</c:v>
                </c:pt>
                <c:pt idx="2">
                  <c:v>0.269</c:v>
                </c:pt>
                <c:pt idx="3">
                  <c:v>0.813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761"/>
                </a:solidFill>
                <a:latin typeface="Arial"/>
              </a:rPr>
              <a:t>Feature importance (permutation, test set) — leading indicators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(mean AUC drop)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competitor outreach flag</c:v>
                  </c:pt>
                  <c:pt idx="1">
                    <c:v>engagement trend 90d</c:v>
                  </c:pt>
                  <c:pt idx="2">
                    <c:v>realized ad revenue</c:v>
                  </c:pt>
                  <c:pt idx="3">
                    <c:v>screen uptime pct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0.0089</c:v>
                </c:pt>
                <c:pt idx="1">
                  <c:v>0.0116</c:v>
                </c:pt>
                <c:pt idx="2">
                  <c:v>0.0387</c:v>
                </c:pt>
                <c:pt idx="3">
                  <c:v>0.0792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65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 TV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DOOH Venue Incrementality &amp;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Media-Mix Measurement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8961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causal measurement framework, calibrated media-mix model, budget optimizer, and venue revenue + retention models — built to answer the questions Atmosphere's advertising business and its own network economics run on.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first — every method and result in this deck is presented against these caveats, not just the summary slide at the end.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36776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794760" y="1600200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project is synthetic, with a known injected ground-truth effect used specifically to validate that each method recovers it before trusting it conceptually. Not a claim about any real company's data.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86584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Media-effectiveness &amp; rate-card figures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94760" y="2386584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Dwell time, screen count, ad rate card, and similar parameters shown are illustrative demo values, not researched real industry benchmarks. In production: Nielsen OOH, DSP data (e.g. Vistar), or Atmosphere's own play logs and rate card.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72968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Multi-touch attribution — deliberately not built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94760" y="3172968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ambient-screen model has no individual-level, cross-venue touchpoint log by default. Building MTA would require purchased mobile location/device-matching data — a real but non-default assumption, so it's scoped out rather than forced.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995928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59352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Online-purchase attribution — also out of scope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94760" y="3959352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method here measures incremental foot traffic, not downstream online purchases. Tying exposure to e-commerce conversions needs a device-matched exposure-to-transaction panel — a further non-default assumption layered on top of MTA's.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782312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745736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revenue assumptions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94760" y="4745736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$/frequency-unit figures behind the budget allocator, and the ad-rate-card behind the venue-revenue model, are illustrative, editable placeholders — in production these come from Atmosphere's own rate card by venue type and daypart.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5568696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53212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model — its own caveats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94760" y="5532120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Churn-hazard, competitive-geo, and engagement-signal parameters are illustrative, not researched attrition benchmarks. geo_cluster is deliberately excluded (small-sample tradeoff); realized_ad_revenue's importance is a venue_type confound, not a causal driver; no prospect-side retention model.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questions this project answers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Q1–Q2 answer the advertising side (what Atmosphere sells); Q3–Q4 answer the venue-network side (what Atmosphere runs).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the campaign actually work?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4672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the TRUE incremental foot traffic caused by ad exposure — net of seasonality, trend, and each venue's own baseline pattern.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sell-side differentiator: measurement Atmosphere's go-to-market team can take to market and clients can trust.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55848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11880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should budget be spent?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11880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fixed weekly budget, how should it split across restaurants, gyms, bars, and waiting rooms — accounting for each venue type's own diminishing-returns curve?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media-planning / pricing question advertisers ask before they commit spend.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19088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19088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Where's the revenue upside?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19088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existing venues are under-monetized relative to their own traffic and quality — and which prospective venues are worth prioritizing for expansion?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own buy-side value question.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70264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26296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9226296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26296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venues are at risk?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26296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existing venues are likely to leave the network, and which ops-visible signals predict it — combined with Q3's revenue into one value-×-risk priority.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own buy-side risk question.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framing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Design: one pipeline, confidence flows from experiment to product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172821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2821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179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treated/holdout venues. Balance directly verified.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24028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2316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E4E9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64845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4845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4203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4203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confidence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4203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campaigns. Validated with placebo tests.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416052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4340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FBE8D2"/>
          </a:solidFill>
          <a:ln/>
        </p:spPr>
      </p:sp>
      <p:sp>
        <p:nvSpPr>
          <p:cNvPr id="20" name="Shape 18"/>
          <p:cNvSpPr/>
          <p:nvPr/>
        </p:nvSpPr>
        <p:spPr>
          <a:xfrm>
            <a:off x="556869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B85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6869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6227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6227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MMM, RCT-calibrated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6227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+ scale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6227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Adstock/saturation shape from aggregate data; scale pinned by the RCT.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08076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6364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E8871E"/>
          </a:solidFill>
          <a:ln/>
        </p:spPr>
      </p:sp>
      <p:sp>
        <p:nvSpPr>
          <p:cNvPr id="28" name="Shape 26"/>
          <p:cNvSpPr/>
          <p:nvPr/>
        </p:nvSpPr>
        <p:spPr>
          <a:xfrm>
            <a:off x="748893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B850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893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8251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8251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8251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8251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Multiple-choice knapsack over calibrated response curves.</a:t>
            </a:r>
            <a:endParaRPr lang="en-US" sz="870" dirty="0"/>
          </a:p>
        </p:txBody>
      </p:sp>
      <p:sp>
        <p:nvSpPr>
          <p:cNvPr id="34" name="Text 32"/>
          <p:cNvSpPr/>
          <p:nvPr/>
        </p:nvSpPr>
        <p:spPr>
          <a:xfrm>
            <a:off x="800100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2C7A57"/>
          </a:solidFill>
          <a:ln/>
        </p:spPr>
      </p:sp>
      <p:sp>
        <p:nvSpPr>
          <p:cNvPr id="36" name="Shape 34"/>
          <p:cNvSpPr/>
          <p:nvPr/>
        </p:nvSpPr>
        <p:spPr>
          <a:xfrm>
            <a:off x="940917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2C7A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0917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30275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30275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revenue model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30275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GBT, honest OOF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30275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characteristics + the calibrated lift (steps 1–3) as a feature. Flags under-monetized venues; ranks expansion prospects.</a:t>
            </a:r>
            <a:endParaRPr lang="en-US" sz="870" dirty="0"/>
          </a:p>
        </p:txBody>
      </p:sp>
      <p:sp>
        <p:nvSpPr>
          <p:cNvPr id="42" name="Text 40"/>
          <p:cNvSpPr/>
          <p:nvPr/>
        </p:nvSpPr>
        <p:spPr>
          <a:xfrm>
            <a:off x="992124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10412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8E3B6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32941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8E3B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32941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22299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22299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retention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22299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GBT classifier, honest OOF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22299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Ops-visible signals (engagement, uptime, complaints, outreach) + realized revenue. Flags at-risk venues; combines with Q3 into one value×risk priority.</a:t>
            </a:r>
            <a:endParaRPr lang="en-US" sz="870" dirty="0"/>
          </a:p>
        </p:txBody>
      </p:sp>
      <p:sp>
        <p:nvSpPr>
          <p:cNvPr id="50" name="Text 48"/>
          <p:cNvSpPr/>
          <p:nvPr/>
        </p:nvSpPr>
        <p:spPr>
          <a:xfrm>
            <a:off x="502920" y="47731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Q1 — did the campaign work?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343400" y="47731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Q2 — how should budget be spent?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183880" y="47731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Q3 — revenue upside?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0104120" y="47731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8E3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Q4 — retention risk?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5285232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answer Q1: RCT for randomized campaigns, synthetic control extending coverage to historical, non-randomized ones. Steps 3–4 turn that into Q2: MMM shapes the response curve, the RCT pins its scale, and the allocator solves the exact split. Step 5 answers Q3: the venue-revenue model reuses the calibrated per-exposure lift from steps 1–3 as a feature. Step 6 answers Q4: a separate churn classifier flags at-risk venues, then combines its risk score with step 5's revenue into one value-×-risk priority — one connected system feeding all four answers, not four separate projects bolted together.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overview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with a known, injected ground truth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venue types × 100 venues each, 104 weeks (52 pre-period + 52 campaign)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pool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split treated / holdout within venue_type × geo_cluster × traffic-tier strata for a fixed benchmark campaign. This is a real Atmosphere-designed measurement product, not a historical campaign.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anchor confidence — assignment is verified, not assumed.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Observational pool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2940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Advertisers activate venues themselves — non-randomly. Higher-baseline-traffic venues are systematically more likely to be activated (a real selection mechanism), and weekly frequency varies venue-to-venue.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2940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before/after comparison here is confounded by selection — this is what synthetic control and the MMM have to work around.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 — high confidence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784080" y="457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2C7A57"/>
          </a:solidFill>
          <a:ln/>
        </p:spPr>
      </p:sp>
      <p:sp>
        <p:nvSpPr>
          <p:cNvPr id="4" name="Text 2"/>
          <p:cNvSpPr/>
          <p:nvPr/>
        </p:nvSpPr>
        <p:spPr>
          <a:xfrm>
            <a:off x="9784080" y="4572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2/16 balance tests sig.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11887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95% CI               p-value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406640" y="15087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[11.1, 22.4]   &lt; 0.001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1892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[5.2, 15.4]   &lt; 0.001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22768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[13.3, 22.5]   &lt; 0.001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26609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[5.1, 10.2]   &lt; 0.001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3319272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Pre-treatment balance check: only 2 of 16 covariate × venue-type tests were significant at p≤0.05 — in line with what chance alone predicts. Randomization worked as designed, not assumed.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RCT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 — moderate confidence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 — the identifying assumption can't be directly tested the way randomization can, only checked indirectly.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6459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Placebo p    Pre-RMSPE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0664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0.160        26.4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0.050        14.4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27340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0.100        17.8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1181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0.110        8.3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3776472"/>
            <a:ext cx="4206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validation checks, since synthetic control has no closed-form standard error: pre-period fit quality (RMSPE — poor fits are flagged and excluded from the aggregate estimate) and an in-space placebo test on every donor venue.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Synthetic Control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MMM: an uncalibrated model would have underpriced results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 + saturation shape comes from the aggregate weekly series; scale is pinned by the RCT's high-confidence estimate.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0" y="17373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adjustment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0" y="21945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09760" y="21945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+134%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0" y="27889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509760" y="2788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+165%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0" y="33832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509760" y="33832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0" y="39776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Rooms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509760" y="39776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+100%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72400" y="47091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 of 4 venue types, the naive observational fit understated true incremental lift by 100–165% — the kind of gap real MMM practice cites as its core identification problem, and exactly why the RCT anchor matters.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Media-mix model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allocator: exact DP, not a greedy walk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34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Hill/S-shaped response curve is CONVEX before its inflection point — a greedy “spend the next dollar on whichever venue type currently looks best” heuristic isn't guaranteed optimal there. An earlier greedy version of this allocator actually underperformed a naive equal-split baseline; the DP formulation below has no concavity requirement and is guaranteed to find the grid-optimal allocation.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28600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9808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$100,000 weekly budget example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 budget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32688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+48.6%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0" y="317296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49808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$50,000 budget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26880" y="3794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498080" y="42245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498080" y="4892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budget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0" y="52760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59893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optimizer's edge is largest when budget is scarce — exactly when allocation decisions matter most.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— budget allocator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side of the business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answers the advertising side. The same system answers the venue-network side too.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2A348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Advertising incrementality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Prove and price advertising incrementality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355848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Feeds go-to-market: sell-side differentiator, client trust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014216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RCT + synthetic control + calibrated MMM + budget DP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54406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the venue-economics model as a validated causal-value input (calibrated per-exposure lift), not a separate silo.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E8871E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network economics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69748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 realized ad-revenue (Q3) and 90-day churn risk (Q4) from characteristics and ops signals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6583680" y="3300984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 under-monetized (Q3) and at-risk (Q4) existing venues for sales/ops follow-up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6583680" y="3904488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Rank prospective venues for expansion priority (Q3)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6583680" y="4507992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Combine Q3 revenue + Q4 risk into one value-×-risk priority quadrant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583680" y="5111496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GBT regressor + classifier, honest out-of-fold evaluation throughout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“Smarter on both sides of the business” — the venue-side model shares its data foundation and causal-value input with the advertising side, rather than being a disconnected second project. Results on the next slide.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venue ad-revenue, honestly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on observable venue characteristics + the calibrated per-exposure lift as a feature.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22.1%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MAPE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2648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6364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Corr. w/ latent true potential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91540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vs 28%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5256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Flagged-tail latent gap rate</a:t>
            </a:r>
            <a:endParaRPr lang="en-US" sz="9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288036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63640" y="28803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under-monetized venues (of 20 flagged)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209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#85 (Restaurants)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966960" y="320954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-62%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3502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#309 (Waiting Rooms)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966960" y="350215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2636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#53 (Restaurants)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966960" y="3794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263640" y="40873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#247 (Bars)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966960" y="408736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-60%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63640" y="4562856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prospect venues (expansion priority)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263640" y="4892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P0018 — Bars (existing market)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1955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$684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63640" y="51846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P0055 — Restaurants (existing market)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0195560" y="5184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54772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P0000 — Bars (new market)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195560" y="54772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57698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P0001 — Bars (new market)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0195560" y="57698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$496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come from 5-fold out-of-fold predictions, never a model scoring the venue it was trained on. The calibrated-lift feature carries near-zero importance — honest, since it's constant within venue_type once venue_type itself is a feature.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economics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venue churn risk, honestly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classifier on ops-visible signals (engagement, uptime, complaints, competitor outreach) — the other half of "what makes a venue valuable and what puts it at risk."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AUC (oracle ceiling: 0.73)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PR-AUC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2648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6364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corr. w/ latent true risk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91540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vs 31%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5256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Flagged-tail latent risk rate</a:t>
            </a:r>
            <a:endParaRPr lang="en-US" sz="9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288036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63640" y="28803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at-risk venues (of 20 flagged, by OOF risk)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209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#281 (Bars)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966960" y="320954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3502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#200 (Bars)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966960" y="350215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2636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#12 (Restaurants)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966960" y="3794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263640" y="40873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#244 (Bars)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966960" y="408736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63640" y="4562856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 quadrant (Q3 revenue × Q4 risk)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263640" y="4892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now (high value, high risk)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1955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63640" y="51846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(low value, low risk)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0195560" y="5184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54772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(high value, low risk)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195560" y="54772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57698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priority (low value, high risk)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0195560" y="57698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48640" y="608076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come from 5-fold out-of-fold predictions. AUC/PR-AUC look modest next to the revenue model's R² — but an oracle with the true latent risk still only scores 0.73 AUC, so 0.65 is near this problem's honest ceiling. realized_ad_revenue's importance is a venue_type confound, not a causal driver of churn.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retention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17320" y="1691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method to the assignment mechanism — RCT where randomization is designed, synthetic control where it isn't, each with its own validation check.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83464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743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uncalibrated MMM understated true incremental value by up to 165% here — experiment calibration isn't optional polish, it's the identification fix.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3794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needs the right algorithm for the curve's shape — a greedy heuristic silently lost to a naive baseline on non-concave response curves; the exact DP formulation doesn't.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8463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system, not four separate projects: the venue-revenue model reuses the causal pipeline's per-exposure value as an input; the retention model then combines its own churn-risk score with that revenue prediction into one value-×-risk priority quadrant — both models recover their respective latent ground truths (0.95 and 0.73 correlation) before either is trusted.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960" y="6080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2026-09-05T23:15:44Z</dcterms:created>
  <dcterms:modified xsi:type="dcterms:W3CDTF">2026-09-05T23:15:44Z</dcterms:modified>
</cp:coreProperties>
</file>