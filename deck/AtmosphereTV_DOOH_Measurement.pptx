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8.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16.79</c:v>
                </c:pt>
                <c:pt idx="1">
                  <c:v>10.32</c:v>
                </c:pt>
                <c:pt idx="2">
                  <c:v>17.88</c:v>
                </c:pt>
                <c:pt idx="3">
                  <c:v>7.63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lift (network-pooled)</c:v>
                </c:pt>
              </c:strCache>
            </c:strRef>
          </c:tx>
          <c:spPr>
            <a:solidFill>
              <a:srgbClr val="1E2761"/>
            </a:solidFill>
            <a:effectLst/>
          </c:spPr>
          <c:invertIfNegative val="0"/>
          <c:dLbls>
            <c:numFmt formatCode="+0.0;-0.0;0.0" sourceLinked="0"/>
            <c:txPr>
              <a:bodyPr/>
              <a:lstStyle/>
              <a:p>
                <a:pPr>
                  <a:defRPr b="0" i="0" strike="noStrike" sz="1050" u="none">
                    <a:solidFill>
                      <a:srgbClr val="1A1A2E"/>
                    </a:solidFill>
                    <a:latin typeface="Arial"/>
                  </a:defRPr>
                </a:pPr>
              </a:p>
            </c:txPr>
            <c:showLegendKey val="0"/>
            <c:showVal val="1"/>
            <c:showCatName val="0"/>
            <c:showSerName val="0"/>
            <c:showPercent val="0"/>
            <c:showBubbleSize val="0"/>
            <c:showLeaderLines val="0"/>
          </c:dLbls>
          <c:dPt>
            <c:idx val="0"/>
            <c:invertIfNegative val="0"/>
            <c:bubble3D val="0"/>
            <c:spPr>
              <a:solidFill>
                <a:srgbClr val="1E2761"/>
              </a:solidFill>
              <a:effectLst/>
            </c:spPr>
          </c:dPt>
          <c:dPt>
            <c:idx val="1"/>
            <c:invertIfNegative val="0"/>
            <c:bubble3D val="0"/>
            <c:spPr>
              <a:solidFill>
                <a:srgbClr val="E8871E"/>
              </a:solidFill>
              <a:effectLst/>
            </c:spPr>
          </c:dPt>
          <c:dPt>
            <c:idx val="2"/>
            <c:invertIfNegative val="0"/>
            <c:bubble3D val="0"/>
            <c:spPr>
              <a:solidFill>
                <a:srgbClr val="B7BCCB"/>
              </a:solidFill>
              <a:effectLst/>
            </c:spPr>
          </c:dPt>
          <c:dPt>
            <c:idx val="3"/>
            <c:invertIfNegative val="0"/>
            <c:bubble3D val="0"/>
            <c:spPr>
              <a:solidFill>
                <a:srgbClr val="B7BCCB"/>
              </a:solidFill>
              <a:effectLst/>
            </c:spPr>
          </c:dPt>
          <c:cat>
            <c:multiLvlStrRef>
              <c:f>Sheet1!$A$2:$A$5</c:f>
              <c:multiLvlStrCache>
                <c:ptCount val="4"/>
                <c:lvl>
                  <c:pt idx="0">
                    <c:v>During campaign</c:v>
                  </c:pt>
                  <c:pt idx="1">
                    <c:v>0–10 wks after</c:v>
                  </c:pt>
                  <c:pt idx="2">
                    <c:v>10–20 wks after</c:v>
                  </c:pt>
                  <c:pt idx="3">
                    <c:v>Full post-campaign</c:v>
                  </c:pt>
                </c:lvl>
              </c:multiLvlStrCache>
            </c:multiLvlStrRef>
          </c:cat>
          <c:val>
            <c:numRef>
              <c:f>Sheet1!$B$2:$B$5</c:f>
              <c:numCache>
                <c:formatCode>General</c:formatCode>
                <c:ptCount val="4"/>
                <c:pt idx="0">
                  <c:v>13.26</c:v>
                </c:pt>
                <c:pt idx="1">
                  <c:v>2.52</c:v>
                </c:pt>
                <c:pt idx="2">
                  <c:v>-1.43</c:v>
                </c:pt>
                <c:pt idx="3">
                  <c:v>0.05</c:v>
                </c:pt>
              </c:numCache>
            </c:numRef>
          </c:val>
        </c:ser>
        <c:dLbls>
          <c:numFmt formatCode="+0.0;-0.0;0.0" sourceLinked="0"/>
          <c:txPr>
            <a:bodyPr/>
            <a:lstStyle/>
            <a:p>
              <a:pPr>
                <a:defRPr b="0" i="0" strike="noStrike" sz="10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15.46</c:v>
                </c:pt>
                <c:pt idx="1">
                  <c:v>9.92</c:v>
                </c:pt>
                <c:pt idx="2">
                  <c:v>17.96</c:v>
                </c:pt>
                <c:pt idx="3">
                  <c:v>6.53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(uncalibrated)</c:v>
                </c:pt>
              </c:strCache>
            </c:strRef>
          </c:tx>
          <c:spPr>
            <a:solidFill>
              <a:srgbClr val="A9AFC7"/>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7.97</c:v>
                </c:pt>
                <c:pt idx="1">
                  <c:v>4.93</c:v>
                </c:pt>
                <c:pt idx="2">
                  <c:v>16.25</c:v>
                </c:pt>
                <c:pt idx="3">
                  <c:v>4.09</c:v>
                </c:pt>
              </c:numCache>
            </c:numRef>
          </c:val>
        </c:ser>
        <c:ser>
          <c:idx val="1"/>
          <c:order val="1"/>
          <c:tx>
            <c:strRef>
              <c:f>Sheet1!$C$1</c:f>
              <c:strCache>
                <c:ptCount val="1"/>
                <c:pt idx="0">
                  <c:v>RCT-calibrated MMM</c:v>
                </c:pt>
              </c:strCache>
            </c:strRef>
          </c:tx>
          <c:spPr>
            <a:solidFill>
              <a:srgbClr val="1E2761"/>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18.69</c:v>
                </c:pt>
                <c:pt idx="1">
                  <c:v>13.05</c:v>
                </c:pt>
                <c:pt idx="2">
                  <c:v>19.57</c:v>
                </c:pt>
                <c:pt idx="3">
                  <c:v>8.19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(blind to competing media)</c:v>
                </c:pt>
              </c:strCache>
            </c:strRef>
          </c:tx>
          <c:spPr>
            <a:solidFill>
              <a:srgbClr val="C44E52"/>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17.47</c:v>
                </c:pt>
                <c:pt idx="1">
                  <c:v>14.01</c:v>
                </c:pt>
                <c:pt idx="2">
                  <c:v>20.63</c:v>
                </c:pt>
                <c:pt idx="3">
                  <c:v>17.94</c:v>
                </c:pt>
              </c:numCache>
            </c:numRef>
          </c:val>
        </c:ser>
        <c:ser>
          <c:idx val="1"/>
          <c:order val="1"/>
          <c:tx>
            <c:strRef>
              <c:f>Sheet1!$C$1</c:f>
              <c:strCache>
                <c:ptCount val="1"/>
                <c:pt idx="0">
                  <c:v>Confound-aware MMM (controls for it)</c:v>
                </c:pt>
              </c:strCache>
            </c:strRef>
          </c:tx>
          <c:spPr>
            <a:solidFill>
              <a:srgbClr val="55A868"/>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7.98</c:v>
                </c:pt>
                <c:pt idx="1">
                  <c:v>5</c:v>
                </c:pt>
                <c:pt idx="2">
                  <c:v>15.1</c:v>
                </c:pt>
                <c:pt idx="3">
                  <c:v>3.76</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Allocated weekly budget ($)</c:v>
                </c:pt>
              </c:strCache>
            </c:strRef>
          </c:tx>
          <c:spPr>
            <a:solidFill>
              <a:srgbClr val="1E2761"/>
            </a:solidFill>
            <a:effectLst/>
          </c:spPr>
          <c:invertIfNegative val="0"/>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26000</c:v>
                </c:pt>
                <c:pt idx="1">
                  <c:v>25500</c:v>
                </c:pt>
                <c:pt idx="2">
                  <c:v>38250</c:v>
                </c:pt>
                <c:pt idx="3">
                  <c:v>10350</c:v>
                </c:pt>
              </c:numCache>
            </c:numRef>
          </c:val>
        </c:ser>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1E2761"/>
                </a:solidFill>
                <a:latin typeface="Arial"/>
              </a:defRPr>
            </a:pPr>
            <a:r>
              <a:rPr sz="1150" b="0" i="0" u="none" strike="noStrike">
                <a:solidFill>
                  <a:srgbClr val="1E2761"/>
                </a:solidFill>
                <a:latin typeface="Arial"/>
              </a:rPr>
              <a:t>Feature importance (permutation, test set)</a:t>
            </a:r>
          </a:p>
        </c:rich>
      </c:tx>
      <c:layout/>
      <c:overlay val="0"/>
    </c:title>
    <c:autoTitleDeleted val="0"/>
    <c:plotArea>
      <c:layout/>
      <c:barChart>
        <c:barDir val="bar"/>
        <c:grouping val="clustered"/>
        <c:varyColors val="0"/>
        <c:ser>
          <c:idx val="0"/>
          <c:order val="0"/>
          <c:tx>
            <c:strRef>
              <c:f>Sheet1!$B$1</c:f>
              <c:strCache>
                <c:ptCount val="1"/>
                <c:pt idx="0">
                  <c:v>Importance (mean R² drop)</c:v>
                </c:pt>
              </c:strCache>
            </c:strRef>
          </c:tx>
          <c:spPr>
            <a:solidFill>
              <a:srgbClr val="55A868"/>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dwell time min</c:v>
                  </c:pt>
                  <c:pt idx="1">
                    <c:v>audience quality</c:v>
                  </c:pt>
                  <c:pt idx="2">
                    <c:v>geo cluster</c:v>
                  </c:pt>
                  <c:pt idx="3">
                    <c:v>baseline level</c:v>
                  </c:pt>
                </c:lvl>
              </c:multiLvlStrCache>
            </c:multiLvlStrRef>
          </c:cat>
          <c:val>
            <c:numRef>
              <c:f>Sheet1!$B$2:$B$5</c:f>
              <c:numCache>
                <c:formatCode>General</c:formatCode>
                <c:ptCount val="4"/>
                <c:pt idx="0">
                  <c:v>0.075</c:v>
                </c:pt>
                <c:pt idx="1">
                  <c:v>0.142</c:v>
                </c:pt>
                <c:pt idx="2">
                  <c:v>0.269</c:v>
                </c:pt>
                <c:pt idx="3">
                  <c:v>0.813</c:v>
                </c:pt>
              </c:numCache>
            </c:numRef>
          </c:val>
        </c:ser>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761"/>
                </a:solidFill>
                <a:latin typeface="Arial"/>
              </a:defRPr>
            </a:pPr>
            <a:r>
              <a:rPr sz="1100" b="0" i="0" u="none" strike="noStrike">
                <a:solidFill>
                  <a:srgbClr val="1E2761"/>
                </a:solidFill>
                <a:latin typeface="Arial"/>
              </a:rPr>
              <a:t>Feature importance (permutation, test set) — leading indicators</a:t>
            </a:r>
          </a:p>
        </c:rich>
      </c:tx>
      <c:layout/>
      <c:overlay val="0"/>
    </c:title>
    <c:autoTitleDeleted val="0"/>
    <c:plotArea>
      <c:layout/>
      <c:barChart>
        <c:barDir val="bar"/>
        <c:grouping val="clustered"/>
        <c:varyColors val="0"/>
        <c:ser>
          <c:idx val="0"/>
          <c:order val="0"/>
          <c:tx>
            <c:strRef>
              <c:f>Sheet1!$B$1</c:f>
              <c:strCache>
                <c:ptCount val="1"/>
                <c:pt idx="0">
                  <c:v>Importance (mean AUC drop)</c:v>
                </c:pt>
              </c:strCache>
            </c:strRef>
          </c:tx>
          <c:spPr>
            <a:solidFill>
              <a:srgbClr val="C44E52"/>
            </a:solidFill>
            <a:effectLst/>
          </c:spPr>
          <c:invertIfNegative val="0"/>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competitor outreach flag</c:v>
                  </c:pt>
                  <c:pt idx="1">
                    <c:v>engagement trend 90d</c:v>
                  </c:pt>
                  <c:pt idx="2">
                    <c:v>realized ad revenue</c:v>
                  </c:pt>
                  <c:pt idx="3">
                    <c:v>screen uptime pct</c:v>
                  </c:pt>
                </c:lvl>
              </c:multiLvlStrCache>
            </c:multiLvlStrRef>
          </c:cat>
          <c:val>
            <c:numRef>
              <c:f>Sheet1!$B$2:$B$5</c:f>
              <c:numCache>
                <c:formatCode>General</c:formatCode>
                <c:ptCount val="4"/>
                <c:pt idx="0">
                  <c:v>0.0089</c:v>
                </c:pt>
                <c:pt idx="1">
                  <c:v>0.0116</c:v>
                </c:pt>
                <c:pt idx="2">
                  <c:v>0.0387</c:v>
                </c:pt>
                <c:pt idx="3">
                  <c:v>0.0792</c:v>
                </c:pt>
              </c:numCache>
            </c:numRef>
          </c:val>
        </c:ser>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E2761"/>
          </a:solidFill>
          <a:ln/>
        </p:spPr>
      </p:sp>
      <p:sp>
        <p:nvSpPr>
          <p:cNvPr id="3" name="Text 1"/>
          <p:cNvSpPr/>
          <p:nvPr/>
        </p:nvSpPr>
        <p:spPr>
          <a:xfrm>
            <a:off x="822960" y="1965960"/>
            <a:ext cx="10515600" cy="640080"/>
          </a:xfrm>
          <a:prstGeom prst="rect">
            <a:avLst/>
          </a:prstGeom>
          <a:noFill/>
          <a:ln/>
        </p:spPr>
        <p:txBody>
          <a:bodyPr wrap="square" rtlCol="0" anchor="ctr"/>
          <a:lstStyle/>
          <a:p>
            <a:pPr indent="0" marL="0">
              <a:buNone/>
            </a:pPr>
            <a:r>
              <a:rPr lang="en-US" sz="2200" b="1" spc="200" kern="0" dirty="0">
                <a:solidFill>
                  <a:srgbClr val="CADCFC"/>
                </a:solidFill>
                <a:latin typeface="Calibri" pitchFamily="34" charset="0"/>
                <a:ea typeface="Calibri" pitchFamily="34" charset="-122"/>
                <a:cs typeface="Calibri" pitchFamily="34" charset="-120"/>
              </a:rPr>
              <a:t>Atmosphere TV</a:t>
            </a:r>
            <a:endParaRPr lang="en-US" sz="2200" dirty="0"/>
          </a:p>
        </p:txBody>
      </p:sp>
      <p:sp>
        <p:nvSpPr>
          <p:cNvPr id="4" name="Text 2"/>
          <p:cNvSpPr/>
          <p:nvPr/>
        </p:nvSpPr>
        <p:spPr>
          <a:xfrm>
            <a:off x="822960" y="2514600"/>
            <a:ext cx="10515600" cy="1737360"/>
          </a:xfrm>
          <a:prstGeom prst="rect">
            <a:avLst/>
          </a:prstGeom>
          <a:noFill/>
          <a:ln/>
        </p:spPr>
        <p:txBody>
          <a:bodyPr wrap="square"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DOOH Venue Incrementality &amp;</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Media-Mix Measurement</a:t>
            </a:r>
            <a:endParaRPr lang="en-US" sz="4000" dirty="0"/>
          </a:p>
        </p:txBody>
      </p:sp>
      <p:sp>
        <p:nvSpPr>
          <p:cNvPr id="5" name="Text 3"/>
          <p:cNvSpPr/>
          <p:nvPr/>
        </p:nvSpPr>
        <p:spPr>
          <a:xfrm>
            <a:off x="822960" y="4343400"/>
            <a:ext cx="8961120" cy="822960"/>
          </a:xfrm>
          <a:prstGeom prst="rect">
            <a:avLst/>
          </a:prstGeom>
          <a:noFill/>
          <a:ln/>
        </p:spPr>
        <p:txBody>
          <a:bodyPr wrap="square"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A causal measurement framework, calibrated media-mix model, budget optimizer, and venue revenue + retention models — built to answer the questions Atmosphere's advertising business and its own network economics run on.</a:t>
            </a:r>
            <a:endParaRPr lang="en-US" sz="1500" dirty="0"/>
          </a:p>
        </p:txBody>
      </p:sp>
      <p:sp>
        <p:nvSpPr>
          <p:cNvPr id="6" name="Text 4"/>
          <p:cNvSpPr/>
          <p:nvPr/>
        </p:nvSpPr>
        <p:spPr>
          <a:xfrm>
            <a:off x="822960" y="5989320"/>
            <a:ext cx="3657600" cy="32004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Yidan Hu</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How I'd approach this role</a:t>
            </a:r>
            <a:endParaRPr lang="en-US" sz="2800" dirty="0"/>
          </a:p>
        </p:txBody>
      </p:sp>
      <p:sp>
        <p:nvSpPr>
          <p:cNvPr id="3" name="Text 1"/>
          <p:cNvSpPr/>
          <p:nvPr/>
        </p:nvSpPr>
        <p:spPr>
          <a:xfrm>
            <a:off x="548640" y="1024128"/>
            <a:ext cx="11064240" cy="411480"/>
          </a:xfrm>
          <a:prstGeom prst="rect">
            <a:avLst/>
          </a:prstGeom>
          <a:noFill/>
          <a:ln/>
        </p:spPr>
        <p:txBody>
          <a:bodyPr wrap="square" rtlCol="0" anchor="ctr"/>
          <a:lstStyle/>
          <a:p>
            <a:pPr indent="0" marL="0">
              <a:lnSpc>
                <a:spcPts val="1500"/>
              </a:lnSpc>
              <a:buNone/>
            </a:pPr>
            <a:r>
              <a:rPr lang="en-US" sz="1250" i="1" dirty="0">
                <a:solidFill>
                  <a:srgbClr val="5B6178"/>
                </a:solidFill>
                <a:latin typeface="Calibri" pitchFamily="34" charset="0"/>
                <a:ea typeface="Calibri" pitchFamily="34" charset="-122"/>
                <a:cs typeface="Calibri" pitchFamily="34" charset="-120"/>
              </a:rPr>
              <a:t>Before the demo — the operating thesis behind it: what this role should do for Atmosphere, and how I'd prioritize the first few months as its first data scientist.</a:t>
            </a:r>
            <a:endParaRPr lang="en-US" sz="1250" dirty="0"/>
          </a:p>
        </p:txBody>
      </p:sp>
      <p:sp>
        <p:nvSpPr>
          <p:cNvPr id="4" name="Shape 2"/>
          <p:cNvSpPr/>
          <p:nvPr/>
        </p:nvSpPr>
        <p:spPr>
          <a:xfrm>
            <a:off x="548640" y="1600200"/>
            <a:ext cx="5349240" cy="1554480"/>
          </a:xfrm>
          <a:prstGeom prst="roundRect">
            <a:avLst>
              <a:gd name="adj" fmla="val 5882"/>
            </a:avLst>
          </a:prstGeom>
          <a:solidFill>
            <a:srgbClr val="F5F7FC"/>
          </a:solidFill>
          <a:ln/>
        </p:spPr>
      </p:sp>
      <p:sp>
        <p:nvSpPr>
          <p:cNvPr id="5" name="Text 3"/>
          <p:cNvSpPr/>
          <p:nvPr/>
        </p:nvSpPr>
        <p:spPr>
          <a:xfrm>
            <a:off x="86868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Advertising-side measurement</a:t>
            </a:r>
            <a:endParaRPr lang="en-US" sz="1550" dirty="0"/>
          </a:p>
        </p:txBody>
      </p:sp>
      <p:sp>
        <p:nvSpPr>
          <p:cNvPr id="6" name="Text 4"/>
          <p:cNvSpPr/>
          <p:nvPr/>
        </p:nvSpPr>
        <p:spPr>
          <a:xfrm>
            <a:off x="86868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Prove Atmosphere's own incremental foot traffic with methods advertisers can trust — the sell-side differentiator this business runs on. (Answers Q1–Q2.)</a:t>
            </a:r>
            <a:endParaRPr lang="en-US" sz="1100" dirty="0"/>
          </a:p>
        </p:txBody>
      </p:sp>
      <p:sp>
        <p:nvSpPr>
          <p:cNvPr id="7" name="Shape 5"/>
          <p:cNvSpPr/>
          <p:nvPr/>
        </p:nvSpPr>
        <p:spPr>
          <a:xfrm>
            <a:off x="6172200" y="1600200"/>
            <a:ext cx="5349240" cy="1554480"/>
          </a:xfrm>
          <a:prstGeom prst="roundRect">
            <a:avLst>
              <a:gd name="adj" fmla="val 5882"/>
            </a:avLst>
          </a:prstGeom>
          <a:solidFill>
            <a:srgbClr val="F5F7FC"/>
          </a:solidFill>
          <a:ln/>
        </p:spPr>
      </p:sp>
      <p:sp>
        <p:nvSpPr>
          <p:cNvPr id="8" name="Text 6"/>
          <p:cNvSpPr/>
          <p:nvPr/>
        </p:nvSpPr>
        <p:spPr>
          <a:xfrm>
            <a:off x="649224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Venue-network health</a:t>
            </a:r>
            <a:endParaRPr lang="en-US" sz="1550" dirty="0"/>
          </a:p>
        </p:txBody>
      </p:sp>
      <p:sp>
        <p:nvSpPr>
          <p:cNvPr id="9" name="Text 7"/>
          <p:cNvSpPr/>
          <p:nvPr/>
        </p:nvSpPr>
        <p:spPr>
          <a:xfrm>
            <a:off x="649224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Know which venues are generating less ad revenue than their audience is worth, and which are at risk of leaving — protect and grow the inventory Atmosphere actually sells. (Answers Q3–Q4.)</a:t>
            </a:r>
            <a:endParaRPr lang="en-US" sz="1100" dirty="0"/>
          </a:p>
        </p:txBody>
      </p:sp>
      <p:sp>
        <p:nvSpPr>
          <p:cNvPr id="10" name="Shape 8"/>
          <p:cNvSpPr/>
          <p:nvPr/>
        </p:nvSpPr>
        <p:spPr>
          <a:xfrm>
            <a:off x="548640" y="3429000"/>
            <a:ext cx="11064240" cy="1417320"/>
          </a:xfrm>
          <a:prstGeom prst="roundRect">
            <a:avLst>
              <a:gd name="adj" fmla="val 5161"/>
            </a:avLst>
          </a:prstGeom>
          <a:solidFill>
            <a:srgbClr val="FDF1E3"/>
          </a:solidFill>
          <a:ln/>
        </p:spPr>
      </p:sp>
      <p:sp>
        <p:nvSpPr>
          <p:cNvPr id="11" name="Text 9"/>
          <p:cNvSpPr/>
          <p:nvPr/>
        </p:nvSpPr>
        <p:spPr>
          <a:xfrm>
            <a:off x="777240" y="3538728"/>
            <a:ext cx="10607040" cy="365760"/>
          </a:xfrm>
          <a:prstGeom prst="rect">
            <a:avLst/>
          </a:prstGeom>
          <a:noFill/>
          <a:ln/>
        </p:spPr>
        <p:txBody>
          <a:bodyPr wrap="square" rtlCol="0" anchor="ctr"/>
          <a:lstStyle/>
          <a:p>
            <a:pPr indent="0" marL="0">
              <a:buNone/>
            </a:pPr>
            <a:r>
              <a:rPr lang="en-US" sz="1350" b="1" dirty="0">
                <a:solidFill>
                  <a:srgbClr val="8A4B0A"/>
                </a:solidFill>
                <a:latin typeface="Cambria" pitchFamily="34" charset="0"/>
                <a:ea typeface="Cambria" pitchFamily="34" charset="-122"/>
                <a:cs typeface="Cambria" pitchFamily="34" charset="-120"/>
              </a:rPr>
              <a:t>Not a “quick win vs. foundation” tradeoff — do both in one move</a:t>
            </a:r>
            <a:endParaRPr lang="en-US" sz="1350" dirty="0"/>
          </a:p>
        </p:txBody>
      </p:sp>
      <p:sp>
        <p:nvSpPr>
          <p:cNvPr id="12" name="Text 10"/>
          <p:cNvSpPr/>
          <p:nvPr/>
        </p:nvSpPr>
        <p:spPr>
          <a:xfrm>
            <a:off x="777240" y="3904488"/>
            <a:ext cx="10607040" cy="868680"/>
          </a:xfrm>
          <a:prstGeom prst="rect">
            <a:avLst/>
          </a:prstGeom>
          <a:noFill/>
          <a:ln/>
        </p:spPr>
        <p:txBody>
          <a:bodyPr wrap="square" rtlCol="0" anchor="ctr"/>
          <a:lstStyle/>
          <a:p>
            <a:pPr indent="0" marL="0">
              <a:lnSpc>
                <a:spcPts val="1450"/>
              </a:lnSpc>
              <a:buNone/>
            </a:pPr>
            <a:r>
              <a:rPr lang="en-US" sz="1100" i="1" dirty="0">
                <a:solidFill>
                  <a:srgbClr val="8A4B0A"/>
                </a:solidFill>
                <a:latin typeface="Calibri" pitchFamily="34" charset="0"/>
                <a:ea typeface="Calibri" pitchFamily="34" charset="-122"/>
                <a:cs typeface="Calibri" pitchFamily="34" charset="-120"/>
              </a:rPr>
              <a:t>A stratified RCT geo-holdout is the fastest trustworthy result available — and it doubles as the calibration anchor every other method here relies on: synthetic control's placebo check, the MMM's scale, and the venue models' causal-value feature. Ship it first and the “quick win” and the “foundation” are the same deliverable. The venue-network data pipeline (economics + retention features) doesn't have to wait on it — it builds in parallel.</a:t>
            </a:r>
            <a:endParaRPr lang="en-US" sz="1100" dirty="0"/>
          </a:p>
        </p:txBody>
      </p:sp>
      <p:sp>
        <p:nvSpPr>
          <p:cNvPr id="13" name="Text 11"/>
          <p:cNvSpPr/>
          <p:nvPr/>
        </p:nvSpPr>
        <p:spPr>
          <a:xfrm>
            <a:off x="548640" y="5047488"/>
            <a:ext cx="11064240" cy="292608"/>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What “done” means</a:t>
            </a:r>
            <a:endParaRPr lang="en-US" sz="1250" dirty="0"/>
          </a:p>
        </p:txBody>
      </p:sp>
      <p:sp>
        <p:nvSpPr>
          <p:cNvPr id="14" name="Text 12"/>
          <p:cNvSpPr/>
          <p:nvPr/>
        </p:nvSpPr>
        <p:spPr>
          <a:xfrm>
            <a:off x="548640" y="5358384"/>
            <a:ext cx="11064240" cy="50292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Sales and account teams making different decisions with it: a trusted lift number in a client pitch, a budget conversation anchored to a real response curve, an outreach list ranked by value × risk instead of instinct — not just a model with a good accuracy number.</a:t>
            </a:r>
            <a:endParaRPr lang="en-US" sz="1100" dirty="0"/>
          </a:p>
        </p:txBody>
      </p:sp>
      <p:sp>
        <p:nvSpPr>
          <p:cNvPr id="15" name="Text 13"/>
          <p:cNvSpPr/>
          <p:nvPr/>
        </p:nvSpPr>
        <p:spPr>
          <a:xfrm>
            <a:off x="548640" y="6108192"/>
            <a:ext cx="11064240" cy="365760"/>
          </a:xfrm>
          <a:prstGeom prst="rect">
            <a:avLst/>
          </a:prstGeom>
          <a:noFill/>
          <a:ln/>
        </p:spPr>
        <p:txBody>
          <a:bodyPr wrap="square" rtlCol="0" anchor="ctr"/>
          <a:lstStyle/>
          <a:p>
            <a:pPr indent="0" marL="0">
              <a:buNone/>
            </a:pPr>
            <a:r>
              <a:rPr lang="en-US" sz="1150" i="1" dirty="0">
                <a:solidFill>
                  <a:srgbClr val="E8871E"/>
                </a:solidFill>
                <a:latin typeface="Calibri" pitchFamily="34" charset="0"/>
                <a:ea typeface="Calibri" pitchFamily="34" charset="-122"/>
                <a:cs typeface="Calibri" pitchFamily="34" charset="-120"/>
              </a:rPr>
              <a:t>What follows is one concrete example of applying this approach — a synthetic demo.</a:t>
            </a:r>
            <a:endParaRPr lang="en-US" sz="1150" dirty="0"/>
          </a:p>
        </p:txBody>
      </p:sp>
      <p:sp>
        <p:nvSpPr>
          <p:cNvPr id="16"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How I'd approach this role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Honest scope</a:t>
            </a:r>
            <a:endParaRPr lang="en-US" sz="28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Before the demo that follows: the scope caveats specific to this project, stated up front rather than saved for the closing slide.</a:t>
            </a:r>
            <a:endParaRPr lang="en-US" sz="1250" dirty="0"/>
          </a:p>
        </p:txBody>
      </p:sp>
      <p:sp>
        <p:nvSpPr>
          <p:cNvPr id="4" name="Shape 2"/>
          <p:cNvSpPr/>
          <p:nvPr/>
        </p:nvSpPr>
        <p:spPr>
          <a:xfrm>
            <a:off x="548640" y="1636776"/>
            <a:ext cx="109728" cy="621792"/>
          </a:xfrm>
          <a:prstGeom prst="rect">
            <a:avLst/>
          </a:prstGeom>
          <a:solidFill>
            <a:srgbClr val="E8871E"/>
          </a:solidFill>
          <a:ln/>
        </p:spPr>
      </p:sp>
      <p:sp>
        <p:nvSpPr>
          <p:cNvPr id="5" name="Text 3"/>
          <p:cNvSpPr/>
          <p:nvPr/>
        </p:nvSpPr>
        <p:spPr>
          <a:xfrm>
            <a:off x="868680" y="160020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Synthetic data</a:t>
            </a:r>
            <a:endParaRPr lang="en-US" sz="1200" dirty="0"/>
          </a:p>
        </p:txBody>
      </p:sp>
      <p:sp>
        <p:nvSpPr>
          <p:cNvPr id="6" name="Text 4"/>
          <p:cNvSpPr/>
          <p:nvPr/>
        </p:nvSpPr>
        <p:spPr>
          <a:xfrm>
            <a:off x="3794760" y="160020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figure in this project is synthetic. The focus here is the methodology for solving the problem, not real company data or figures.</a:t>
            </a:r>
            <a:endParaRPr lang="en-US" sz="1050" dirty="0"/>
          </a:p>
        </p:txBody>
      </p:sp>
      <p:sp>
        <p:nvSpPr>
          <p:cNvPr id="7" name="Shape 5"/>
          <p:cNvSpPr/>
          <p:nvPr/>
        </p:nvSpPr>
        <p:spPr>
          <a:xfrm>
            <a:off x="548640" y="2423160"/>
            <a:ext cx="109728" cy="621792"/>
          </a:xfrm>
          <a:prstGeom prst="rect">
            <a:avLst/>
          </a:prstGeom>
          <a:solidFill>
            <a:srgbClr val="E8871E"/>
          </a:solidFill>
          <a:ln/>
        </p:spPr>
      </p:sp>
      <p:sp>
        <p:nvSpPr>
          <p:cNvPr id="8" name="Text 6"/>
          <p:cNvSpPr/>
          <p:nvPr/>
        </p:nvSpPr>
        <p:spPr>
          <a:xfrm>
            <a:off x="868680" y="2386584"/>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Media-effectiveness &amp; rate-card figures</a:t>
            </a:r>
            <a:endParaRPr lang="en-US" sz="1200" dirty="0"/>
          </a:p>
        </p:txBody>
      </p:sp>
      <p:sp>
        <p:nvSpPr>
          <p:cNvPr id="9" name="Text 7"/>
          <p:cNvSpPr/>
          <p:nvPr/>
        </p:nvSpPr>
        <p:spPr>
          <a:xfrm>
            <a:off x="3794760" y="2386584"/>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Dwell time, screen count, ad rate card, and similar parameters shown are illustrative demo values, not researched real industry benchmarks. In production: Nielsen OOH, DSP data (e.g. Vistar), or Atmosphere's own play logs and rate card.</a:t>
            </a:r>
            <a:endParaRPr lang="en-US" sz="1050" dirty="0"/>
          </a:p>
        </p:txBody>
      </p:sp>
      <p:sp>
        <p:nvSpPr>
          <p:cNvPr id="10" name="Shape 8"/>
          <p:cNvSpPr/>
          <p:nvPr/>
        </p:nvSpPr>
        <p:spPr>
          <a:xfrm>
            <a:off x="548640" y="3209544"/>
            <a:ext cx="109728" cy="621792"/>
          </a:xfrm>
          <a:prstGeom prst="rect">
            <a:avLst/>
          </a:prstGeom>
          <a:solidFill>
            <a:srgbClr val="E8871E"/>
          </a:solidFill>
          <a:ln/>
        </p:spPr>
      </p:sp>
      <p:sp>
        <p:nvSpPr>
          <p:cNvPr id="11" name="Text 9"/>
          <p:cNvSpPr/>
          <p:nvPr/>
        </p:nvSpPr>
        <p:spPr>
          <a:xfrm>
            <a:off x="868680" y="3172968"/>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Multi-touch attribution — deliberately not built</a:t>
            </a:r>
            <a:endParaRPr lang="en-US" sz="1200" dirty="0"/>
          </a:p>
        </p:txBody>
      </p:sp>
      <p:sp>
        <p:nvSpPr>
          <p:cNvPr id="12" name="Text 10"/>
          <p:cNvSpPr/>
          <p:nvPr/>
        </p:nvSpPr>
        <p:spPr>
          <a:xfrm>
            <a:off x="3794760" y="3172968"/>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Atmosphere's ambient-screen model has no individual-level, cross-venue touchpoint log by default. Building MTA would require purchased mobile location/device-matching data — a real but non-default assumption, so it's scoped out rather than forced.</a:t>
            </a:r>
            <a:endParaRPr lang="en-US" sz="1050" dirty="0"/>
          </a:p>
        </p:txBody>
      </p:sp>
      <p:sp>
        <p:nvSpPr>
          <p:cNvPr id="13" name="Shape 11"/>
          <p:cNvSpPr/>
          <p:nvPr/>
        </p:nvSpPr>
        <p:spPr>
          <a:xfrm>
            <a:off x="548640" y="3995928"/>
            <a:ext cx="109728" cy="621792"/>
          </a:xfrm>
          <a:prstGeom prst="rect">
            <a:avLst/>
          </a:prstGeom>
          <a:solidFill>
            <a:srgbClr val="E8871E"/>
          </a:solidFill>
          <a:ln/>
        </p:spPr>
      </p:sp>
      <p:sp>
        <p:nvSpPr>
          <p:cNvPr id="14" name="Text 12"/>
          <p:cNvSpPr/>
          <p:nvPr/>
        </p:nvSpPr>
        <p:spPr>
          <a:xfrm>
            <a:off x="868680" y="3959352"/>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Online-purchase attribution — also out of scope</a:t>
            </a:r>
            <a:endParaRPr lang="en-US" sz="1200" dirty="0"/>
          </a:p>
        </p:txBody>
      </p:sp>
      <p:sp>
        <p:nvSpPr>
          <p:cNvPr id="15" name="Text 13"/>
          <p:cNvSpPr/>
          <p:nvPr/>
        </p:nvSpPr>
        <p:spPr>
          <a:xfrm>
            <a:off x="3794760" y="3959352"/>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method here measures incremental foot traffic, not downstream online purchases. Tying exposure to e-commerce conversions needs a device-matched exposure-to-transaction panel — a further non-default assumption layered on top of MTA's.</a:t>
            </a:r>
            <a:endParaRPr lang="en-US" sz="1050" dirty="0"/>
          </a:p>
        </p:txBody>
      </p:sp>
      <p:sp>
        <p:nvSpPr>
          <p:cNvPr id="16" name="Shape 14"/>
          <p:cNvSpPr/>
          <p:nvPr/>
        </p:nvSpPr>
        <p:spPr>
          <a:xfrm>
            <a:off x="548640" y="4782312"/>
            <a:ext cx="109728" cy="621792"/>
          </a:xfrm>
          <a:prstGeom prst="rect">
            <a:avLst/>
          </a:prstGeom>
          <a:solidFill>
            <a:srgbClr val="E8871E"/>
          </a:solidFill>
          <a:ln/>
        </p:spPr>
      </p:sp>
      <p:sp>
        <p:nvSpPr>
          <p:cNvPr id="17" name="Text 15"/>
          <p:cNvSpPr/>
          <p:nvPr/>
        </p:nvSpPr>
        <p:spPr>
          <a:xfrm>
            <a:off x="868680" y="4745736"/>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Cost &amp; revenue assumptions</a:t>
            </a:r>
            <a:endParaRPr lang="en-US" sz="1200" dirty="0"/>
          </a:p>
        </p:txBody>
      </p:sp>
      <p:sp>
        <p:nvSpPr>
          <p:cNvPr id="18" name="Text 16"/>
          <p:cNvSpPr/>
          <p:nvPr/>
        </p:nvSpPr>
        <p:spPr>
          <a:xfrm>
            <a:off x="3794760" y="4745736"/>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The $/frequency-unit figures behind the budget allocator, and the ad-rate-card behind the venue-revenue model, are illustrative, editable placeholders — in production these come from Atmosphere's own rate card by venue type and daypart.</a:t>
            </a:r>
            <a:endParaRPr lang="en-US" sz="1050" dirty="0"/>
          </a:p>
        </p:txBody>
      </p:sp>
      <p:sp>
        <p:nvSpPr>
          <p:cNvPr id="19" name="Shape 17"/>
          <p:cNvSpPr/>
          <p:nvPr/>
        </p:nvSpPr>
        <p:spPr>
          <a:xfrm>
            <a:off x="548640" y="5568696"/>
            <a:ext cx="109728" cy="621792"/>
          </a:xfrm>
          <a:prstGeom prst="rect">
            <a:avLst/>
          </a:prstGeom>
          <a:solidFill>
            <a:srgbClr val="E8871E"/>
          </a:solidFill>
          <a:ln/>
        </p:spPr>
      </p:sp>
      <p:sp>
        <p:nvSpPr>
          <p:cNvPr id="20" name="Text 18"/>
          <p:cNvSpPr/>
          <p:nvPr/>
        </p:nvSpPr>
        <p:spPr>
          <a:xfrm>
            <a:off x="868680" y="553212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Retention model — its own caveats</a:t>
            </a:r>
            <a:endParaRPr lang="en-US" sz="1200" dirty="0"/>
          </a:p>
        </p:txBody>
      </p:sp>
      <p:sp>
        <p:nvSpPr>
          <p:cNvPr id="21" name="Text 19"/>
          <p:cNvSpPr/>
          <p:nvPr/>
        </p:nvSpPr>
        <p:spPr>
          <a:xfrm>
            <a:off x="3794760" y="553212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Churn-hazard, competitive-geo, and engagement-signal parameters are illustrative, not researched attrition benchmarks. geo_cluster is deliberately excluded (small-sample tradeoff); realized_ad_revenue's importance is a venue_type confound, not a causal driver; no prospect-side retention model.</a:t>
            </a:r>
            <a:endParaRPr lang="en-US" sz="1050" dirty="0"/>
          </a:p>
        </p:txBody>
      </p:sp>
      <p:sp>
        <p:nvSpPr>
          <p:cNvPr id="22" name="Text 2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Honest scope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Four questions this project answers</a:t>
            </a:r>
            <a:endParaRPr lang="en-US" sz="2800" dirty="0"/>
          </a:p>
        </p:txBody>
      </p:sp>
      <p:sp>
        <p:nvSpPr>
          <p:cNvPr id="3" name="Text 1"/>
          <p:cNvSpPr/>
          <p:nvPr/>
        </p:nvSpPr>
        <p:spPr>
          <a:xfrm>
            <a:off x="548640" y="987552"/>
            <a:ext cx="10972800" cy="32004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Q1–Q2 answer the advertising side (what Atmosphere sells); Q3–Q4 answer the venue-network side (what Atmosphere runs).</a:t>
            </a:r>
            <a:endParaRPr lang="en-US" sz="1200" dirty="0"/>
          </a:p>
        </p:txBody>
      </p:sp>
      <p:sp>
        <p:nvSpPr>
          <p:cNvPr id="4" name="Shape 2"/>
          <p:cNvSpPr/>
          <p:nvPr/>
        </p:nvSpPr>
        <p:spPr>
          <a:xfrm>
            <a:off x="548640"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5" name="Shape 3"/>
          <p:cNvSpPr/>
          <p:nvPr/>
        </p:nvSpPr>
        <p:spPr>
          <a:xfrm>
            <a:off x="804672" y="1737360"/>
            <a:ext cx="502920" cy="502920"/>
          </a:xfrm>
          <a:prstGeom prst="ellipse">
            <a:avLst/>
          </a:prstGeom>
          <a:solidFill>
            <a:srgbClr val="1E2761"/>
          </a:solidFill>
          <a:ln/>
        </p:spPr>
      </p:sp>
      <p:sp>
        <p:nvSpPr>
          <p:cNvPr id="6" name="Text 4"/>
          <p:cNvSpPr/>
          <p:nvPr/>
        </p:nvSpPr>
        <p:spPr>
          <a:xfrm>
            <a:off x="804672"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804672"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Did the campaign actually work?</a:t>
            </a:r>
            <a:endParaRPr lang="en-US" sz="1350" dirty="0"/>
          </a:p>
        </p:txBody>
      </p:sp>
      <p:sp>
        <p:nvSpPr>
          <p:cNvPr id="8" name="Text 6"/>
          <p:cNvSpPr/>
          <p:nvPr/>
        </p:nvSpPr>
        <p:spPr>
          <a:xfrm>
            <a:off x="804672"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Isolate the TRUE incremental foot traffic caused by ad exposure — net of seasonality, trend, and each venue's own baseline pattern.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The sell-side differentiator: measurement Atmosphere's go-to-market team can take to market and clients can trust.</a:t>
            </a:r>
            <a:endParaRPr lang="en-US" sz="1000" dirty="0"/>
          </a:p>
        </p:txBody>
      </p:sp>
      <p:sp>
        <p:nvSpPr>
          <p:cNvPr id="9" name="Shape 7"/>
          <p:cNvSpPr/>
          <p:nvPr/>
        </p:nvSpPr>
        <p:spPr>
          <a:xfrm>
            <a:off x="3355848"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0" name="Shape 8"/>
          <p:cNvSpPr/>
          <p:nvPr/>
        </p:nvSpPr>
        <p:spPr>
          <a:xfrm>
            <a:off x="3611880" y="1737360"/>
            <a:ext cx="502920" cy="502920"/>
          </a:xfrm>
          <a:prstGeom prst="ellipse">
            <a:avLst/>
          </a:prstGeom>
          <a:solidFill>
            <a:srgbClr val="1E2761"/>
          </a:solidFill>
          <a:ln/>
        </p:spPr>
      </p:sp>
      <p:sp>
        <p:nvSpPr>
          <p:cNvPr id="11" name="Text 9"/>
          <p:cNvSpPr/>
          <p:nvPr/>
        </p:nvSpPr>
        <p:spPr>
          <a:xfrm>
            <a:off x="3611880"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3611880"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How should budget be spent?</a:t>
            </a:r>
            <a:endParaRPr lang="en-US" sz="1350" dirty="0"/>
          </a:p>
        </p:txBody>
      </p:sp>
      <p:sp>
        <p:nvSpPr>
          <p:cNvPr id="13" name="Text 11"/>
          <p:cNvSpPr/>
          <p:nvPr/>
        </p:nvSpPr>
        <p:spPr>
          <a:xfrm>
            <a:off x="3611880"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Given a budget an advertiser has already committed to Atmosphere, how should it split across restaurants, gyms, bars, and waiting rooms — accounting for each venue type's own diminishing-returns curve?</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An allocation Atmosphere optimizes on its own inventory and hands advertisers as part of the media plan — not a cross-channel budget call made elsewhere.</a:t>
            </a:r>
            <a:endParaRPr lang="en-US" sz="1000" dirty="0"/>
          </a:p>
        </p:txBody>
      </p:sp>
      <p:sp>
        <p:nvSpPr>
          <p:cNvPr id="14" name="Shape 12"/>
          <p:cNvSpPr/>
          <p:nvPr/>
        </p:nvSpPr>
        <p:spPr>
          <a:xfrm>
            <a:off x="6163056"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5" name="Shape 13"/>
          <p:cNvSpPr/>
          <p:nvPr/>
        </p:nvSpPr>
        <p:spPr>
          <a:xfrm>
            <a:off x="6419088" y="1737360"/>
            <a:ext cx="502920" cy="502920"/>
          </a:xfrm>
          <a:prstGeom prst="ellipse">
            <a:avLst/>
          </a:prstGeom>
          <a:solidFill>
            <a:srgbClr val="1E2761"/>
          </a:solidFill>
          <a:ln/>
        </p:spPr>
      </p:sp>
      <p:sp>
        <p:nvSpPr>
          <p:cNvPr id="16" name="Text 14"/>
          <p:cNvSpPr/>
          <p:nvPr/>
        </p:nvSpPr>
        <p:spPr>
          <a:xfrm>
            <a:off x="6419088"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6419088"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Where's the revenue upside?</a:t>
            </a:r>
            <a:endParaRPr lang="en-US" sz="1350" dirty="0"/>
          </a:p>
        </p:txBody>
      </p:sp>
      <p:sp>
        <p:nvSpPr>
          <p:cNvPr id="18" name="Text 16"/>
          <p:cNvSpPr/>
          <p:nvPr/>
        </p:nvSpPr>
        <p:spPr>
          <a:xfrm>
            <a:off x="6419088"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under-monetized relative to their own traffic and quality — and which prospective venues are worth prioritizing for expansion?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value question.</a:t>
            </a:r>
            <a:endParaRPr lang="en-US" sz="1000" dirty="0"/>
          </a:p>
        </p:txBody>
      </p:sp>
      <p:sp>
        <p:nvSpPr>
          <p:cNvPr id="19" name="Shape 17"/>
          <p:cNvSpPr/>
          <p:nvPr/>
        </p:nvSpPr>
        <p:spPr>
          <a:xfrm>
            <a:off x="8970264"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20" name="Shape 18"/>
          <p:cNvSpPr/>
          <p:nvPr/>
        </p:nvSpPr>
        <p:spPr>
          <a:xfrm>
            <a:off x="9226296" y="1737360"/>
            <a:ext cx="502920" cy="502920"/>
          </a:xfrm>
          <a:prstGeom prst="ellipse">
            <a:avLst/>
          </a:prstGeom>
          <a:solidFill>
            <a:srgbClr val="1E2761"/>
          </a:solidFill>
          <a:ln/>
        </p:spPr>
      </p:sp>
      <p:sp>
        <p:nvSpPr>
          <p:cNvPr id="21" name="Text 19"/>
          <p:cNvSpPr/>
          <p:nvPr/>
        </p:nvSpPr>
        <p:spPr>
          <a:xfrm>
            <a:off x="9226296"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2" name="Text 20"/>
          <p:cNvSpPr/>
          <p:nvPr/>
        </p:nvSpPr>
        <p:spPr>
          <a:xfrm>
            <a:off x="9226296"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Which venues are at risk?</a:t>
            </a:r>
            <a:endParaRPr lang="en-US" sz="1350" dirty="0"/>
          </a:p>
        </p:txBody>
      </p:sp>
      <p:sp>
        <p:nvSpPr>
          <p:cNvPr id="23" name="Text 21"/>
          <p:cNvSpPr/>
          <p:nvPr/>
        </p:nvSpPr>
        <p:spPr>
          <a:xfrm>
            <a:off x="9226296"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likely to leave the network, and which ops-visible signals predict it — combined with Q3's revenue into one value-×-risk priority.</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risk question.</a:t>
            </a:r>
            <a:endParaRPr lang="en-US" sz="1000" dirty="0"/>
          </a:p>
        </p:txBody>
      </p:sp>
      <p:sp>
        <p:nvSpPr>
          <p:cNvPr id="24" name="Text 2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Business framing</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The roadmap: four problems, one connected pipeline</a:t>
            </a:r>
            <a:endParaRPr lang="en-US" sz="2600" dirty="0"/>
          </a:p>
        </p:txBody>
      </p:sp>
      <p:sp>
        <p:nvSpPr>
          <p:cNvPr id="3" name="Text 1"/>
          <p:cNvSpPr/>
          <p:nvPr/>
        </p:nvSpPr>
        <p:spPr>
          <a:xfrm>
            <a:off x="548640" y="1097280"/>
            <a:ext cx="10972800" cy="365760"/>
          </a:xfrm>
          <a:prstGeom prst="rect">
            <a:avLst/>
          </a:prstGeom>
          <a:noFill/>
          <a:ln/>
        </p:spPr>
        <p:txBody>
          <a:bodyPr wrap="square" rtlCol="0" anchor="ctr"/>
          <a:lstStyle/>
          <a:p>
            <a:pPr indent="0" marL="0">
              <a:buNone/>
            </a:pPr>
            <a:r>
              <a:rPr lang="en-US" sz="1300" i="1" dirty="0">
                <a:solidFill>
                  <a:srgbClr val="5B6178"/>
                </a:solidFill>
                <a:latin typeface="Calibri" pitchFamily="34" charset="0"/>
                <a:ea typeface="Calibri" pitchFamily="34" charset="-122"/>
                <a:cs typeface="Calibri" pitchFamily="34" charset="-120"/>
              </a:rPr>
              <a:t>Before the deep dive — this is the shape of what follows.</a:t>
            </a:r>
            <a:endParaRPr lang="en-US" sz="1300" dirty="0"/>
          </a:p>
        </p:txBody>
      </p:sp>
      <p:sp>
        <p:nvSpPr>
          <p:cNvPr id="4" name="Shape 2"/>
          <p:cNvSpPr/>
          <p:nvPr/>
        </p:nvSpPr>
        <p:spPr>
          <a:xfrm>
            <a:off x="502920" y="1828800"/>
            <a:ext cx="1737360" cy="2834640"/>
          </a:xfrm>
          <a:prstGeom prst="roundRect">
            <a:avLst>
              <a:gd name="adj" fmla="val 5263"/>
            </a:avLst>
          </a:prstGeom>
          <a:solidFill>
            <a:srgbClr val="1E2761"/>
          </a:solidFill>
          <a:ln/>
        </p:spPr>
      </p:sp>
      <p:sp>
        <p:nvSpPr>
          <p:cNvPr id="5" name="Shape 3"/>
          <p:cNvSpPr/>
          <p:nvPr/>
        </p:nvSpPr>
        <p:spPr>
          <a:xfrm>
            <a:off x="1728216" y="1920240"/>
            <a:ext cx="402336" cy="237744"/>
          </a:xfrm>
          <a:prstGeom prst="roundRect">
            <a:avLst>
              <a:gd name="adj" fmla="val 23077"/>
            </a:avLst>
          </a:prstGeom>
          <a:solidFill>
            <a:srgbClr val="FFFFFF"/>
          </a:solidFill>
          <a:ln w="12700">
            <a:solidFill>
              <a:srgbClr val="1E2761"/>
            </a:solidFill>
            <a:prstDash val="solid"/>
          </a:ln>
        </p:spPr>
      </p:sp>
      <p:sp>
        <p:nvSpPr>
          <p:cNvPr id="6" name="Text 4"/>
          <p:cNvSpPr/>
          <p:nvPr/>
        </p:nvSpPr>
        <p:spPr>
          <a:xfrm>
            <a:off x="172821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7" name="Text 5"/>
          <p:cNvSpPr/>
          <p:nvPr/>
        </p:nvSpPr>
        <p:spPr>
          <a:xfrm>
            <a:off x="6217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6217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RCT geo-holdout</a:t>
            </a:r>
            <a:endParaRPr lang="en-US" sz="1200" dirty="0"/>
          </a:p>
        </p:txBody>
      </p:sp>
      <p:sp>
        <p:nvSpPr>
          <p:cNvPr id="9" name="Text 7"/>
          <p:cNvSpPr/>
          <p:nvPr/>
        </p:nvSpPr>
        <p:spPr>
          <a:xfrm>
            <a:off x="6217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High confidence</a:t>
            </a:r>
            <a:endParaRPr lang="en-US" sz="900" dirty="0"/>
          </a:p>
        </p:txBody>
      </p:sp>
      <p:sp>
        <p:nvSpPr>
          <p:cNvPr id="10" name="Text 8"/>
          <p:cNvSpPr/>
          <p:nvPr/>
        </p:nvSpPr>
        <p:spPr>
          <a:xfrm>
            <a:off x="6217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Randomized treated/holdout venues. Balance directly verified.</a:t>
            </a:r>
            <a:endParaRPr lang="en-US" sz="870" dirty="0"/>
          </a:p>
        </p:txBody>
      </p:sp>
      <p:sp>
        <p:nvSpPr>
          <p:cNvPr id="11" name="Text 9"/>
          <p:cNvSpPr/>
          <p:nvPr/>
        </p:nvSpPr>
        <p:spPr>
          <a:xfrm>
            <a:off x="224028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2" name="Shape 10"/>
          <p:cNvSpPr/>
          <p:nvPr/>
        </p:nvSpPr>
        <p:spPr>
          <a:xfrm>
            <a:off x="2423160" y="1828800"/>
            <a:ext cx="1737360" cy="2834640"/>
          </a:xfrm>
          <a:prstGeom prst="roundRect">
            <a:avLst>
              <a:gd name="adj" fmla="val 5263"/>
            </a:avLst>
          </a:prstGeom>
          <a:solidFill>
            <a:srgbClr val="E4E9F7"/>
          </a:solidFill>
          <a:ln/>
        </p:spPr>
      </p:sp>
      <p:sp>
        <p:nvSpPr>
          <p:cNvPr id="13" name="Shape 11"/>
          <p:cNvSpPr/>
          <p:nvPr/>
        </p:nvSpPr>
        <p:spPr>
          <a:xfrm>
            <a:off x="3648456" y="1920240"/>
            <a:ext cx="402336" cy="237744"/>
          </a:xfrm>
          <a:prstGeom prst="roundRect">
            <a:avLst>
              <a:gd name="adj" fmla="val 23077"/>
            </a:avLst>
          </a:prstGeom>
          <a:solidFill>
            <a:srgbClr val="FFFFFF"/>
          </a:solidFill>
          <a:ln w="12700">
            <a:solidFill>
              <a:srgbClr val="1E2761"/>
            </a:solidFill>
            <a:prstDash val="solid"/>
          </a:ln>
        </p:spPr>
      </p:sp>
      <p:sp>
        <p:nvSpPr>
          <p:cNvPr id="14" name="Text 12"/>
          <p:cNvSpPr/>
          <p:nvPr/>
        </p:nvSpPr>
        <p:spPr>
          <a:xfrm>
            <a:off x="364845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15" name="Text 13"/>
          <p:cNvSpPr/>
          <p:nvPr/>
        </p:nvSpPr>
        <p:spPr>
          <a:xfrm>
            <a:off x="254203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2</a:t>
            </a:r>
            <a:endParaRPr lang="en-US" sz="1600" dirty="0"/>
          </a:p>
        </p:txBody>
      </p:sp>
      <p:sp>
        <p:nvSpPr>
          <p:cNvPr id="16" name="Text 14"/>
          <p:cNvSpPr/>
          <p:nvPr/>
        </p:nvSpPr>
        <p:spPr>
          <a:xfrm>
            <a:off x="254203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Synthetic control</a:t>
            </a:r>
            <a:endParaRPr lang="en-US" sz="1200" dirty="0"/>
          </a:p>
        </p:txBody>
      </p:sp>
      <p:sp>
        <p:nvSpPr>
          <p:cNvPr id="17" name="Text 15"/>
          <p:cNvSpPr/>
          <p:nvPr/>
        </p:nvSpPr>
        <p:spPr>
          <a:xfrm>
            <a:off x="2542032" y="3108960"/>
            <a:ext cx="1499616" cy="320040"/>
          </a:xfrm>
          <a:prstGeom prst="rect">
            <a:avLst/>
          </a:prstGeom>
          <a:noFill/>
          <a:ln/>
        </p:spPr>
        <p:txBody>
          <a:bodyPr wrap="square" rtlCol="0" anchor="ctr"/>
          <a:lstStyle/>
          <a:p>
            <a:pPr indent="0" marL="0">
              <a:buNone/>
            </a:pPr>
            <a:r>
              <a:rPr lang="en-US" sz="900" b="1" i="1" dirty="0">
                <a:solidFill>
                  <a:srgbClr val="1E2761"/>
                </a:solidFill>
                <a:latin typeface="Calibri" pitchFamily="34" charset="0"/>
                <a:ea typeface="Calibri" pitchFamily="34" charset="-122"/>
                <a:cs typeface="Calibri" pitchFamily="34" charset="-120"/>
              </a:rPr>
              <a:t>Moderate confidence</a:t>
            </a:r>
            <a:endParaRPr lang="en-US" sz="900" dirty="0"/>
          </a:p>
        </p:txBody>
      </p:sp>
      <p:sp>
        <p:nvSpPr>
          <p:cNvPr id="18" name="Text 16"/>
          <p:cNvSpPr/>
          <p:nvPr/>
        </p:nvSpPr>
        <p:spPr>
          <a:xfrm>
            <a:off x="254203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Covers historical, non-randomized campaigns. Validated with placebo tests.</a:t>
            </a:r>
            <a:endParaRPr lang="en-US" sz="870" dirty="0"/>
          </a:p>
        </p:txBody>
      </p:sp>
      <p:sp>
        <p:nvSpPr>
          <p:cNvPr id="19" name="Text 17"/>
          <p:cNvSpPr/>
          <p:nvPr/>
        </p:nvSpPr>
        <p:spPr>
          <a:xfrm>
            <a:off x="416052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0" name="Shape 18"/>
          <p:cNvSpPr/>
          <p:nvPr/>
        </p:nvSpPr>
        <p:spPr>
          <a:xfrm>
            <a:off x="4343400" y="1828800"/>
            <a:ext cx="1737360" cy="2834640"/>
          </a:xfrm>
          <a:prstGeom prst="roundRect">
            <a:avLst>
              <a:gd name="adj" fmla="val 5263"/>
            </a:avLst>
          </a:prstGeom>
          <a:solidFill>
            <a:srgbClr val="FBE8D2"/>
          </a:solidFill>
          <a:ln/>
        </p:spPr>
      </p:sp>
      <p:sp>
        <p:nvSpPr>
          <p:cNvPr id="21" name="Shape 19"/>
          <p:cNvSpPr/>
          <p:nvPr/>
        </p:nvSpPr>
        <p:spPr>
          <a:xfrm>
            <a:off x="5568696" y="1920240"/>
            <a:ext cx="402336" cy="237744"/>
          </a:xfrm>
          <a:prstGeom prst="roundRect">
            <a:avLst>
              <a:gd name="adj" fmla="val 23077"/>
            </a:avLst>
          </a:prstGeom>
          <a:solidFill>
            <a:srgbClr val="FFFFFF"/>
          </a:solidFill>
          <a:ln w="12700">
            <a:solidFill>
              <a:srgbClr val="B8500A"/>
            </a:solidFill>
            <a:prstDash val="solid"/>
          </a:ln>
        </p:spPr>
      </p:sp>
      <p:sp>
        <p:nvSpPr>
          <p:cNvPr id="22" name="Text 20"/>
          <p:cNvSpPr/>
          <p:nvPr/>
        </p:nvSpPr>
        <p:spPr>
          <a:xfrm>
            <a:off x="556869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23" name="Text 21"/>
          <p:cNvSpPr/>
          <p:nvPr/>
        </p:nvSpPr>
        <p:spPr>
          <a:xfrm>
            <a:off x="446227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3</a:t>
            </a:r>
            <a:endParaRPr lang="en-US" sz="1600" dirty="0"/>
          </a:p>
        </p:txBody>
      </p:sp>
      <p:sp>
        <p:nvSpPr>
          <p:cNvPr id="24" name="Text 22"/>
          <p:cNvSpPr/>
          <p:nvPr/>
        </p:nvSpPr>
        <p:spPr>
          <a:xfrm>
            <a:off x="446227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MMM, RCT-calibrated</a:t>
            </a:r>
            <a:endParaRPr lang="en-US" sz="1200" dirty="0"/>
          </a:p>
        </p:txBody>
      </p:sp>
      <p:sp>
        <p:nvSpPr>
          <p:cNvPr id="25" name="Text 23"/>
          <p:cNvSpPr/>
          <p:nvPr/>
        </p:nvSpPr>
        <p:spPr>
          <a:xfrm>
            <a:off x="4462272" y="3108960"/>
            <a:ext cx="1499616" cy="320040"/>
          </a:xfrm>
          <a:prstGeom prst="rect">
            <a:avLst/>
          </a:prstGeom>
          <a:noFill/>
          <a:ln/>
        </p:spPr>
        <p:txBody>
          <a:bodyPr wrap="square" rtlCol="0" anchor="ctr"/>
          <a:lstStyle/>
          <a:p>
            <a:pPr indent="0" marL="0">
              <a:buNone/>
            </a:pPr>
            <a:r>
              <a:rPr lang="en-US" sz="900" b="1" i="1" dirty="0">
                <a:solidFill>
                  <a:srgbClr val="B8500A"/>
                </a:solidFill>
                <a:latin typeface="Calibri" pitchFamily="34" charset="0"/>
                <a:ea typeface="Calibri" pitchFamily="34" charset="-122"/>
                <a:cs typeface="Calibri" pitchFamily="34" charset="-120"/>
              </a:rPr>
              <a:t>Shape + scale</a:t>
            </a:r>
            <a:endParaRPr lang="en-US" sz="900" dirty="0"/>
          </a:p>
        </p:txBody>
      </p:sp>
      <p:sp>
        <p:nvSpPr>
          <p:cNvPr id="26" name="Text 24"/>
          <p:cNvSpPr/>
          <p:nvPr/>
        </p:nvSpPr>
        <p:spPr>
          <a:xfrm>
            <a:off x="446227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Adstock/saturation shape from aggregate data; scale pinned by the RCT.</a:t>
            </a:r>
            <a:endParaRPr lang="en-US" sz="870" dirty="0"/>
          </a:p>
        </p:txBody>
      </p:sp>
      <p:sp>
        <p:nvSpPr>
          <p:cNvPr id="27" name="Text 25"/>
          <p:cNvSpPr/>
          <p:nvPr/>
        </p:nvSpPr>
        <p:spPr>
          <a:xfrm>
            <a:off x="608076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8" name="Shape 26"/>
          <p:cNvSpPr/>
          <p:nvPr/>
        </p:nvSpPr>
        <p:spPr>
          <a:xfrm>
            <a:off x="6263640" y="1828800"/>
            <a:ext cx="1737360" cy="2834640"/>
          </a:xfrm>
          <a:prstGeom prst="roundRect">
            <a:avLst>
              <a:gd name="adj" fmla="val 5263"/>
            </a:avLst>
          </a:prstGeom>
          <a:solidFill>
            <a:srgbClr val="E8871E"/>
          </a:solidFill>
          <a:ln/>
        </p:spPr>
      </p:sp>
      <p:sp>
        <p:nvSpPr>
          <p:cNvPr id="29" name="Shape 27"/>
          <p:cNvSpPr/>
          <p:nvPr/>
        </p:nvSpPr>
        <p:spPr>
          <a:xfrm>
            <a:off x="7488936" y="1920240"/>
            <a:ext cx="402336" cy="237744"/>
          </a:xfrm>
          <a:prstGeom prst="roundRect">
            <a:avLst>
              <a:gd name="adj" fmla="val 23077"/>
            </a:avLst>
          </a:prstGeom>
          <a:solidFill>
            <a:srgbClr val="FFFFFF"/>
          </a:solidFill>
          <a:ln w="12700">
            <a:solidFill>
              <a:srgbClr val="B8500A"/>
            </a:solidFill>
            <a:prstDash val="solid"/>
          </a:ln>
        </p:spPr>
      </p:sp>
      <p:sp>
        <p:nvSpPr>
          <p:cNvPr id="30" name="Text 28"/>
          <p:cNvSpPr/>
          <p:nvPr/>
        </p:nvSpPr>
        <p:spPr>
          <a:xfrm>
            <a:off x="748893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31" name="Text 29"/>
          <p:cNvSpPr/>
          <p:nvPr/>
        </p:nvSpPr>
        <p:spPr>
          <a:xfrm>
            <a:off x="638251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2" name="Text 30"/>
          <p:cNvSpPr/>
          <p:nvPr/>
        </p:nvSpPr>
        <p:spPr>
          <a:xfrm>
            <a:off x="638251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Budget allocator</a:t>
            </a:r>
            <a:endParaRPr lang="en-US" sz="1200" dirty="0"/>
          </a:p>
        </p:txBody>
      </p:sp>
      <p:sp>
        <p:nvSpPr>
          <p:cNvPr id="33" name="Text 31"/>
          <p:cNvSpPr/>
          <p:nvPr/>
        </p:nvSpPr>
        <p:spPr>
          <a:xfrm>
            <a:off x="638251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Exact DP</a:t>
            </a:r>
            <a:endParaRPr lang="en-US" sz="900" dirty="0"/>
          </a:p>
        </p:txBody>
      </p:sp>
      <p:sp>
        <p:nvSpPr>
          <p:cNvPr id="34" name="Text 32"/>
          <p:cNvSpPr/>
          <p:nvPr/>
        </p:nvSpPr>
        <p:spPr>
          <a:xfrm>
            <a:off x="638251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Multiple-choice knapsack over calibrated response curves.</a:t>
            </a:r>
            <a:endParaRPr lang="en-US" sz="870" dirty="0"/>
          </a:p>
        </p:txBody>
      </p:sp>
      <p:sp>
        <p:nvSpPr>
          <p:cNvPr id="35" name="Text 33"/>
          <p:cNvSpPr/>
          <p:nvPr/>
        </p:nvSpPr>
        <p:spPr>
          <a:xfrm>
            <a:off x="800100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36" name="Shape 34"/>
          <p:cNvSpPr/>
          <p:nvPr/>
        </p:nvSpPr>
        <p:spPr>
          <a:xfrm>
            <a:off x="8183880" y="1828800"/>
            <a:ext cx="1737360" cy="2834640"/>
          </a:xfrm>
          <a:prstGeom prst="roundRect">
            <a:avLst>
              <a:gd name="adj" fmla="val 5263"/>
            </a:avLst>
          </a:prstGeom>
          <a:solidFill>
            <a:srgbClr val="2C7A57"/>
          </a:solidFill>
          <a:ln/>
        </p:spPr>
      </p:sp>
      <p:sp>
        <p:nvSpPr>
          <p:cNvPr id="37" name="Shape 35"/>
          <p:cNvSpPr/>
          <p:nvPr/>
        </p:nvSpPr>
        <p:spPr>
          <a:xfrm>
            <a:off x="9409176" y="1920240"/>
            <a:ext cx="402336" cy="237744"/>
          </a:xfrm>
          <a:prstGeom prst="roundRect">
            <a:avLst>
              <a:gd name="adj" fmla="val 23077"/>
            </a:avLst>
          </a:prstGeom>
          <a:solidFill>
            <a:srgbClr val="FFFFFF"/>
          </a:solidFill>
          <a:ln w="12700">
            <a:solidFill>
              <a:srgbClr val="2C7A57"/>
            </a:solidFill>
            <a:prstDash val="solid"/>
          </a:ln>
        </p:spPr>
      </p:sp>
      <p:sp>
        <p:nvSpPr>
          <p:cNvPr id="38" name="Text 36"/>
          <p:cNvSpPr/>
          <p:nvPr/>
        </p:nvSpPr>
        <p:spPr>
          <a:xfrm>
            <a:off x="9409176" y="1920240"/>
            <a:ext cx="402336" cy="237744"/>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Q3</a:t>
            </a:r>
            <a:endParaRPr lang="en-US" sz="950" dirty="0"/>
          </a:p>
        </p:txBody>
      </p:sp>
      <p:sp>
        <p:nvSpPr>
          <p:cNvPr id="39" name="Text 37"/>
          <p:cNvSpPr/>
          <p:nvPr/>
        </p:nvSpPr>
        <p:spPr>
          <a:xfrm>
            <a:off x="830275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40" name="Text 38"/>
          <p:cNvSpPr/>
          <p:nvPr/>
        </p:nvSpPr>
        <p:spPr>
          <a:xfrm>
            <a:off x="830275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revenue model</a:t>
            </a:r>
            <a:endParaRPr lang="en-US" sz="1200" dirty="0"/>
          </a:p>
        </p:txBody>
      </p:sp>
      <p:sp>
        <p:nvSpPr>
          <p:cNvPr id="41" name="Text 39"/>
          <p:cNvSpPr/>
          <p:nvPr/>
        </p:nvSpPr>
        <p:spPr>
          <a:xfrm>
            <a:off x="830275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honest OOF</a:t>
            </a:r>
            <a:endParaRPr lang="en-US" sz="900" dirty="0"/>
          </a:p>
        </p:txBody>
      </p:sp>
      <p:sp>
        <p:nvSpPr>
          <p:cNvPr id="42" name="Text 40"/>
          <p:cNvSpPr/>
          <p:nvPr/>
        </p:nvSpPr>
        <p:spPr>
          <a:xfrm>
            <a:off x="830275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Venue characteristics + the calibrated lift (steps 1–3) as a feature. Flags under-monetized venues; ranks expansion prospects.</a:t>
            </a:r>
            <a:endParaRPr lang="en-US" sz="870" dirty="0"/>
          </a:p>
        </p:txBody>
      </p:sp>
      <p:sp>
        <p:nvSpPr>
          <p:cNvPr id="43" name="Text 41"/>
          <p:cNvSpPr/>
          <p:nvPr/>
        </p:nvSpPr>
        <p:spPr>
          <a:xfrm>
            <a:off x="992124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44" name="Shape 42"/>
          <p:cNvSpPr/>
          <p:nvPr/>
        </p:nvSpPr>
        <p:spPr>
          <a:xfrm>
            <a:off x="10104120" y="1828800"/>
            <a:ext cx="1737360" cy="2834640"/>
          </a:xfrm>
          <a:prstGeom prst="roundRect">
            <a:avLst>
              <a:gd name="adj" fmla="val 5263"/>
            </a:avLst>
          </a:prstGeom>
          <a:solidFill>
            <a:srgbClr val="8E3B60"/>
          </a:solidFill>
          <a:ln/>
        </p:spPr>
      </p:sp>
      <p:sp>
        <p:nvSpPr>
          <p:cNvPr id="45" name="Shape 43"/>
          <p:cNvSpPr/>
          <p:nvPr/>
        </p:nvSpPr>
        <p:spPr>
          <a:xfrm>
            <a:off x="11329416" y="1920240"/>
            <a:ext cx="402336" cy="237744"/>
          </a:xfrm>
          <a:prstGeom prst="roundRect">
            <a:avLst>
              <a:gd name="adj" fmla="val 23077"/>
            </a:avLst>
          </a:prstGeom>
          <a:solidFill>
            <a:srgbClr val="FFFFFF"/>
          </a:solidFill>
          <a:ln w="12700">
            <a:solidFill>
              <a:srgbClr val="8E3B60"/>
            </a:solidFill>
            <a:prstDash val="solid"/>
          </a:ln>
        </p:spPr>
      </p:sp>
      <p:sp>
        <p:nvSpPr>
          <p:cNvPr id="46" name="Text 44"/>
          <p:cNvSpPr/>
          <p:nvPr/>
        </p:nvSpPr>
        <p:spPr>
          <a:xfrm>
            <a:off x="11329416" y="1920240"/>
            <a:ext cx="402336" cy="237744"/>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Q4</a:t>
            </a:r>
            <a:endParaRPr lang="en-US" sz="950" dirty="0"/>
          </a:p>
        </p:txBody>
      </p:sp>
      <p:sp>
        <p:nvSpPr>
          <p:cNvPr id="47" name="Text 45"/>
          <p:cNvSpPr/>
          <p:nvPr/>
        </p:nvSpPr>
        <p:spPr>
          <a:xfrm>
            <a:off x="102229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48" name="Text 46"/>
          <p:cNvSpPr/>
          <p:nvPr/>
        </p:nvSpPr>
        <p:spPr>
          <a:xfrm>
            <a:off x="102229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retention model</a:t>
            </a:r>
            <a:endParaRPr lang="en-US" sz="1200" dirty="0"/>
          </a:p>
        </p:txBody>
      </p:sp>
      <p:sp>
        <p:nvSpPr>
          <p:cNvPr id="49" name="Text 47"/>
          <p:cNvSpPr/>
          <p:nvPr/>
        </p:nvSpPr>
        <p:spPr>
          <a:xfrm>
            <a:off x="102229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classifier, honest OOF</a:t>
            </a:r>
            <a:endParaRPr lang="en-US" sz="900" dirty="0"/>
          </a:p>
        </p:txBody>
      </p:sp>
      <p:sp>
        <p:nvSpPr>
          <p:cNvPr id="50" name="Text 48"/>
          <p:cNvSpPr/>
          <p:nvPr/>
        </p:nvSpPr>
        <p:spPr>
          <a:xfrm>
            <a:off x="102229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Ops-visible signals (engagement, uptime, complaints, outreach) + realized revenue. Flags at-risk venues; combines with Q3 into one value×risk priority.</a:t>
            </a:r>
            <a:endParaRPr lang="en-US" sz="870" dirty="0"/>
          </a:p>
        </p:txBody>
      </p:sp>
      <p:sp>
        <p:nvSpPr>
          <p:cNvPr id="51" name="Text 49"/>
          <p:cNvSpPr/>
          <p:nvPr/>
        </p:nvSpPr>
        <p:spPr>
          <a:xfrm>
            <a:off x="50292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1E2761"/>
                </a:solidFill>
                <a:latin typeface="Calibri" pitchFamily="34" charset="0"/>
                <a:ea typeface="Calibri" pitchFamily="34" charset="-122"/>
                <a:cs typeface="Calibri" pitchFamily="34" charset="-120"/>
              </a:rPr>
              <a:t>Answers Q1 — did the campaign work?</a:t>
            </a:r>
            <a:endParaRPr lang="en-US" sz="1000" dirty="0"/>
          </a:p>
        </p:txBody>
      </p:sp>
      <p:sp>
        <p:nvSpPr>
          <p:cNvPr id="52" name="Text 50"/>
          <p:cNvSpPr/>
          <p:nvPr/>
        </p:nvSpPr>
        <p:spPr>
          <a:xfrm>
            <a:off x="434340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B8500A"/>
                </a:solidFill>
                <a:latin typeface="Calibri" pitchFamily="34" charset="0"/>
                <a:ea typeface="Calibri" pitchFamily="34" charset="-122"/>
                <a:cs typeface="Calibri" pitchFamily="34" charset="-120"/>
              </a:rPr>
              <a:t>Answers Q2 — how should budget be spent?</a:t>
            </a:r>
            <a:endParaRPr lang="en-US" sz="1000" dirty="0"/>
          </a:p>
        </p:txBody>
      </p:sp>
      <p:sp>
        <p:nvSpPr>
          <p:cNvPr id="53" name="Text 51"/>
          <p:cNvSpPr/>
          <p:nvPr/>
        </p:nvSpPr>
        <p:spPr>
          <a:xfrm>
            <a:off x="818388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2C7A57"/>
                </a:solidFill>
                <a:latin typeface="Calibri" pitchFamily="34" charset="0"/>
                <a:ea typeface="Calibri" pitchFamily="34" charset="-122"/>
                <a:cs typeface="Calibri" pitchFamily="34" charset="-120"/>
              </a:rPr>
              <a:t>Answers Q3 — revenue upside?</a:t>
            </a:r>
            <a:endParaRPr lang="en-US" sz="1000" dirty="0"/>
          </a:p>
        </p:txBody>
      </p:sp>
      <p:sp>
        <p:nvSpPr>
          <p:cNvPr id="54" name="Text 52"/>
          <p:cNvSpPr/>
          <p:nvPr/>
        </p:nvSpPr>
        <p:spPr>
          <a:xfrm>
            <a:off x="1010412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8E3B60"/>
                </a:solidFill>
                <a:latin typeface="Calibri" pitchFamily="34" charset="0"/>
                <a:ea typeface="Calibri" pitchFamily="34" charset="-122"/>
                <a:cs typeface="Calibri" pitchFamily="34" charset="-120"/>
              </a:rPr>
              <a:t>Answers Q4 — retention risk?</a:t>
            </a:r>
            <a:endParaRPr lang="en-US" sz="1000" dirty="0"/>
          </a:p>
        </p:txBody>
      </p:sp>
      <p:sp>
        <p:nvSpPr>
          <p:cNvPr id="55" name="Text 53"/>
          <p:cNvSpPr/>
          <p:nvPr/>
        </p:nvSpPr>
        <p:spPr>
          <a:xfrm>
            <a:off x="640080" y="5349240"/>
            <a:ext cx="10881360" cy="68580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One connected system, not four separate projects: the calibrated per-exposure lift from steps 1–4 becomes a feature in the venue-revenue model (step 5), which combines with the churn model's risk score (step 6) into one value-×-risk priority list.</a:t>
            </a:r>
            <a:endParaRPr lang="en-US" sz="1100" dirty="0"/>
          </a:p>
        </p:txBody>
      </p:sp>
      <p:sp>
        <p:nvSpPr>
          <p:cNvPr id="56" name="Text 5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Roadmap</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Two data sources: a designed holdout test, and campaign history</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Foundation for Steps 1–3 · Q1–Q2</a:t>
            </a:r>
            <a:endParaRPr lang="en-US" sz="950" dirty="0"/>
          </a:p>
        </p:txBody>
      </p:sp>
      <p:sp>
        <p:nvSpPr>
          <p:cNvPr id="5" name="Text 3"/>
          <p:cNvSpPr/>
          <p:nvPr/>
        </p:nvSpPr>
        <p:spPr>
          <a:xfrm>
            <a:off x="548640" y="1234440"/>
            <a:ext cx="10972800" cy="365760"/>
          </a:xfrm>
          <a:prstGeom prst="rect">
            <a:avLst/>
          </a:prstGeom>
          <a:noFill/>
          <a:ln/>
        </p:spPr>
        <p:txBody>
          <a:bodyPr wrap="square" rtlCol="0" anchor="ctr"/>
          <a:lstStyle/>
          <a:p>
            <a:pPr indent="0" marL="0">
              <a:buNone/>
            </a:pPr>
            <a:r>
              <a:rPr lang="en-US" sz="1500" b="1" dirty="0">
                <a:solidFill>
                  <a:srgbClr val="E8871E"/>
                </a:solidFill>
                <a:latin typeface="Calibri" pitchFamily="34" charset="0"/>
                <a:ea typeface="Calibri" pitchFamily="34" charset="-122"/>
                <a:cs typeface="Calibri" pitchFamily="34" charset="-120"/>
              </a:rPr>
              <a:t>4 venue types × 100 venues each, 104 weeks (52 pre-period + 52 campaign)</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1672" cy="914400"/>
        </p:xfrm>
        <a:graphic>
          <a:graphicData uri="http://schemas.openxmlformats.org/drawingml/2006/table">
            <a:tbl>
              <a:tblPr/>
              <a:tblGrid>
                <a:gridCol w="1965960"/>
                <a:gridCol w="4562856"/>
                <a:gridCol w="4562856"/>
              </a:tblGrid>
              <a:tr h="384048">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Weeks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RCT pool — 136 venues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Observational pool — 264 venues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r>
              <a:tr h="77724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0–51</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(52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Pre-period</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FFFFF"/>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No ads for either arm — establishes each venue's own baseline.</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No ads yet for anyone — identical baseline period.</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52–59</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(8 wks)</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7F8FC"/>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Still silent — the designed test hasn't launched yet. Unused by the current effect estimate.</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24 of 264 self-activate here — each advertiser's own timing, no coordination.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60–69</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(10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RCT window</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FFFFF"/>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Treated: fixed 6 plays/wk. Holdout: still 0. The only window the RCT estimate uses.</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37 more self-activate here — overlap with the RCT window is coincidence, not design.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70–103</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(34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Post-campaign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7F8FC"/>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Ads stop — a real tail holds for ~10 weeks, then fades to zero (see persistence check, next).</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69 more (the largest group) start only now — most real campaigns land late, spread thin.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bl>
          </a:graphicData>
        </a:graphic>
      </p:graphicFrame>
      <p:sp>
        <p:nvSpPr>
          <p:cNvPr id="7" name="Text 4"/>
          <p:cNvSpPr/>
          <p:nvPr/>
        </p:nvSpPr>
        <p:spPr>
          <a:xfrm>
            <a:off x="548640" y="5623560"/>
            <a:ext cx="11091672" cy="68580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RCT pool: assignment is verified, not assumed — anchors high confidence. Observational pool: 134 of 264 venues never run a campaign at all, and the rest 130 venues self-activate on their own schedule — exactly why synthetic control (next) reconstructs the counterfactual instead of comparing before/after directly.</a:t>
            </a:r>
            <a:endParaRPr lang="en-US" sz="1100" dirty="0"/>
          </a:p>
        </p:txBody>
      </p:sp>
      <p:sp>
        <p:nvSpPr>
          <p:cNvPr id="8" name="Text 5"/>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Data &amp; methodology</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The proof point: ads move real foot traffic</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of 6 · Answers Q1</a:t>
            </a:r>
            <a:endParaRPr lang="en-US" sz="950" dirty="0"/>
          </a:p>
        </p:txBody>
      </p:sp>
      <p:sp>
        <p:nvSpPr>
          <p:cNvPr id="5" name="Shape 3"/>
          <p:cNvSpPr/>
          <p:nvPr/>
        </p:nvSpPr>
        <p:spPr>
          <a:xfrm>
            <a:off x="9784080" y="457200"/>
            <a:ext cx="1920240" cy="502920"/>
          </a:xfrm>
          <a:prstGeom prst="roundRect">
            <a:avLst>
              <a:gd name="adj" fmla="val 14545"/>
            </a:avLst>
          </a:prstGeom>
          <a:solidFill>
            <a:srgbClr val="2C7A57"/>
          </a:solidFill>
          <a:ln/>
        </p:spPr>
      </p:sp>
      <p:sp>
        <p:nvSpPr>
          <p:cNvPr id="6" name="Text 4"/>
          <p:cNvSpPr/>
          <p:nvPr/>
        </p:nvSpPr>
        <p:spPr>
          <a:xfrm>
            <a:off x="9784080" y="457200"/>
            <a:ext cx="1920240" cy="502920"/>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2/16 balance tests sig.</a:t>
            </a:r>
            <a:endParaRPr lang="en-US" sz="1050" dirty="0"/>
          </a:p>
        </p:txBody>
      </p:sp>
      <p:graphicFrame>
        <p:nvGraphicFramePr>
          <p:cNvPr id="7" name="Chart 0" descr=""/>
          <p:cNvGraphicFramePr/>
          <p:nvPr/>
        </p:nvGraphicFramePr>
        <p:xfrm>
          <a:off x="548640" y="1188720"/>
          <a:ext cx="6583680" cy="37490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7406640" y="1188720"/>
            <a:ext cx="4206240" cy="274320"/>
          </a:xfrm>
          <a:prstGeom prst="rect">
            <a:avLst/>
          </a:prstGeom>
          <a:noFill/>
          <a:ln/>
        </p:spPr>
        <p:txBody>
          <a:bodyPr wrap="square" rtlCol="0" anchor="ctr"/>
          <a:lstStyle/>
          <a:p>
            <a:pPr indent="0" marL="0">
              <a:buNone/>
            </a:pPr>
            <a:r>
              <a:rPr lang="en-US" sz="1000" b="1" dirty="0">
                <a:solidFill>
                  <a:srgbClr val="5B6178"/>
                </a:solidFill>
                <a:latin typeface="Courier New" pitchFamily="34" charset="0"/>
                <a:ea typeface="Courier New" pitchFamily="34" charset="-122"/>
                <a:cs typeface="Courier New" pitchFamily="34" charset="-120"/>
              </a:rPr>
              <a:t>Venue type      95% CI               p-value</a:t>
            </a:r>
            <a:endParaRPr lang="en-US" sz="1000" dirty="0"/>
          </a:p>
        </p:txBody>
      </p:sp>
      <p:sp>
        <p:nvSpPr>
          <p:cNvPr id="9" name="Text 6"/>
          <p:cNvSpPr/>
          <p:nvPr/>
        </p:nvSpPr>
        <p:spPr>
          <a:xfrm>
            <a:off x="7406640" y="1508760"/>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Restaurants    [11.1, 22.4]   &lt; 0.001</a:t>
            </a:r>
            <a:endParaRPr lang="en-US" sz="1050" dirty="0"/>
          </a:p>
        </p:txBody>
      </p:sp>
      <p:sp>
        <p:nvSpPr>
          <p:cNvPr id="10" name="Text 7"/>
          <p:cNvSpPr/>
          <p:nvPr/>
        </p:nvSpPr>
        <p:spPr>
          <a:xfrm>
            <a:off x="7406640" y="1892808"/>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Gyms           [5.2, 15.4]   &lt; 0.001</a:t>
            </a:r>
            <a:endParaRPr lang="en-US" sz="1050" dirty="0"/>
          </a:p>
        </p:txBody>
      </p:sp>
      <p:sp>
        <p:nvSpPr>
          <p:cNvPr id="11" name="Text 8"/>
          <p:cNvSpPr/>
          <p:nvPr/>
        </p:nvSpPr>
        <p:spPr>
          <a:xfrm>
            <a:off x="7406640" y="2276856"/>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Bars           [13.3, 22.5]   &lt; 0.001</a:t>
            </a:r>
            <a:endParaRPr lang="en-US" sz="1050" dirty="0"/>
          </a:p>
        </p:txBody>
      </p:sp>
      <p:sp>
        <p:nvSpPr>
          <p:cNvPr id="12" name="Text 9"/>
          <p:cNvSpPr/>
          <p:nvPr/>
        </p:nvSpPr>
        <p:spPr>
          <a:xfrm>
            <a:off x="7406640" y="2660904"/>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Waiting Rooms  [5.1, 10.2]   &lt; 0.001</a:t>
            </a:r>
            <a:endParaRPr lang="en-US" sz="1050" dirty="0"/>
          </a:p>
        </p:txBody>
      </p:sp>
      <p:sp>
        <p:nvSpPr>
          <p:cNvPr id="13" name="Text 10"/>
          <p:cNvSpPr/>
          <p:nvPr/>
        </p:nvSpPr>
        <p:spPr>
          <a:xfrm>
            <a:off x="7406640" y="3319272"/>
            <a:ext cx="420624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Why 2/16 isn't a red flag</a:t>
            </a:r>
            <a:endParaRPr lang="en-US" sz="1200" dirty="0"/>
          </a:p>
        </p:txBody>
      </p:sp>
      <p:sp>
        <p:nvSpPr>
          <p:cNvPr id="14" name="Text 11"/>
          <p:cNvSpPr/>
          <p:nvPr/>
        </p:nvSpPr>
        <p:spPr>
          <a:xfrm>
            <a:off x="7406640" y="3639312"/>
            <a:ext cx="4206240" cy="777240"/>
          </a:xfrm>
          <a:prstGeom prst="rect">
            <a:avLst/>
          </a:prstGeom>
          <a:noFill/>
          <a:ln/>
        </p:spPr>
        <p:txBody>
          <a:bodyPr wrap="square" rtlCol="0" anchor="ctr"/>
          <a:lstStyle/>
          <a:p>
            <a:pPr indent="0" marL="0">
              <a:lnSpc>
                <a:spcPts val="1400"/>
              </a:lnSpc>
              <a:buNone/>
            </a:pPr>
            <a:r>
              <a:rPr lang="en-US" sz="1050" dirty="0">
                <a:solidFill>
                  <a:srgbClr val="1A1A2E"/>
                </a:solidFill>
                <a:latin typeface="Calibri" pitchFamily="34" charset="0"/>
                <a:ea typeface="Calibri" pitchFamily="34" charset="-122"/>
                <a:cs typeface="Calibri" pitchFamily="34" charset="-120"/>
              </a:rPr>
              <a:t>16 tests = 4 pre-treatment covariates (baseline traffic level, dwell time, screen count, audience quality) × 4 venue types. Only 2 came back significant at p≤0.05.</a:t>
            </a:r>
            <a:endParaRPr lang="en-US" sz="1050" dirty="0"/>
          </a:p>
        </p:txBody>
      </p:sp>
      <p:sp>
        <p:nvSpPr>
          <p:cNvPr id="15" name="Text 12"/>
          <p:cNvSpPr/>
          <p:nvPr/>
        </p:nvSpPr>
        <p:spPr>
          <a:xfrm>
            <a:off x="7406640" y="4462272"/>
            <a:ext cx="4206240" cy="137160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If randomization is clean, the count of false positives across 16 independent tests follows Binomial(16, 0.05): mean 0.8, P(≥2) ≈ 19%. Two sits well inside that distribution's main mass — nowhere near a red-flag tail value like 8+. Randomization worked as designed, not assumed.</a:t>
            </a:r>
            <a:endParaRPr lang="en-US" sz="1050" dirty="0"/>
          </a:p>
        </p:txBody>
      </p:sp>
      <p:sp>
        <p:nvSpPr>
          <p:cNvPr id="16" name="Text 13"/>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789920" cy="59436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How long does the lift last after the campaign ends?</a:t>
            </a:r>
            <a:endParaRPr lang="en-US" sz="26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persistence check · Q1</a:t>
            </a:r>
            <a:endParaRPr lang="en-US" sz="950" dirty="0"/>
          </a:p>
        </p:txBody>
      </p:sp>
      <p:sp>
        <p:nvSpPr>
          <p:cNvPr id="5" name="Text 3"/>
          <p:cNvSpPr/>
          <p:nvPr/>
        </p:nvSpPr>
        <p:spPr>
          <a:xfrm>
            <a:off x="548640" y="1005840"/>
            <a:ext cx="1097280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Same treated-vs-holdout contrast as the previous slide, applied to the weeks after the campaign ends — no new design, no new assumption.</a:t>
            </a:r>
            <a:endParaRPr lang="en-US" sz="1250" dirty="0"/>
          </a:p>
        </p:txBody>
      </p:sp>
      <p:graphicFrame>
        <p:nvGraphicFramePr>
          <p:cNvPr id="6" name="Chart 0" descr=""/>
          <p:cNvGraphicFramePr/>
          <p:nvPr/>
        </p:nvGraphicFramePr>
        <p:xfrm>
          <a:off x="548640" y="1600200"/>
          <a:ext cx="6583680" cy="3749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7406640" y="1600200"/>
            <a:ext cx="4206240" cy="274320"/>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Window                  Estimate     SE      p-value</a:t>
            </a:r>
            <a:endParaRPr lang="en-US" sz="950" dirty="0"/>
          </a:p>
        </p:txBody>
      </p:sp>
      <p:sp>
        <p:nvSpPr>
          <p:cNvPr id="8" name="Text 5"/>
          <p:cNvSpPr/>
          <p:nvPr/>
        </p:nvSpPr>
        <p:spPr>
          <a:xfrm>
            <a:off x="7406640" y="1920240"/>
            <a:ext cx="4206240" cy="292608"/>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During campaign     +13.26    1.26   &lt; 0.001</a:t>
            </a:r>
            <a:endParaRPr lang="en-US" sz="1050" dirty="0"/>
          </a:p>
        </p:txBody>
      </p:sp>
      <p:sp>
        <p:nvSpPr>
          <p:cNvPr id="9" name="Text 6"/>
          <p:cNvSpPr/>
          <p:nvPr/>
        </p:nvSpPr>
        <p:spPr>
          <a:xfrm>
            <a:off x="7406640" y="2267712"/>
            <a:ext cx="4206240" cy="292608"/>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0–10 wks after       +2.52    1.16   0.031</a:t>
            </a:r>
            <a:endParaRPr lang="en-US" sz="1050" dirty="0"/>
          </a:p>
        </p:txBody>
      </p:sp>
      <p:sp>
        <p:nvSpPr>
          <p:cNvPr id="10" name="Text 7"/>
          <p:cNvSpPr/>
          <p:nvPr/>
        </p:nvSpPr>
        <p:spPr>
          <a:xfrm>
            <a:off x="7406640" y="2615184"/>
            <a:ext cx="4206240" cy="292608"/>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10–20 wks after      -1.43    1.20   0.236</a:t>
            </a:r>
            <a:endParaRPr lang="en-US" sz="1050" dirty="0"/>
          </a:p>
        </p:txBody>
      </p:sp>
      <p:sp>
        <p:nvSpPr>
          <p:cNvPr id="11" name="Text 8"/>
          <p:cNvSpPr/>
          <p:nvPr/>
        </p:nvSpPr>
        <p:spPr>
          <a:xfrm>
            <a:off x="7406640" y="2962656"/>
            <a:ext cx="4206240" cy="292608"/>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Full post (34wk)     +0.05    0.75   0.945</a:t>
            </a:r>
            <a:endParaRPr lang="en-US" sz="1050" dirty="0"/>
          </a:p>
        </p:txBody>
      </p:sp>
      <p:sp>
        <p:nvSpPr>
          <p:cNvPr id="12" name="Text 9"/>
          <p:cNvSpPr/>
          <p:nvPr/>
        </p:nvSpPr>
        <p:spPr>
          <a:xfrm>
            <a:off x="7406640" y="3447288"/>
            <a:ext cx="420624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A small tail, then nothing</a:t>
            </a:r>
            <a:endParaRPr lang="en-US" sz="1200" dirty="0"/>
          </a:p>
        </p:txBody>
      </p:sp>
      <p:sp>
        <p:nvSpPr>
          <p:cNvPr id="13" name="Text 10"/>
          <p:cNvSpPr/>
          <p:nvPr/>
        </p:nvSpPr>
        <p:spPr>
          <a:xfrm>
            <a:off x="7406640" y="3767328"/>
            <a:ext cx="4206240" cy="1188720"/>
          </a:xfrm>
          <a:prstGeom prst="rect">
            <a:avLst/>
          </a:prstGeom>
          <a:noFill/>
          <a:ln/>
        </p:spPr>
        <p:txBody>
          <a:bodyPr wrap="square" rtlCol="0" anchor="ctr"/>
          <a:lstStyle/>
          <a:p>
            <a:pPr indent="0" marL="0">
              <a:lnSpc>
                <a:spcPts val="1400"/>
              </a:lnSpc>
              <a:buNone/>
            </a:pPr>
            <a:r>
              <a:rPr lang="en-US" sz="1050" dirty="0">
                <a:solidFill>
                  <a:srgbClr val="1A1A2E"/>
                </a:solidFill>
                <a:latin typeface="Calibri" pitchFamily="34" charset="0"/>
                <a:ea typeface="Calibri" pitchFamily="34" charset="-122"/>
                <a:cs typeface="Calibri" pitchFamily="34" charset="-120"/>
              </a:rPr>
              <a:t>The first 10 weeks after the campaign ends still show a real, significant tail — about 19% of the in-campaign lift (p=0.031). By 10–20 weeks out it's gone (p=0.236), and averaged across the full 34-week post-campaign panel the effect is a clean +0.05 (p=0.945).</a:t>
            </a:r>
            <a:endParaRPr lang="en-US" sz="1050" dirty="0"/>
          </a:p>
        </p:txBody>
      </p:sp>
      <p:sp>
        <p:nvSpPr>
          <p:cNvPr id="14" name="Text 11"/>
          <p:cNvSpPr/>
          <p:nvPr/>
        </p:nvSpPr>
        <p:spPr>
          <a:xfrm>
            <a:off x="7406640" y="5093208"/>
            <a:ext cx="4206240" cy="91440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Practical read: don't plan on meaningful carryover past the campaign's own window — each flight buys its own 10 weeks of impact, not lingering awareness. That argues for cadence, not one-and-done bursts.</a:t>
            </a:r>
            <a:endParaRPr lang="en-US" sz="1050" dirty="0"/>
          </a:p>
        </p:txBody>
      </p:sp>
      <p:sp>
        <p:nvSpPr>
          <p:cNvPr id="15" name="Text 1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 post-campaign persistence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0584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Measuring the campaigns we couldn't randomize</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2 of 6 · Answers Q1</a:t>
            </a:r>
            <a:endParaRPr lang="en-US" sz="950" dirty="0"/>
          </a:p>
        </p:txBody>
      </p:sp>
      <p:sp>
        <p:nvSpPr>
          <p:cNvPr id="5" name="Text 3"/>
          <p:cNvSpPr/>
          <p:nvPr/>
        </p:nvSpPr>
        <p:spPr>
          <a:xfrm>
            <a:off x="548640" y="1005840"/>
            <a:ext cx="1078992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Most advertisers' campaigns already ran, on venues they picked — not us. Synthetic control reconstructs the counterfactual anyway, with its own built-in checks.</a:t>
            </a:r>
            <a:endParaRPr lang="en-US" sz="1250" dirty="0"/>
          </a:p>
        </p:txBody>
      </p:sp>
      <p:graphicFrame>
        <p:nvGraphicFramePr>
          <p:cNvPr id="6" name="Chart 0" descr=""/>
          <p:cNvGraphicFramePr/>
          <p:nvPr/>
        </p:nvGraphicFramePr>
        <p:xfrm>
          <a:off x="548640" y="1645920"/>
          <a:ext cx="6583680" cy="3749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7406640" y="1645920"/>
            <a:ext cx="4206240" cy="274320"/>
          </a:xfrm>
          <a:prstGeom prst="rect">
            <a:avLst/>
          </a:prstGeom>
          <a:noFill/>
          <a:ln/>
        </p:spPr>
        <p:txBody>
          <a:bodyPr wrap="square" rtlCol="0" anchor="ctr"/>
          <a:lstStyle/>
          <a:p>
            <a:pPr indent="0" marL="0">
              <a:buNone/>
            </a:pPr>
            <a:r>
              <a:rPr lang="en-US" sz="1000" b="1" dirty="0">
                <a:solidFill>
                  <a:srgbClr val="5B6178"/>
                </a:solidFill>
                <a:latin typeface="Courier New" pitchFamily="34" charset="0"/>
                <a:ea typeface="Courier New" pitchFamily="34" charset="-122"/>
                <a:cs typeface="Courier New" pitchFamily="34" charset="-120"/>
              </a:rPr>
              <a:t>Venue type      Placebo p    Pre-RMSPE</a:t>
            </a:r>
            <a:endParaRPr lang="en-US" sz="1000" dirty="0"/>
          </a:p>
        </p:txBody>
      </p:sp>
      <p:sp>
        <p:nvSpPr>
          <p:cNvPr id="8" name="Text 5"/>
          <p:cNvSpPr/>
          <p:nvPr/>
        </p:nvSpPr>
        <p:spPr>
          <a:xfrm>
            <a:off x="7406640" y="1965960"/>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Restaurants    0.160        26.4</a:t>
            </a:r>
            <a:endParaRPr lang="en-US" sz="1050" dirty="0"/>
          </a:p>
        </p:txBody>
      </p:sp>
      <p:sp>
        <p:nvSpPr>
          <p:cNvPr id="9" name="Text 6"/>
          <p:cNvSpPr/>
          <p:nvPr/>
        </p:nvSpPr>
        <p:spPr>
          <a:xfrm>
            <a:off x="7406640" y="2350008"/>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Gyms           0.050        14.4</a:t>
            </a:r>
            <a:endParaRPr lang="en-US" sz="1050" dirty="0"/>
          </a:p>
        </p:txBody>
      </p:sp>
      <p:sp>
        <p:nvSpPr>
          <p:cNvPr id="10" name="Text 7"/>
          <p:cNvSpPr/>
          <p:nvPr/>
        </p:nvSpPr>
        <p:spPr>
          <a:xfrm>
            <a:off x="7406640" y="2734056"/>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Bars           0.100        17.8</a:t>
            </a:r>
            <a:endParaRPr lang="en-US" sz="1050" dirty="0"/>
          </a:p>
        </p:txBody>
      </p:sp>
      <p:sp>
        <p:nvSpPr>
          <p:cNvPr id="11" name="Text 8"/>
          <p:cNvSpPr/>
          <p:nvPr/>
        </p:nvSpPr>
        <p:spPr>
          <a:xfrm>
            <a:off x="7406640" y="3118104"/>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Waiting Rooms  0.110        8.3</a:t>
            </a:r>
            <a:endParaRPr lang="en-US" sz="1050" dirty="0"/>
          </a:p>
        </p:txBody>
      </p:sp>
      <p:sp>
        <p:nvSpPr>
          <p:cNvPr id="12" name="Text 9"/>
          <p:cNvSpPr/>
          <p:nvPr/>
        </p:nvSpPr>
        <p:spPr>
          <a:xfrm>
            <a:off x="7406640" y="3776472"/>
            <a:ext cx="4206240" cy="155448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Two validation checks, since synthetic control has no closed-form standard error: pre-period fit quality (RMSPE — poor fits are flagged and excluded from the aggregate estimate) and an in-space placebo test on every donor venue.</a:t>
            </a:r>
            <a:endParaRPr lang="en-US" sz="1100" dirty="0"/>
          </a:p>
        </p:txBody>
      </p:sp>
      <p:sp>
        <p:nvSpPr>
          <p:cNvPr id="13" name="Text 1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Synthetic Control</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MMM: an uncalibrated model would have underpriced results</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of 6 · Answers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Adstock + saturation shape comes from the aggregate weekly series; scale is pinned by the RCT's high-confidence estimate.</a:t>
            </a:r>
            <a:endParaRPr lang="en-US" sz="125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7772400" y="1737360"/>
            <a:ext cx="3840480" cy="32004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Calibration adjustment</a:t>
            </a:r>
            <a:endParaRPr lang="en-US" sz="1200" dirty="0"/>
          </a:p>
        </p:txBody>
      </p:sp>
      <p:sp>
        <p:nvSpPr>
          <p:cNvPr id="8" name="Text 5"/>
          <p:cNvSpPr/>
          <p:nvPr/>
        </p:nvSpPr>
        <p:spPr>
          <a:xfrm>
            <a:off x="7772400" y="219456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Restaurants</a:t>
            </a:r>
            <a:endParaRPr lang="en-US" sz="1200" dirty="0"/>
          </a:p>
        </p:txBody>
      </p:sp>
      <p:sp>
        <p:nvSpPr>
          <p:cNvPr id="9" name="Text 6"/>
          <p:cNvSpPr/>
          <p:nvPr/>
        </p:nvSpPr>
        <p:spPr>
          <a:xfrm>
            <a:off x="9509760" y="219456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+134%</a:t>
            </a:r>
            <a:endParaRPr lang="en-US" sz="1800" dirty="0"/>
          </a:p>
        </p:txBody>
      </p:sp>
      <p:sp>
        <p:nvSpPr>
          <p:cNvPr id="10" name="Text 7"/>
          <p:cNvSpPr/>
          <p:nvPr/>
        </p:nvSpPr>
        <p:spPr>
          <a:xfrm>
            <a:off x="7772400" y="278892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Gyms</a:t>
            </a:r>
            <a:endParaRPr lang="en-US" sz="1200" dirty="0"/>
          </a:p>
        </p:txBody>
      </p:sp>
      <p:sp>
        <p:nvSpPr>
          <p:cNvPr id="11" name="Text 8"/>
          <p:cNvSpPr/>
          <p:nvPr/>
        </p:nvSpPr>
        <p:spPr>
          <a:xfrm>
            <a:off x="9509760" y="278892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+165%</a:t>
            </a:r>
            <a:endParaRPr lang="en-US" sz="1800" dirty="0"/>
          </a:p>
        </p:txBody>
      </p:sp>
      <p:sp>
        <p:nvSpPr>
          <p:cNvPr id="12" name="Text 9"/>
          <p:cNvSpPr/>
          <p:nvPr/>
        </p:nvSpPr>
        <p:spPr>
          <a:xfrm>
            <a:off x="7772400" y="338328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Bars</a:t>
            </a:r>
            <a:endParaRPr lang="en-US" sz="1200" dirty="0"/>
          </a:p>
        </p:txBody>
      </p:sp>
      <p:sp>
        <p:nvSpPr>
          <p:cNvPr id="13" name="Text 10"/>
          <p:cNvSpPr/>
          <p:nvPr/>
        </p:nvSpPr>
        <p:spPr>
          <a:xfrm>
            <a:off x="9509760" y="3383280"/>
            <a:ext cx="2103120" cy="502920"/>
          </a:xfrm>
          <a:prstGeom prst="rect">
            <a:avLst/>
          </a:prstGeom>
          <a:noFill/>
          <a:ln/>
        </p:spPr>
        <p:txBody>
          <a:bodyPr wrap="square" rtlCol="0" anchor="ctr"/>
          <a:lstStyle/>
          <a:p>
            <a:pPr indent="0" marL="0">
              <a:buNone/>
            </a:pPr>
            <a:r>
              <a:rPr lang="en-US" sz="1800" b="1" dirty="0">
                <a:solidFill>
                  <a:srgbClr val="2C7A57"/>
                </a:solidFill>
                <a:latin typeface="Calibri" pitchFamily="34" charset="0"/>
                <a:ea typeface="Calibri" pitchFamily="34" charset="-122"/>
                <a:cs typeface="Calibri" pitchFamily="34" charset="-120"/>
              </a:rPr>
              <a:t>+20%</a:t>
            </a:r>
            <a:endParaRPr lang="en-US" sz="1800" dirty="0"/>
          </a:p>
        </p:txBody>
      </p:sp>
      <p:sp>
        <p:nvSpPr>
          <p:cNvPr id="14" name="Text 11"/>
          <p:cNvSpPr/>
          <p:nvPr/>
        </p:nvSpPr>
        <p:spPr>
          <a:xfrm>
            <a:off x="7772400" y="397764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Waiting Rooms</a:t>
            </a:r>
            <a:endParaRPr lang="en-US" sz="1200" dirty="0"/>
          </a:p>
        </p:txBody>
      </p:sp>
      <p:sp>
        <p:nvSpPr>
          <p:cNvPr id="15" name="Text 12"/>
          <p:cNvSpPr/>
          <p:nvPr/>
        </p:nvSpPr>
        <p:spPr>
          <a:xfrm>
            <a:off x="9509760" y="397764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+100%</a:t>
            </a:r>
            <a:endParaRPr lang="en-US" sz="1800" dirty="0"/>
          </a:p>
        </p:txBody>
      </p:sp>
      <p:sp>
        <p:nvSpPr>
          <p:cNvPr id="16" name="Text 13"/>
          <p:cNvSpPr/>
          <p:nvPr/>
        </p:nvSpPr>
        <p:spPr>
          <a:xfrm>
            <a:off x="7772400" y="4709160"/>
            <a:ext cx="3840480" cy="146304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For 3 of 4 venue types, the naive observational fit understated the RCT-calibrated estimate by 100–165% — the kind of gap real MMM practice cites as its core identification problem, and exactly why the RCT anchor matters.</a:t>
            </a:r>
            <a:endParaRPr lang="en-US" sz="1100" dirty="0"/>
          </a:p>
        </p:txBody>
      </p:sp>
      <p:sp>
        <p:nvSpPr>
          <p:cNvPr id="17"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Robustness check: does competing media break this MMM?</a:t>
            </a:r>
            <a:endParaRPr lang="en-US" sz="24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robustness check ·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A stress-test scenario: a competing advertiser ramps up on the same venues at the same time, correlated with Atmosphere's own exposure — the kind of overlap a real MMM has to prove it's robust to.</a:t>
            </a:r>
            <a:endParaRPr lang="en-US" sz="120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772400" y="1600200"/>
            <a:ext cx="3867912" cy="1234440"/>
          </a:xfrm>
          <a:prstGeom prst="roundRect">
            <a:avLst>
              <a:gd name="adj" fmla="val 5926"/>
            </a:avLst>
          </a:prstGeom>
          <a:solidFill>
            <a:srgbClr val="F5F7FC"/>
          </a:solidFill>
          <a:ln/>
        </p:spPr>
      </p:sp>
      <p:sp>
        <p:nvSpPr>
          <p:cNvPr id="8" name="Text 5"/>
          <p:cNvSpPr/>
          <p:nvPr/>
        </p:nvSpPr>
        <p:spPr>
          <a:xfrm>
            <a:off x="7955280" y="1719072"/>
            <a:ext cx="3520440" cy="365760"/>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RCT estimate shift under the identical shock</a:t>
            </a:r>
            <a:endParaRPr lang="en-US" sz="1100" dirty="0"/>
          </a:p>
        </p:txBody>
      </p:sp>
      <p:sp>
        <p:nvSpPr>
          <p:cNvPr id="9" name="Text 6"/>
          <p:cNvSpPr/>
          <p:nvPr/>
        </p:nvSpPr>
        <p:spPr>
          <a:xfrm>
            <a:off x="7955280" y="2057400"/>
            <a:ext cx="3520440" cy="594360"/>
          </a:xfrm>
          <a:prstGeom prst="rect">
            <a:avLst/>
          </a:prstGeom>
          <a:noFill/>
          <a:ln/>
        </p:spPr>
        <p:txBody>
          <a:bodyPr wrap="square" rtlCol="0" anchor="ctr"/>
          <a:lstStyle/>
          <a:p>
            <a:pPr indent="0" marL="0">
              <a:buNone/>
            </a:pPr>
            <a:r>
              <a:rPr lang="en-US" sz="3200" b="1" dirty="0">
                <a:solidFill>
                  <a:srgbClr val="2C7A57"/>
                </a:solidFill>
                <a:latin typeface="Calibri" pitchFamily="34" charset="0"/>
                <a:ea typeface="Calibri" pitchFamily="34" charset="-122"/>
                <a:cs typeface="Calibri" pitchFamily="34" charset="-120"/>
              </a:rPr>
              <a:t>0.00</a:t>
            </a:r>
            <a:endParaRPr lang="en-US" sz="3200" dirty="0"/>
          </a:p>
        </p:txBody>
      </p:sp>
      <p:sp>
        <p:nvSpPr>
          <p:cNvPr id="10" name="Text 7"/>
          <p:cNvSpPr/>
          <p:nvPr/>
        </p:nvSpPr>
        <p:spPr>
          <a:xfrm>
            <a:off x="7955280" y="2633472"/>
            <a:ext cx="3520440" cy="182880"/>
          </a:xfrm>
          <a:prstGeom prst="rect">
            <a:avLst/>
          </a:prstGeom>
          <a:noFill/>
          <a:ln/>
        </p:spPr>
        <p:txBody>
          <a:bodyPr wrap="square" rtlCol="0" anchor="ctr"/>
          <a:lstStyle/>
          <a:p>
            <a:pPr indent="0" marL="0">
              <a:lnSpc>
                <a:spcPts val="1000"/>
              </a:lnSpc>
              <a:buNone/>
            </a:pPr>
            <a:r>
              <a:rPr lang="en-US" sz="870" i="1" dirty="0">
                <a:solidFill>
                  <a:srgbClr val="5B6178"/>
                </a:solidFill>
                <a:latin typeface="Calibri" pitchFamily="34" charset="0"/>
                <a:ea typeface="Calibri" pitchFamily="34" charset="-122"/>
                <a:cs typeface="Calibri" pitchFamily="34" charset="-120"/>
              </a:rPr>
              <a:t>every venue type — the shock hits both arms equally, so a randomized comparison is mechanically immune to it</a:t>
            </a:r>
            <a:endParaRPr lang="en-US" sz="870" dirty="0"/>
          </a:p>
        </p:txBody>
      </p:sp>
      <p:sp>
        <p:nvSpPr>
          <p:cNvPr id="11" name="Text 8"/>
          <p:cNvSpPr/>
          <p:nvPr/>
        </p:nvSpPr>
        <p:spPr>
          <a:xfrm>
            <a:off x="7772400" y="3063240"/>
            <a:ext cx="3867912" cy="141732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Naive MMM, by contrast, swings from useful to actively misleading: for 3 of 4 venue types the confound-blind fit was off by 2–4× — even at a moderate 0.35 correlation between competing media and Atmosphere's own exposure ramp, nowhere near a worst case. Controlling for the confound (green) recovers this model's own baseline from the previous slide — the RCT-scale calibration from that same slide is what closes the rest of the gap.</a:t>
            </a:r>
            <a:endParaRPr lang="en-US" sz="1000" dirty="0"/>
          </a:p>
        </p:txBody>
      </p:sp>
      <p:sp>
        <p:nvSpPr>
          <p:cNvPr id="12" name="Shape 9"/>
          <p:cNvSpPr/>
          <p:nvPr/>
        </p:nvSpPr>
        <p:spPr>
          <a:xfrm>
            <a:off x="548640" y="5687568"/>
            <a:ext cx="11091672" cy="713232"/>
          </a:xfrm>
          <a:prstGeom prst="roundRect">
            <a:avLst>
              <a:gd name="adj" fmla="val 7692"/>
            </a:avLst>
          </a:prstGeom>
          <a:solidFill>
            <a:srgbClr val="FDF1E3"/>
          </a:solidFill>
          <a:ln/>
        </p:spPr>
      </p:sp>
      <p:sp>
        <p:nvSpPr>
          <p:cNvPr id="13" name="Text 10"/>
          <p:cNvSpPr/>
          <p:nvPr/>
        </p:nvSpPr>
        <p:spPr>
          <a:xfrm>
            <a:off x="731520" y="5779008"/>
            <a:ext cx="10744200" cy="548640"/>
          </a:xfrm>
          <a:prstGeom prst="rect">
            <a:avLst/>
          </a:prstGeom>
          <a:noFill/>
          <a:ln/>
        </p:spPr>
        <p:txBody>
          <a:bodyPr wrap="square" rtlCol="0" anchor="ctr"/>
          <a:lstStyle/>
          <a:p>
            <a:pPr indent="0" marL="0">
              <a:lnSpc>
                <a:spcPts val="1200"/>
              </a:lnSpc>
              <a:buNone/>
            </a:pPr>
            <a:r>
              <a:rPr lang="en-US" sz="950" i="1" dirty="0">
                <a:solidFill>
                  <a:srgbClr val="8A4B0A"/>
                </a:solidFill>
                <a:latin typeface="Calibri" pitchFamily="34" charset="0"/>
                <a:ea typeface="Calibri" pitchFamily="34" charset="-122"/>
                <a:cs typeface="Calibri" pitchFamily="34" charset="-120"/>
              </a:rPr>
              <a:t>Why this is scoped this way: deciding how an advertiser splits budget across Atmosphere + TV + social is the advertiser's/agency's call — Atmosphere has no visibility into competitors' channel data anyway. What Atmosphere's DS role should own is netting competing media OUT of its own causal read (the JD's own phrasing), which the RCT does by design and a single-channel MMM only does with an explicit control.</a:t>
            </a:r>
            <a:endParaRPr lang="en-US" sz="950" dirty="0"/>
          </a:p>
        </p:txBody>
      </p:sp>
      <p:sp>
        <p:nvSpPr>
          <p:cNvPr id="14" name="Text 11"/>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 — robustness</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Budget allocator: exact DP, not a greedy walk</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4 of 6 · Answers Q2</a:t>
            </a:r>
            <a:endParaRPr lang="en-US" sz="950" dirty="0"/>
          </a:p>
        </p:txBody>
      </p:sp>
      <p:sp>
        <p:nvSpPr>
          <p:cNvPr id="5" name="Shape 3"/>
          <p:cNvSpPr/>
          <p:nvPr/>
        </p:nvSpPr>
        <p:spPr>
          <a:xfrm>
            <a:off x="548640" y="1143000"/>
            <a:ext cx="11064240" cy="914400"/>
          </a:xfrm>
          <a:prstGeom prst="roundRect">
            <a:avLst>
              <a:gd name="adj" fmla="val 8000"/>
            </a:avLst>
          </a:prstGeom>
          <a:solidFill>
            <a:srgbClr val="FDF1E3"/>
          </a:solidFill>
          <a:ln/>
        </p:spPr>
      </p:sp>
      <p:sp>
        <p:nvSpPr>
          <p:cNvPr id="6" name="Text 4"/>
          <p:cNvSpPr/>
          <p:nvPr/>
        </p:nvSpPr>
        <p:spPr>
          <a:xfrm>
            <a:off x="777240" y="1234440"/>
            <a:ext cx="10607040" cy="777240"/>
          </a:xfrm>
          <a:prstGeom prst="rect">
            <a:avLst/>
          </a:prstGeom>
          <a:noFill/>
          <a:ln/>
        </p:spPr>
        <p:txBody>
          <a:bodyPr wrap="square" rtlCol="0" anchor="ctr"/>
          <a:lstStyle/>
          <a:p>
            <a:pPr indent="0" marL="0">
              <a:lnSpc>
                <a:spcPts val="1500"/>
              </a:lnSpc>
              <a:buNone/>
            </a:pPr>
            <a:r>
              <a:rPr lang="en-US" sz="1200" i="1" dirty="0">
                <a:solidFill>
                  <a:srgbClr val="8A4B0A"/>
                </a:solidFill>
                <a:latin typeface="Calibri" pitchFamily="34" charset="0"/>
                <a:ea typeface="Calibri" pitchFamily="34" charset="-122"/>
                <a:cs typeface="Calibri" pitchFamily="34" charset="-120"/>
              </a:rPr>
              <a:t>A Hill/S-shaped response curve is CONVEX before its inflection point — a greedy “spend the next dollar on whichever venue type currently looks best” heuristic isn't guaranteed optimal there. An earlier greedy version of this allocator actually underperformed a naive equal-split baseline; the DP formulation below has no concavity requirement and is guaranteed to find the grid-optimal allocation.</a:t>
            </a:r>
            <a:endParaRPr lang="en-US" sz="1200" dirty="0"/>
          </a:p>
        </p:txBody>
      </p:sp>
      <p:graphicFrame>
        <p:nvGraphicFramePr>
          <p:cNvPr id="7" name="Chart 0" descr=""/>
          <p:cNvGraphicFramePr/>
          <p:nvPr/>
        </p:nvGraphicFramePr>
        <p:xfrm>
          <a:off x="548640" y="228600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7498080" y="2331720"/>
            <a:ext cx="4114800" cy="365760"/>
          </a:xfrm>
          <a:prstGeom prst="rect">
            <a:avLst/>
          </a:prstGeom>
          <a:noFill/>
          <a:ln/>
        </p:spPr>
        <p:txBody>
          <a:bodyPr wrap="square"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$100,000 weekly budget example</a:t>
            </a:r>
            <a:endParaRPr lang="en-US" sz="1300" dirty="0"/>
          </a:p>
        </p:txBody>
      </p:sp>
      <p:sp>
        <p:nvSpPr>
          <p:cNvPr id="9" name="Text 6"/>
          <p:cNvSpPr/>
          <p:nvPr/>
        </p:nvSpPr>
        <p:spPr>
          <a:xfrm>
            <a:off x="7498080" y="278892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$20,000 budget</a:t>
            </a:r>
            <a:endParaRPr lang="en-US" sz="1200" dirty="0"/>
          </a:p>
        </p:txBody>
      </p:sp>
      <p:sp>
        <p:nvSpPr>
          <p:cNvPr id="10" name="Text 7"/>
          <p:cNvSpPr/>
          <p:nvPr/>
        </p:nvSpPr>
        <p:spPr>
          <a:xfrm>
            <a:off x="9326880" y="274320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+48.6%</a:t>
            </a:r>
            <a:endParaRPr lang="en-US" sz="2000" dirty="0"/>
          </a:p>
        </p:txBody>
      </p:sp>
      <p:sp>
        <p:nvSpPr>
          <p:cNvPr id="11" name="Text 8"/>
          <p:cNvSpPr/>
          <p:nvPr/>
        </p:nvSpPr>
        <p:spPr>
          <a:xfrm>
            <a:off x="7498080" y="317296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2" name="Text 9"/>
          <p:cNvSpPr/>
          <p:nvPr/>
        </p:nvSpPr>
        <p:spPr>
          <a:xfrm>
            <a:off x="7498080" y="384048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$50,000 budget</a:t>
            </a:r>
            <a:endParaRPr lang="en-US" sz="1200" dirty="0"/>
          </a:p>
        </p:txBody>
      </p:sp>
      <p:sp>
        <p:nvSpPr>
          <p:cNvPr id="13" name="Text 10"/>
          <p:cNvSpPr/>
          <p:nvPr/>
        </p:nvSpPr>
        <p:spPr>
          <a:xfrm>
            <a:off x="9326880" y="379476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+11.1%</a:t>
            </a:r>
            <a:endParaRPr lang="en-US" sz="2000" dirty="0"/>
          </a:p>
        </p:txBody>
      </p:sp>
      <p:sp>
        <p:nvSpPr>
          <p:cNvPr id="14" name="Text 11"/>
          <p:cNvSpPr/>
          <p:nvPr/>
        </p:nvSpPr>
        <p:spPr>
          <a:xfrm>
            <a:off x="7498080" y="422452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5" name="Text 12"/>
          <p:cNvSpPr/>
          <p:nvPr/>
        </p:nvSpPr>
        <p:spPr>
          <a:xfrm>
            <a:off x="7498080" y="489204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$100,000 budget</a:t>
            </a:r>
            <a:endParaRPr lang="en-US" sz="1200" dirty="0"/>
          </a:p>
        </p:txBody>
      </p:sp>
      <p:sp>
        <p:nvSpPr>
          <p:cNvPr id="16" name="Text 13"/>
          <p:cNvSpPr/>
          <p:nvPr/>
        </p:nvSpPr>
        <p:spPr>
          <a:xfrm>
            <a:off x="9326880" y="484632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+2.4%</a:t>
            </a:r>
            <a:endParaRPr lang="en-US" sz="2000" dirty="0"/>
          </a:p>
        </p:txBody>
      </p:sp>
      <p:sp>
        <p:nvSpPr>
          <p:cNvPr id="17" name="Text 14"/>
          <p:cNvSpPr/>
          <p:nvPr/>
        </p:nvSpPr>
        <p:spPr>
          <a:xfrm>
            <a:off x="7498080" y="527608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8" name="Text 15"/>
          <p:cNvSpPr/>
          <p:nvPr/>
        </p:nvSpPr>
        <p:spPr>
          <a:xfrm>
            <a:off x="7498080" y="5989320"/>
            <a:ext cx="4206240" cy="5486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The optimizer's edge is largest when budget is scarce — exactly when allocation decisions matter most.</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Productization — budget allocator</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other side of the business</a:t>
            </a:r>
            <a:endParaRPr lang="en-US" sz="28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Transition · Q1–Q2 → Q3–Q4</a:t>
            </a:r>
            <a:endParaRPr lang="en-US" sz="950" dirty="0"/>
          </a:p>
        </p:txBody>
      </p:sp>
      <p:sp>
        <p:nvSpPr>
          <p:cNvPr id="5" name="Text 3"/>
          <p:cNvSpPr/>
          <p:nvPr/>
        </p:nvSpPr>
        <p:spPr>
          <a:xfrm>
            <a:off x="548640" y="1097280"/>
            <a:ext cx="10972800" cy="41148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One system answers the advertising side. The same system answers the venue-network side too.</a:t>
            </a:r>
            <a:endParaRPr lang="en-US" sz="1350" dirty="0"/>
          </a:p>
        </p:txBody>
      </p:sp>
      <p:sp>
        <p:nvSpPr>
          <p:cNvPr id="6" name="Shape 4"/>
          <p:cNvSpPr/>
          <p:nvPr/>
        </p:nvSpPr>
        <p:spPr>
          <a:xfrm>
            <a:off x="548640" y="1691640"/>
            <a:ext cx="5212080" cy="4343400"/>
          </a:xfrm>
          <a:prstGeom prst="roundRect">
            <a:avLst>
              <a:gd name="adj" fmla="val 2105"/>
            </a:avLst>
          </a:prstGeom>
          <a:solidFill>
            <a:srgbClr val="2A3480"/>
          </a:solidFill>
          <a:ln/>
        </p:spPr>
      </p:sp>
      <p:sp>
        <p:nvSpPr>
          <p:cNvPr id="7" name="Text 5"/>
          <p:cNvSpPr/>
          <p:nvPr/>
        </p:nvSpPr>
        <p:spPr>
          <a:xfrm>
            <a:off x="91440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Advertising incrementality</a:t>
            </a:r>
            <a:endParaRPr lang="en-US" sz="1600" dirty="0"/>
          </a:p>
        </p:txBody>
      </p:sp>
      <p:sp>
        <p:nvSpPr>
          <p:cNvPr id="8" name="Text 6"/>
          <p:cNvSpPr/>
          <p:nvPr/>
        </p:nvSpPr>
        <p:spPr>
          <a:xfrm>
            <a:off x="914400" y="2697480"/>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Prove and price advertising incrementality</a:t>
            </a:r>
            <a:endParaRPr lang="en-US" sz="1200" dirty="0"/>
          </a:p>
        </p:txBody>
      </p:sp>
      <p:sp>
        <p:nvSpPr>
          <p:cNvPr id="9" name="Text 7"/>
          <p:cNvSpPr/>
          <p:nvPr/>
        </p:nvSpPr>
        <p:spPr>
          <a:xfrm>
            <a:off x="914400" y="3355848"/>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Feeds go-to-market: sell-side differentiator, client trust</a:t>
            </a:r>
            <a:endParaRPr lang="en-US" sz="1200" dirty="0"/>
          </a:p>
        </p:txBody>
      </p:sp>
      <p:sp>
        <p:nvSpPr>
          <p:cNvPr id="10" name="Text 8"/>
          <p:cNvSpPr/>
          <p:nvPr/>
        </p:nvSpPr>
        <p:spPr>
          <a:xfrm>
            <a:off x="914400" y="4014216"/>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RCT + synthetic control + calibrated MMM + budget DP</a:t>
            </a:r>
            <a:endParaRPr lang="en-US" sz="1200" dirty="0"/>
          </a:p>
        </p:txBody>
      </p:sp>
      <p:sp>
        <p:nvSpPr>
          <p:cNvPr id="11" name="Text 9"/>
          <p:cNvSpPr/>
          <p:nvPr/>
        </p:nvSpPr>
        <p:spPr>
          <a:xfrm>
            <a:off x="914400" y="5440680"/>
            <a:ext cx="4480560" cy="502920"/>
          </a:xfrm>
          <a:prstGeom prst="rect">
            <a:avLst/>
          </a:prstGeom>
          <a:noFill/>
          <a:ln/>
        </p:spPr>
        <p:txBody>
          <a:bodyPr wrap="square" rtlCol="0" anchor="ctr"/>
          <a:lstStyle/>
          <a:p>
            <a:pPr indent="0" marL="0">
              <a:lnSpc>
                <a:spcPts val="1300"/>
              </a:lnSpc>
              <a:buNone/>
            </a:pPr>
            <a:r>
              <a:rPr lang="en-US" sz="1000" i="1" dirty="0">
                <a:solidFill>
                  <a:srgbClr val="CADCFC"/>
                </a:solidFill>
                <a:latin typeface="Calibri" pitchFamily="34" charset="0"/>
                <a:ea typeface="Calibri" pitchFamily="34" charset="-122"/>
                <a:cs typeface="Calibri" pitchFamily="34" charset="-120"/>
              </a:rPr>
              <a:t>Feeds the venue-economics model as a validated causal-value input (calibrated per-exposure lift), not a separate silo.</a:t>
            </a:r>
            <a:endParaRPr lang="en-US" sz="1000" dirty="0"/>
          </a:p>
        </p:txBody>
      </p:sp>
      <p:sp>
        <p:nvSpPr>
          <p:cNvPr id="12" name="Shape 10"/>
          <p:cNvSpPr/>
          <p:nvPr/>
        </p:nvSpPr>
        <p:spPr>
          <a:xfrm>
            <a:off x="6217920" y="1691640"/>
            <a:ext cx="5212080" cy="4343400"/>
          </a:xfrm>
          <a:prstGeom prst="roundRect">
            <a:avLst>
              <a:gd name="adj" fmla="val 2105"/>
            </a:avLst>
          </a:prstGeom>
          <a:solidFill>
            <a:srgbClr val="E8871E"/>
          </a:solidFill>
          <a:ln/>
        </p:spPr>
      </p:sp>
      <p:sp>
        <p:nvSpPr>
          <p:cNvPr id="13" name="Text 11"/>
          <p:cNvSpPr/>
          <p:nvPr/>
        </p:nvSpPr>
        <p:spPr>
          <a:xfrm>
            <a:off x="658368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Venue network economics</a:t>
            </a:r>
            <a:endParaRPr lang="en-US" sz="1600" dirty="0"/>
          </a:p>
        </p:txBody>
      </p:sp>
      <p:sp>
        <p:nvSpPr>
          <p:cNvPr id="14" name="Text 12"/>
          <p:cNvSpPr/>
          <p:nvPr/>
        </p:nvSpPr>
        <p:spPr>
          <a:xfrm>
            <a:off x="6583680" y="2697480"/>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Predict realized ad-revenue (Q3) and 90-day churn risk (Q4) from characteristics and ops signals</a:t>
            </a:r>
            <a:endParaRPr lang="en-US" sz="1080" dirty="0"/>
          </a:p>
        </p:txBody>
      </p:sp>
      <p:sp>
        <p:nvSpPr>
          <p:cNvPr id="15" name="Text 13"/>
          <p:cNvSpPr/>
          <p:nvPr/>
        </p:nvSpPr>
        <p:spPr>
          <a:xfrm>
            <a:off x="6583680" y="3300984"/>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Flag under-monetized (Q3) and at-risk (Q4) existing venues for sales/ops follow-up</a:t>
            </a:r>
            <a:endParaRPr lang="en-US" sz="1080" dirty="0"/>
          </a:p>
        </p:txBody>
      </p:sp>
      <p:sp>
        <p:nvSpPr>
          <p:cNvPr id="16" name="Text 14"/>
          <p:cNvSpPr/>
          <p:nvPr/>
        </p:nvSpPr>
        <p:spPr>
          <a:xfrm>
            <a:off x="6583680" y="3904488"/>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Rank prospective venues for expansion priority (Q3)</a:t>
            </a:r>
            <a:endParaRPr lang="en-US" sz="1080" dirty="0"/>
          </a:p>
        </p:txBody>
      </p:sp>
      <p:sp>
        <p:nvSpPr>
          <p:cNvPr id="17" name="Text 15"/>
          <p:cNvSpPr/>
          <p:nvPr/>
        </p:nvSpPr>
        <p:spPr>
          <a:xfrm>
            <a:off x="6583680" y="4507992"/>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Combine Q3 revenue + Q4 risk into one value-×-risk priority quadrant</a:t>
            </a:r>
            <a:endParaRPr lang="en-US" sz="1080" dirty="0"/>
          </a:p>
        </p:txBody>
      </p:sp>
      <p:sp>
        <p:nvSpPr>
          <p:cNvPr id="18" name="Text 16"/>
          <p:cNvSpPr/>
          <p:nvPr/>
        </p:nvSpPr>
        <p:spPr>
          <a:xfrm>
            <a:off x="6583680" y="5111496"/>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GBT regressor + classifier, honest out-of-fold evaluation throughout</a:t>
            </a:r>
            <a:endParaRPr lang="en-US" sz="1080" dirty="0"/>
          </a:p>
        </p:txBody>
      </p:sp>
      <p:sp>
        <p:nvSpPr>
          <p:cNvPr id="19" name="Text 17"/>
          <p:cNvSpPr/>
          <p:nvPr/>
        </p:nvSpPr>
        <p:spPr>
          <a:xfrm>
            <a:off x="548640" y="6263640"/>
            <a:ext cx="10972800" cy="457200"/>
          </a:xfrm>
          <a:prstGeom prst="rect">
            <a:avLst/>
          </a:prstGeom>
          <a:noFill/>
          <a:ln/>
        </p:spPr>
        <p:txBody>
          <a:bodyPr wrap="square" rtlCol="0" anchor="ctr"/>
          <a:lstStyle/>
          <a:p>
            <a:pPr indent="0" marL="0">
              <a:buNone/>
            </a:pPr>
            <a:r>
              <a:rPr lang="en-US" sz="1150" i="1" dirty="0">
                <a:solidFill>
                  <a:srgbClr val="CADCFC"/>
                </a:solidFill>
                <a:latin typeface="Calibri" pitchFamily="34" charset="0"/>
                <a:ea typeface="Calibri" pitchFamily="34" charset="-122"/>
                <a:cs typeface="Calibri" pitchFamily="34" charset="-120"/>
              </a:rPr>
              <a:t>“Smarter on both sides of the business” — the venue-side model shares its data foundation and causal-value input with the advertising side, rather than being a disconnected second project. Results on the next slide.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ad-revenue,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2C7A57"/>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Step 5 of 6 · Answers Q3</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Gradient-boosted trees on observable venue characteristics + the calibrated per-exposure lift as a feature.</a:t>
            </a:r>
            <a:endParaRPr lang="en-US" sz="125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0.84</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R²</a:t>
            </a:r>
            <a:endParaRPr lang="en-US" sz="95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22.1%</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MAPE</a:t>
            </a:r>
            <a:endParaRPr lang="en-US" sz="95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$45</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MAE</a:t>
            </a:r>
            <a:endParaRPr lang="en-US" sz="95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20</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Venues flagged</a:t>
            </a:r>
            <a:endParaRPr lang="en-US" sz="95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under-monetized venues (of 20 flagged)</a:t>
            </a:r>
            <a:endParaRPr lang="en-US" sz="1200" dirty="0"/>
          </a:p>
        </p:txBody>
      </p:sp>
      <p:sp>
        <p:nvSpPr>
          <p:cNvPr id="20" name="Text 17"/>
          <p:cNvSpPr/>
          <p:nvPr/>
        </p:nvSpPr>
        <p:spPr>
          <a:xfrm>
            <a:off x="6263640" y="3209544"/>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#85 (Restaurants)</a:t>
            </a:r>
            <a:endParaRPr lang="en-US" sz="1000" dirty="0"/>
          </a:p>
        </p:txBody>
      </p:sp>
      <p:sp>
        <p:nvSpPr>
          <p:cNvPr id="21" name="Text 18"/>
          <p:cNvSpPr/>
          <p:nvPr/>
        </p:nvSpPr>
        <p:spPr>
          <a:xfrm>
            <a:off x="9966960" y="3209544"/>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-62%</a:t>
            </a:r>
            <a:endParaRPr lang="en-US" sz="1000" dirty="0"/>
          </a:p>
        </p:txBody>
      </p:sp>
      <p:sp>
        <p:nvSpPr>
          <p:cNvPr id="22" name="Text 19"/>
          <p:cNvSpPr/>
          <p:nvPr/>
        </p:nvSpPr>
        <p:spPr>
          <a:xfrm>
            <a:off x="6263640" y="3502152"/>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#309 (Waiting Rooms)</a:t>
            </a:r>
            <a:endParaRPr lang="en-US" sz="1000" dirty="0"/>
          </a:p>
        </p:txBody>
      </p:sp>
      <p:sp>
        <p:nvSpPr>
          <p:cNvPr id="23" name="Text 20"/>
          <p:cNvSpPr/>
          <p:nvPr/>
        </p:nvSpPr>
        <p:spPr>
          <a:xfrm>
            <a:off x="9966960" y="3502152"/>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4" name="Text 21"/>
          <p:cNvSpPr/>
          <p:nvPr/>
        </p:nvSpPr>
        <p:spPr>
          <a:xfrm>
            <a:off x="6263640" y="3794760"/>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#53 (Restaurants)</a:t>
            </a:r>
            <a:endParaRPr lang="en-US" sz="1000" dirty="0"/>
          </a:p>
        </p:txBody>
      </p:sp>
      <p:sp>
        <p:nvSpPr>
          <p:cNvPr id="25" name="Text 22"/>
          <p:cNvSpPr/>
          <p:nvPr/>
        </p:nvSpPr>
        <p:spPr>
          <a:xfrm>
            <a:off x="9966960" y="3794760"/>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6" name="Text 23"/>
          <p:cNvSpPr/>
          <p:nvPr/>
        </p:nvSpPr>
        <p:spPr>
          <a:xfrm>
            <a:off x="6263640" y="4087368"/>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#247 (Bars)</a:t>
            </a:r>
            <a:endParaRPr lang="en-US" sz="1000" dirty="0"/>
          </a:p>
        </p:txBody>
      </p:sp>
      <p:sp>
        <p:nvSpPr>
          <p:cNvPr id="27" name="Text 24"/>
          <p:cNvSpPr/>
          <p:nvPr/>
        </p:nvSpPr>
        <p:spPr>
          <a:xfrm>
            <a:off x="9966960" y="4087368"/>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8" name="Text 25"/>
          <p:cNvSpPr/>
          <p:nvPr/>
        </p:nvSpPr>
        <p:spPr>
          <a:xfrm>
            <a:off x="6263640" y="4562856"/>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prospect venues (expansion priority)</a:t>
            </a:r>
            <a:endParaRPr lang="en-US" sz="1200" dirty="0"/>
          </a:p>
        </p:txBody>
      </p:sp>
      <p:sp>
        <p:nvSpPr>
          <p:cNvPr id="29" name="Text 26"/>
          <p:cNvSpPr/>
          <p:nvPr/>
        </p:nvSpPr>
        <p:spPr>
          <a:xfrm>
            <a:off x="6263640" y="4892040"/>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P0018 — Bars (existing market)</a:t>
            </a:r>
            <a:endParaRPr lang="en-US" sz="1000" dirty="0"/>
          </a:p>
        </p:txBody>
      </p:sp>
      <p:sp>
        <p:nvSpPr>
          <p:cNvPr id="30" name="Text 27"/>
          <p:cNvSpPr/>
          <p:nvPr/>
        </p:nvSpPr>
        <p:spPr>
          <a:xfrm>
            <a:off x="10195560" y="4892040"/>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$684</a:t>
            </a:r>
            <a:endParaRPr lang="en-US" sz="1000" dirty="0"/>
          </a:p>
        </p:txBody>
      </p:sp>
      <p:sp>
        <p:nvSpPr>
          <p:cNvPr id="31" name="Text 28"/>
          <p:cNvSpPr/>
          <p:nvPr/>
        </p:nvSpPr>
        <p:spPr>
          <a:xfrm>
            <a:off x="6263640" y="5184648"/>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P0055 — Restaurants (existing market)</a:t>
            </a:r>
            <a:endParaRPr lang="en-US" sz="1000" dirty="0"/>
          </a:p>
        </p:txBody>
      </p:sp>
      <p:sp>
        <p:nvSpPr>
          <p:cNvPr id="32" name="Text 29"/>
          <p:cNvSpPr/>
          <p:nvPr/>
        </p:nvSpPr>
        <p:spPr>
          <a:xfrm>
            <a:off x="10195560" y="5184648"/>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$524</a:t>
            </a:r>
            <a:endParaRPr lang="en-US" sz="1000" dirty="0"/>
          </a:p>
        </p:txBody>
      </p:sp>
      <p:sp>
        <p:nvSpPr>
          <p:cNvPr id="33" name="Text 30"/>
          <p:cNvSpPr/>
          <p:nvPr/>
        </p:nvSpPr>
        <p:spPr>
          <a:xfrm>
            <a:off x="6263640" y="5477256"/>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P0000 — Bars (new market)</a:t>
            </a:r>
            <a:endParaRPr lang="en-US" sz="1000" dirty="0"/>
          </a:p>
        </p:txBody>
      </p:sp>
      <p:sp>
        <p:nvSpPr>
          <p:cNvPr id="34" name="Text 31"/>
          <p:cNvSpPr/>
          <p:nvPr/>
        </p:nvSpPr>
        <p:spPr>
          <a:xfrm>
            <a:off x="10195560" y="5477256"/>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$500</a:t>
            </a:r>
            <a:endParaRPr lang="en-US" sz="1000" dirty="0"/>
          </a:p>
        </p:txBody>
      </p:sp>
      <p:sp>
        <p:nvSpPr>
          <p:cNvPr id="35" name="Text 32"/>
          <p:cNvSpPr/>
          <p:nvPr/>
        </p:nvSpPr>
        <p:spPr>
          <a:xfrm>
            <a:off x="6263640" y="5769864"/>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P0001 — Bars (new market)</a:t>
            </a:r>
            <a:endParaRPr lang="en-US" sz="1000" dirty="0"/>
          </a:p>
        </p:txBody>
      </p:sp>
      <p:sp>
        <p:nvSpPr>
          <p:cNvPr id="36" name="Text 33"/>
          <p:cNvSpPr/>
          <p:nvPr/>
        </p:nvSpPr>
        <p:spPr>
          <a:xfrm>
            <a:off x="10195560" y="5769864"/>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$496</a:t>
            </a:r>
            <a:endParaRPr lang="en-US" sz="1000" dirty="0"/>
          </a:p>
        </p:txBody>
      </p:sp>
      <p:sp>
        <p:nvSpPr>
          <p:cNvPr id="37" name="Text 34"/>
          <p:cNvSpPr/>
          <p:nvPr/>
        </p:nvSpPr>
        <p:spPr>
          <a:xfrm>
            <a:off x="548640" y="6080760"/>
            <a:ext cx="11064240" cy="411480"/>
          </a:xfrm>
          <a:prstGeom prst="rect">
            <a:avLst/>
          </a:prstGeom>
          <a:noFill/>
          <a:ln/>
        </p:spPr>
        <p:txBody>
          <a:bodyPr wrap="square" rtlCol="0" anchor="ctr"/>
          <a:lstStyle/>
          <a:p>
            <a:pPr indent="0" marL="0">
              <a:lnSpc>
                <a:spcPts val="1200"/>
              </a:lnSpc>
              <a:buNone/>
            </a:pPr>
            <a:r>
              <a:rPr lang="en-US" sz="1000" i="1" dirty="0">
                <a:solidFill>
                  <a:srgbClr val="5B6178"/>
                </a:solidFill>
                <a:latin typeface="Calibri" pitchFamily="34" charset="0"/>
                <a:ea typeface="Calibri" pitchFamily="34" charset="-122"/>
                <a:cs typeface="Calibri" pitchFamily="34" charset="-120"/>
              </a:rPr>
              <a:t>Flags come from 5-fold out-of-fold predictions, never a model scoring the venue it was trained on. The calibrated-lift feature carries near-zero importance — honest, since it's constant within venue_type once venue_type itself is a feature.</a:t>
            </a:r>
            <a:endParaRPr lang="en-US" sz="1000" dirty="0"/>
          </a:p>
        </p:txBody>
      </p:sp>
      <p:sp>
        <p:nvSpPr>
          <p:cNvPr id="38" name="Text 35"/>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economics</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churn risk,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8E3B60"/>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Step 6 of 6 · Answers Q4</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Gradient-boosted classifier on ops-visible signals (engagement, uptime, complaints, competitor outreach) — the other half of "what makes a venue valuable and what puts it at risk."</a:t>
            </a:r>
            <a:endParaRPr lang="en-US" sz="120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0.65</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AUC</a:t>
            </a:r>
            <a:endParaRPr lang="en-US" sz="90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0.27</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PR-AUC</a:t>
            </a:r>
            <a:endParaRPr lang="en-US" sz="90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0.13</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Brier score</a:t>
            </a:r>
            <a:endParaRPr lang="en-US" sz="90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20</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Venues flagged</a:t>
            </a:r>
            <a:endParaRPr lang="en-US" sz="90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56032"/>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at-risk venues (of 20 flagged, by OOF risk)</a:t>
            </a:r>
            <a:endParaRPr lang="en-US" sz="1200" dirty="0"/>
          </a:p>
        </p:txBody>
      </p:sp>
      <p:sp>
        <p:nvSpPr>
          <p:cNvPr id="20" name="Text 17"/>
          <p:cNvSpPr/>
          <p:nvPr/>
        </p:nvSpPr>
        <p:spPr>
          <a:xfrm>
            <a:off x="6263640" y="3172968"/>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#281 (Bars)</a:t>
            </a:r>
            <a:endParaRPr lang="en-US" sz="1000" dirty="0"/>
          </a:p>
        </p:txBody>
      </p:sp>
      <p:sp>
        <p:nvSpPr>
          <p:cNvPr id="21" name="Text 18"/>
          <p:cNvSpPr/>
          <p:nvPr/>
        </p:nvSpPr>
        <p:spPr>
          <a:xfrm>
            <a:off x="10241280" y="3172968"/>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2" name="Text 19"/>
          <p:cNvSpPr/>
          <p:nvPr/>
        </p:nvSpPr>
        <p:spPr>
          <a:xfrm>
            <a:off x="6263640" y="3374136"/>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3" name="Text 20"/>
          <p:cNvSpPr/>
          <p:nvPr/>
        </p:nvSpPr>
        <p:spPr>
          <a:xfrm>
            <a:off x="6263640" y="3593592"/>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#200 (Bars)</a:t>
            </a:r>
            <a:endParaRPr lang="en-US" sz="1000" dirty="0"/>
          </a:p>
        </p:txBody>
      </p:sp>
      <p:sp>
        <p:nvSpPr>
          <p:cNvPr id="24" name="Text 21"/>
          <p:cNvSpPr/>
          <p:nvPr/>
        </p:nvSpPr>
        <p:spPr>
          <a:xfrm>
            <a:off x="10241280" y="3593592"/>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55%</a:t>
            </a:r>
            <a:endParaRPr lang="en-US" sz="1000" dirty="0"/>
          </a:p>
        </p:txBody>
      </p:sp>
      <p:sp>
        <p:nvSpPr>
          <p:cNvPr id="25" name="Text 22"/>
          <p:cNvSpPr/>
          <p:nvPr/>
        </p:nvSpPr>
        <p:spPr>
          <a:xfrm>
            <a:off x="6263640" y="3794760"/>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6" name="Text 23"/>
          <p:cNvSpPr/>
          <p:nvPr/>
        </p:nvSpPr>
        <p:spPr>
          <a:xfrm>
            <a:off x="6263640" y="4014216"/>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#12 (Restaurants)</a:t>
            </a:r>
            <a:endParaRPr lang="en-US" sz="1000" dirty="0"/>
          </a:p>
        </p:txBody>
      </p:sp>
      <p:sp>
        <p:nvSpPr>
          <p:cNvPr id="27" name="Text 24"/>
          <p:cNvSpPr/>
          <p:nvPr/>
        </p:nvSpPr>
        <p:spPr>
          <a:xfrm>
            <a:off x="10241280" y="4014216"/>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52%</a:t>
            </a:r>
            <a:endParaRPr lang="en-US" sz="1000" dirty="0"/>
          </a:p>
        </p:txBody>
      </p:sp>
      <p:sp>
        <p:nvSpPr>
          <p:cNvPr id="28" name="Text 25"/>
          <p:cNvSpPr/>
          <p:nvPr/>
        </p:nvSpPr>
        <p:spPr>
          <a:xfrm>
            <a:off x="6263640" y="4215384"/>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uptime issue → dispatch technical support</a:t>
            </a:r>
            <a:endParaRPr lang="en-US" sz="900" dirty="0"/>
          </a:p>
        </p:txBody>
      </p:sp>
      <p:sp>
        <p:nvSpPr>
          <p:cNvPr id="29" name="Text 26"/>
          <p:cNvSpPr/>
          <p:nvPr/>
        </p:nvSpPr>
        <p:spPr>
          <a:xfrm>
            <a:off x="6263640" y="4526280"/>
            <a:ext cx="5394960" cy="237744"/>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Priority quadrant (Q3 revenue × Q4 risk)</a:t>
            </a:r>
            <a:endParaRPr lang="en-US" sz="1200" dirty="0"/>
          </a:p>
        </p:txBody>
      </p:sp>
      <p:sp>
        <p:nvSpPr>
          <p:cNvPr id="30" name="Text 27"/>
          <p:cNvSpPr/>
          <p:nvPr/>
        </p:nvSpPr>
        <p:spPr>
          <a:xfrm>
            <a:off x="6263640" y="4800600"/>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Save now (high value, high risk)</a:t>
            </a:r>
            <a:endParaRPr lang="en-US" sz="1000" dirty="0"/>
          </a:p>
        </p:txBody>
      </p:sp>
      <p:sp>
        <p:nvSpPr>
          <p:cNvPr id="31" name="Text 28"/>
          <p:cNvSpPr/>
          <p:nvPr/>
        </p:nvSpPr>
        <p:spPr>
          <a:xfrm>
            <a:off x="10195560" y="4800600"/>
            <a:ext cx="1463040" cy="237744"/>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136</a:t>
            </a:r>
            <a:endParaRPr lang="en-US" sz="1000" dirty="0"/>
          </a:p>
        </p:txBody>
      </p:sp>
      <p:sp>
        <p:nvSpPr>
          <p:cNvPr id="32" name="Text 29"/>
          <p:cNvSpPr/>
          <p:nvPr/>
        </p:nvSpPr>
        <p:spPr>
          <a:xfrm>
            <a:off x="6263640" y="5047488"/>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Monitor (low value, low risk)</a:t>
            </a:r>
            <a:endParaRPr lang="en-US" sz="1000" dirty="0"/>
          </a:p>
        </p:txBody>
      </p:sp>
      <p:sp>
        <p:nvSpPr>
          <p:cNvPr id="33" name="Text 30"/>
          <p:cNvSpPr/>
          <p:nvPr/>
        </p:nvSpPr>
        <p:spPr>
          <a:xfrm>
            <a:off x="10195560" y="5047488"/>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136</a:t>
            </a:r>
            <a:endParaRPr lang="en-US" sz="1000" dirty="0"/>
          </a:p>
        </p:txBody>
      </p:sp>
      <p:sp>
        <p:nvSpPr>
          <p:cNvPr id="34" name="Text 31"/>
          <p:cNvSpPr/>
          <p:nvPr/>
        </p:nvSpPr>
        <p:spPr>
          <a:xfrm>
            <a:off x="6263640" y="5294376"/>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Protect (high value, low risk)</a:t>
            </a:r>
            <a:endParaRPr lang="en-US" sz="1000" dirty="0"/>
          </a:p>
        </p:txBody>
      </p:sp>
      <p:sp>
        <p:nvSpPr>
          <p:cNvPr id="35" name="Text 32"/>
          <p:cNvSpPr/>
          <p:nvPr/>
        </p:nvSpPr>
        <p:spPr>
          <a:xfrm>
            <a:off x="10195560" y="5294376"/>
            <a:ext cx="1463040" cy="237744"/>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64</a:t>
            </a:r>
            <a:endParaRPr lang="en-US" sz="1000" dirty="0"/>
          </a:p>
        </p:txBody>
      </p:sp>
      <p:sp>
        <p:nvSpPr>
          <p:cNvPr id="36" name="Text 33"/>
          <p:cNvSpPr/>
          <p:nvPr/>
        </p:nvSpPr>
        <p:spPr>
          <a:xfrm>
            <a:off x="6263640" y="5541264"/>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Low priority (low value, high risk)</a:t>
            </a:r>
            <a:endParaRPr lang="en-US" sz="1000" dirty="0"/>
          </a:p>
        </p:txBody>
      </p:sp>
      <p:sp>
        <p:nvSpPr>
          <p:cNvPr id="37" name="Text 34"/>
          <p:cNvSpPr/>
          <p:nvPr/>
        </p:nvSpPr>
        <p:spPr>
          <a:xfrm>
            <a:off x="10195560" y="5541264"/>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64</a:t>
            </a:r>
            <a:endParaRPr lang="en-US" sz="1000" dirty="0"/>
          </a:p>
        </p:txBody>
      </p:sp>
      <p:sp>
        <p:nvSpPr>
          <p:cNvPr id="38" name="Text 35"/>
          <p:cNvSpPr/>
          <p:nvPr/>
        </p:nvSpPr>
        <p:spPr>
          <a:xfrm>
            <a:off x="548640" y="6016752"/>
            <a:ext cx="11064240" cy="548640"/>
          </a:xfrm>
          <a:prstGeom prst="rect">
            <a:avLst/>
          </a:prstGeom>
          <a:noFill/>
          <a:ln/>
        </p:spPr>
        <p:txBody>
          <a:bodyPr wrap="square" rtlCol="0" anchor="ctr"/>
          <a:lstStyle/>
          <a:p>
            <a:pPr indent="0" marL="0">
              <a:lnSpc>
                <a:spcPts val="1050"/>
              </a:lnSpc>
              <a:buNone/>
            </a:pPr>
            <a:r>
              <a:rPr lang="en-US" sz="870" i="1" dirty="0">
                <a:solidFill>
                  <a:srgbClr val="5B6178"/>
                </a:solidFill>
                <a:latin typeface="Calibri" pitchFamily="34" charset="0"/>
                <a:ea typeface="Calibri" pitchFamily="34" charset="-122"/>
                <a:cs typeface="Calibri" pitchFamily="34" charset="-120"/>
              </a:rPr>
              <a:t>Flags come from 5-fold OOF predictions; AUC/PR-AUC read modest next to the revenue model's R² because churn is a rarer, noisier event to call than revenue — typical for a churn classifier, not a modeling miss. realized_ad_revenue's importance is a venue_type confound, not a causal driver. Each "Save now" / flagged venue also carries a SHAP top driver (from the fold model that never saw it) mapped to a concrete action — technical dispatch, AM retention call, content review — not a generic "reach out."</a:t>
            </a:r>
            <a:endParaRPr lang="en-US" sz="870" dirty="0"/>
          </a:p>
        </p:txBody>
      </p:sp>
      <p:sp>
        <p:nvSpPr>
          <p:cNvPr id="39" name="Text 3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retention</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40080"/>
            <a:ext cx="9144000" cy="73152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Takeaways</a:t>
            </a:r>
            <a:endParaRPr lang="en-US" sz="3400" dirty="0"/>
          </a:p>
        </p:txBody>
      </p:sp>
      <p:sp>
        <p:nvSpPr>
          <p:cNvPr id="3" name="Shape 1"/>
          <p:cNvSpPr/>
          <p:nvPr/>
        </p:nvSpPr>
        <p:spPr>
          <a:xfrm>
            <a:off x="822960" y="1783080"/>
            <a:ext cx="365760" cy="365760"/>
          </a:xfrm>
          <a:prstGeom prst="ellipse">
            <a:avLst/>
          </a:prstGeom>
          <a:solidFill>
            <a:srgbClr val="E8871E"/>
          </a:solidFill>
          <a:ln/>
        </p:spPr>
      </p:sp>
      <p:sp>
        <p:nvSpPr>
          <p:cNvPr id="4" name="Text 2"/>
          <p:cNvSpPr/>
          <p:nvPr/>
        </p:nvSpPr>
        <p:spPr>
          <a:xfrm>
            <a:off x="822960" y="178308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1</a:t>
            </a:r>
            <a:endParaRPr lang="en-US" sz="1400" dirty="0"/>
          </a:p>
        </p:txBody>
      </p:sp>
      <p:sp>
        <p:nvSpPr>
          <p:cNvPr id="5" name="Text 3"/>
          <p:cNvSpPr/>
          <p:nvPr/>
        </p:nvSpPr>
        <p:spPr>
          <a:xfrm>
            <a:off x="1417320" y="169164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Match the method to the assignment mechanism — RCT where randomization is designed, synthetic control where it isn't, each with its own validation check.</a:t>
            </a:r>
            <a:endParaRPr lang="en-US" sz="1450" dirty="0"/>
          </a:p>
        </p:txBody>
      </p:sp>
      <p:sp>
        <p:nvSpPr>
          <p:cNvPr id="6" name="Shape 4"/>
          <p:cNvSpPr/>
          <p:nvPr/>
        </p:nvSpPr>
        <p:spPr>
          <a:xfrm>
            <a:off x="822960" y="2834640"/>
            <a:ext cx="365760" cy="365760"/>
          </a:xfrm>
          <a:prstGeom prst="ellipse">
            <a:avLst/>
          </a:prstGeom>
          <a:solidFill>
            <a:srgbClr val="E8871E"/>
          </a:solidFill>
          <a:ln/>
        </p:spPr>
      </p:sp>
      <p:sp>
        <p:nvSpPr>
          <p:cNvPr id="7" name="Text 5"/>
          <p:cNvSpPr/>
          <p:nvPr/>
        </p:nvSpPr>
        <p:spPr>
          <a:xfrm>
            <a:off x="822960" y="283464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2</a:t>
            </a:r>
            <a:endParaRPr lang="en-US" sz="1400" dirty="0"/>
          </a:p>
        </p:txBody>
      </p:sp>
      <p:sp>
        <p:nvSpPr>
          <p:cNvPr id="8" name="Text 6"/>
          <p:cNvSpPr/>
          <p:nvPr/>
        </p:nvSpPr>
        <p:spPr>
          <a:xfrm>
            <a:off x="1417320" y="274320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An uncalibrated MMM understated the RCT-calibrated estimate by up to 165% here — experiment calibration isn't optional polish, it's the identification fix.</a:t>
            </a:r>
            <a:endParaRPr lang="en-US" sz="1450" dirty="0"/>
          </a:p>
        </p:txBody>
      </p:sp>
      <p:sp>
        <p:nvSpPr>
          <p:cNvPr id="9" name="Shape 7"/>
          <p:cNvSpPr/>
          <p:nvPr/>
        </p:nvSpPr>
        <p:spPr>
          <a:xfrm>
            <a:off x="822960" y="3886200"/>
            <a:ext cx="365760" cy="365760"/>
          </a:xfrm>
          <a:prstGeom prst="ellipse">
            <a:avLst/>
          </a:prstGeom>
          <a:solidFill>
            <a:srgbClr val="E8871E"/>
          </a:solidFill>
          <a:ln/>
        </p:spPr>
      </p:sp>
      <p:sp>
        <p:nvSpPr>
          <p:cNvPr id="10" name="Text 8"/>
          <p:cNvSpPr/>
          <p:nvPr/>
        </p:nvSpPr>
        <p:spPr>
          <a:xfrm>
            <a:off x="822960" y="388620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3</a:t>
            </a:r>
            <a:endParaRPr lang="en-US" sz="1400" dirty="0"/>
          </a:p>
        </p:txBody>
      </p:sp>
      <p:sp>
        <p:nvSpPr>
          <p:cNvPr id="11" name="Text 9"/>
          <p:cNvSpPr/>
          <p:nvPr/>
        </p:nvSpPr>
        <p:spPr>
          <a:xfrm>
            <a:off x="1417320" y="379476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Optimization needs the right algorithm for the curve's shape — a greedy heuristic silently lost to a naive baseline on non-concave response curves; the exact DP formulation doesn't.</a:t>
            </a:r>
            <a:endParaRPr lang="en-US" sz="1450" dirty="0"/>
          </a:p>
        </p:txBody>
      </p:sp>
      <p:sp>
        <p:nvSpPr>
          <p:cNvPr id="12" name="Shape 10"/>
          <p:cNvSpPr/>
          <p:nvPr/>
        </p:nvSpPr>
        <p:spPr>
          <a:xfrm>
            <a:off x="822960" y="4937760"/>
            <a:ext cx="365760" cy="365760"/>
          </a:xfrm>
          <a:prstGeom prst="ellipse">
            <a:avLst/>
          </a:prstGeom>
          <a:solidFill>
            <a:srgbClr val="E8871E"/>
          </a:solidFill>
          <a:ln/>
        </p:spPr>
      </p:sp>
      <p:sp>
        <p:nvSpPr>
          <p:cNvPr id="13" name="Text 11"/>
          <p:cNvSpPr/>
          <p:nvPr/>
        </p:nvSpPr>
        <p:spPr>
          <a:xfrm>
            <a:off x="822960" y="493776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4</a:t>
            </a:r>
            <a:endParaRPr lang="en-US" sz="1400" dirty="0"/>
          </a:p>
        </p:txBody>
      </p:sp>
      <p:sp>
        <p:nvSpPr>
          <p:cNvPr id="14" name="Text 12"/>
          <p:cNvSpPr/>
          <p:nvPr/>
        </p:nvSpPr>
        <p:spPr>
          <a:xfrm>
            <a:off x="1417320" y="484632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One connected system, not four separate projects: the venue-revenue model reuses the causal pipeline's per-exposure value as an input; the retention model then combines its own churn-risk score with that revenue prediction into one value-×-risk priority quadrant — both models are evaluated honestly out-of-fold, never scored on a venue they were trained on, before either is trusted.</a:t>
            </a:r>
            <a:endParaRPr lang="en-US" sz="1450" dirty="0"/>
          </a:p>
        </p:txBody>
      </p:sp>
      <p:sp>
        <p:nvSpPr>
          <p:cNvPr id="15" name="Text 13"/>
          <p:cNvSpPr/>
          <p:nvPr/>
        </p:nvSpPr>
        <p:spPr>
          <a:xfrm>
            <a:off x="822960" y="6080760"/>
            <a:ext cx="5486400" cy="457200"/>
          </a:xfrm>
          <a:prstGeom prst="rect">
            <a:avLst/>
          </a:prstGeom>
          <a:noFill/>
          <a:ln/>
        </p:spPr>
        <p:txBody>
          <a:bodyPr wrap="square" rtlCol="0" anchor="ctr"/>
          <a:lstStyle/>
          <a:p>
            <a:pPr indent="0" marL="0">
              <a:buNone/>
            </a:pPr>
            <a:r>
              <a:rPr lang="en-US" sz="1600" i="1" dirty="0">
                <a:solidFill>
                  <a:srgbClr val="CADCFC"/>
                </a:solidFill>
                <a:latin typeface="Cambria" pitchFamily="34" charset="0"/>
                <a:ea typeface="Cambria" pitchFamily="34" charset="-122"/>
                <a:cs typeface="Cambria" pitchFamily="34" charset="-120"/>
              </a:rPr>
              <a:t>Thank you</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2026-09-08T13:40:14Z</dcterms:created>
  <dcterms:modified xsi:type="dcterms:W3CDTF">2026-09-08T13:40:14Z</dcterms:modified>
</cp:coreProperties>
</file>