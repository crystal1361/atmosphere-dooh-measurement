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lift (RCT)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16.79</c:v>
                </c:pt>
                <c:pt idx="1">
                  <c:v>10.32</c:v>
                </c:pt>
                <c:pt idx="2">
                  <c:v>17.88</c:v>
                </c:pt>
                <c:pt idx="3">
                  <c:v>7.63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True lift (ground truth)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13.46</c:v>
                </c:pt>
                <c:pt idx="1">
                  <c:v>10.31</c:v>
                </c:pt>
                <c:pt idx="2">
                  <c:v>16.42</c:v>
                </c:pt>
                <c:pt idx="3">
                  <c:v>8.08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Weekly incremental foot traffic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lift (Synthetic Control)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15.46</c:v>
                </c:pt>
                <c:pt idx="1">
                  <c:v>9.92</c:v>
                </c:pt>
                <c:pt idx="2">
                  <c:v>17.96</c:v>
                </c:pt>
                <c:pt idx="3">
                  <c:v>6.53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True lift (ground truth)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12.17</c:v>
                </c:pt>
                <c:pt idx="1">
                  <c:v>9.52</c:v>
                </c:pt>
                <c:pt idx="2">
                  <c:v>15.82</c:v>
                </c:pt>
                <c:pt idx="3">
                  <c:v>7.33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Weekly incremental foot traffic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Naive MMM (uncalibrated)</c:v>
                </c:pt>
              </c:strCache>
            </c:strRef>
          </c:tx>
          <c:spPr>
            <a:solidFill>
              <a:srgbClr val="A9AF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7.97</c:v>
                </c:pt>
                <c:pt idx="1">
                  <c:v>4.93</c:v>
                </c:pt>
                <c:pt idx="2">
                  <c:v>16.25</c:v>
                </c:pt>
                <c:pt idx="3">
                  <c:v>4.09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RCT-calibrated MMM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18.69</c:v>
                </c:pt>
                <c:pt idx="1">
                  <c:v>13.05</c:v>
                </c:pt>
                <c:pt idx="2">
                  <c:v>19.57</c:v>
                </c:pt>
                <c:pt idx="3">
                  <c:v>8.19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True max lift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14</c:v>
                </c:pt>
                <c:pt idx="2">
                  <c:v>22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Max lift at saturation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Allocated weekly budget ($)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26000</c:v>
                </c:pt>
                <c:pt idx="1">
                  <c:v>25500</c:v>
                </c:pt>
                <c:pt idx="2">
                  <c:v>38250</c:v>
                </c:pt>
                <c:pt idx="3">
                  <c:v>10350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65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 TV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DOOH Venue Incrementality &amp;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Media-Mix Measurement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8961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causal measurement framework, calibrated media-mix model, and budget optimizer — built to answer the two questions Atmosphere's advertising business runs 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5989320"/>
            <a:ext cx="457200" cy="45720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5989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technical demo  •  Senior Data Scientist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questions this project answers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9202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202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the campaign actually work?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4480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the TRUE incremental foot traffic caused by ad exposure — net of seasonality, trend, and each venue's own baseline pattern.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sell-side differentiator: measurement Atmosphere's go-to-market team can take to market and clients can trust.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26480" y="155448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0" y="19202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9202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92240" y="269748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should budget be spent?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92240" y="3474720"/>
            <a:ext cx="4480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fixed weekly budget, how should it be split across restaurants, gyms, bars, and waiting rooms — accounting for each venue type's own diminishing-returns curve?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media-planning / pricing question advertisers ask before they commit spend.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framing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Design: one pipeline, confidence flows from experiment to product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geo-holdout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treated/holdout venues. Balance directly verified.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54680" y="297180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520440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EDEFF7"/>
          </a:solidFill>
          <a:ln/>
        </p:spPr>
      </p:sp>
      <p:sp>
        <p:nvSpPr>
          <p:cNvPr id="10" name="Text 8"/>
          <p:cNvSpPr/>
          <p:nvPr/>
        </p:nvSpPr>
        <p:spPr>
          <a:xfrm>
            <a:off x="3703320" y="1965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703320" y="24231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control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703320" y="30632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confidence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03320" y="34290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historical, non-randomized campaigns. Validated with placebo tests.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035040" y="297180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00800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EDEFF7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965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83680" y="24231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MMM, RCT-calibrated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83680" y="30632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+ scale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0" y="34290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Adstock/saturation shape from aggregate data; scale pinned by the RCT.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15400" y="297180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281160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E8871E"/>
          </a:solidFill>
          <a:ln/>
        </p:spPr>
      </p:sp>
      <p:sp>
        <p:nvSpPr>
          <p:cNvPr id="22" name="Text 20"/>
          <p:cNvSpPr/>
          <p:nvPr/>
        </p:nvSpPr>
        <p:spPr>
          <a:xfrm>
            <a:off x="9464040" y="1965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464040" y="24231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allocator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9464040" y="30632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64040" y="34290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Multiple-choice knapsack over calibrated response curves.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502920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shape: a single trusted experimental read (RCT) is expensive to run everywhere, so it's used to calibrate a richer but less-trusted model (MMM) that covers the whole network — and that calibrated model then powers a budget decision.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overview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 with a known, injected ground truth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venue types × 100 venues each, 104 weeks (52 pre-period + 52 campaign)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pool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split treated / holdout within venue_type × geo_cluster × traffic-tier strata for a fixed benchmark campaign. This is a real Atmosphere-designed measurement product, not a historical campaign.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50292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anchor confidence — assignment is verified, not assumed.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5F7FC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Observational pool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29400" y="25603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Advertisers activate venues themselves — non-randomly. Higher-baseline-traffic venues are systematically more likely to be activated (a real selection mechanism), and weekly frequency varies venue-to-venue.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629400" y="50292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naive before/after comparison here is confounded by selection — this is what synthetic control and the MMM have to work around.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geo-holdout — high confidence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784080" y="457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2C7A57"/>
          </a:solidFill>
          <a:ln/>
        </p:spPr>
      </p:sp>
      <p:sp>
        <p:nvSpPr>
          <p:cNvPr id="4" name="Text 2"/>
          <p:cNvSpPr/>
          <p:nvPr/>
        </p:nvSpPr>
        <p:spPr>
          <a:xfrm>
            <a:off x="9784080" y="4572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2/16 balance tests sig.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11887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Venue type      95% CI               p-value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406640" y="15087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Restaurants    [11.1, 22.4]   &lt; 0.001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06640" y="1892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Gyms           [5.2, 15.4]   &lt; 0.001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227685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          [13.3, 22.5]   &lt; 0.001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06640" y="266090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 Rooms  [5.1, 10.2]   &lt; 0.001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3319272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Pre-treatment balance check: only 2 of 16 covariate × venue-type tests were significant at p≤0.05 — in line with what chance alone predicts. Randomization worked as designed, not assumed.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measurement — RCT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control — moderate confidence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historical, non-randomized campaigns — the identifying assumption can't be directly tested the way randomization can, only checked indirectly.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6459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Venue type      Placebo p    Pre-RMSPE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0664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Restaurants    0.160        26.4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500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Gyms           0.050        14.4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06640" y="273405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          0.100        17.8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11810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 Rooms  0.110        8.3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06640" y="3776472"/>
            <a:ext cx="4206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validation checks, since synthetic control has no closed-form standard error: pre-period fit quality (RMSPE — poor fits are flagged and excluded from the aggregate estimate) and an in-space placebo test on every donor venue.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measurement — Synthetic Control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MMM: an uncalibrated model would have underpriced results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 + saturation shape comes from the aggregate weekly series; scale is pinned by the RCT's high-confidence estimate.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772400" y="17373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adjustment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772400" y="21945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509760" y="21945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+134%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0" y="27889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509760" y="27889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+165%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0" y="33832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509760" y="33832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0" y="39776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Rooms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509760" y="39776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+100%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772400" y="47091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 of 4 venue types, the naive observational fit understated true incremental lift by 100–165% — the kind of gap real MMM practice cites as its core identification problem, and exactly why the RCT anchor matters.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Media-mix model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allocator: exact DP, not a greedy walk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DF1E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344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4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Hill/S-shaped response curve is CONVEX before its inflection point — a greedy “spend the next dollar on whichever venue type currently looks best” heuristic isn't guaranteed optimal there. An earlier greedy version of this allocator actually underperformed a naive equal-split baseline; the DP formulation below has no concavity requirement and is guaranteed to find the grid-optimal allocation.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286000"/>
          <a:ext cx="66751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498080" y="2331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$100,000 weekly budget example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0" y="2788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$20,000 budget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32688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+48.6%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0" y="317296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49808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$50,000 budget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26880" y="3794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+11.1%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498080" y="422452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498080" y="4892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budget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498080" y="52760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498080" y="59893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optimizer's edge is largest when budget is scarce — exactly when allocation decisions matter most.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Productization — budget allocator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Next: the other side of the business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(built) answers the advertising side. Phase 2 (designed) answers the venue-network side.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4343400"/>
          </a:xfrm>
          <a:prstGeom prst="roundRect">
            <a:avLst>
              <a:gd name="adj" fmla="val 2105"/>
            </a:avLst>
          </a:prstGeom>
          <a:solidFill>
            <a:srgbClr val="2A348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— Built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Prove and price advertising incrementality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Feeds go-to-market: sell-side differentiator, client trust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397764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RCT + synthetic control + calibrated MMM + budget DP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54406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Phase 2 as a validated causal-value input, not a separate silo.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212080" cy="4343400"/>
          </a:xfrm>
          <a:prstGeom prst="roundRect">
            <a:avLst>
              <a:gd name="adj" fmla="val 2105"/>
            </a:avLst>
          </a:prstGeom>
          <a:solidFill>
            <a:srgbClr val="E8871E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9659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— Designed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83680" y="260604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Predict a venue's intrinsic ad-revenue potential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83680" y="329184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Prioritize prospective venues for acquisition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83680" y="397764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 under-monetized existing venues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83680" y="466344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GBM model, calibrated, with honest out-of-sample evaluation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“Smarter on both sides of the business” — the venue-side model shares its data foundation and its causal-value inputs with Phase 1, rather than being a disconnected second project.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26464"/>
            <a:ext cx="109728" cy="96012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7160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3794760" y="137160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are synthetic, with a known injected ground-truth effect — used specifically to validate that each method recovers it before trusting it conceptually. Not a claim about any real company's data.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633472"/>
            <a:ext cx="109728" cy="96012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578608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Media-effectiveness figures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794760" y="2578608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Dwell time, screen count, and similar descriptive parameters shown are illustrative demo values, not researched real industry benchmarks. In production: Nielsen OOH, DSP data (e.g. Vistar), or Atmosphere's own play logs.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40480"/>
            <a:ext cx="109728" cy="96012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785616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Multi-touch attribution — deliberately not built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794760" y="3785616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Atmosphere's ambient-screen model has no individual-level, cross-venue touchpoint log by default. Building MTA would require purchased mobile location/device-matching data — a real but non-default assumption, so it's scoped out rather than forced.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5047488"/>
            <a:ext cx="109728" cy="96012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992624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assumptions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794760" y="4992624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$/frequency-unit figures behind the budget allocator are illustrative, editable placeholders — in production these come from Atmosphere's own rate card by venue type and daypart.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78308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17320" y="1691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method to the assignment mechanism — RCT where randomization is designed, synthetic control where it isn't, each with its own validation check.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83464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27432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uncalibrated MMM understated true incremental value by up to 165% here — experiment calibration isn't optional polish, it's the identification fix.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3794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needs the right algorithm for the curve's shape — a greedy heuristic silently lost to a naive baseline on non-concave response curves; the exact DP formulation doesn't.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493776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48463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honestly: MTA excluded and why, illustrative parameters flagged, Phase 2 (venue economics) designed and ready to build.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2960" y="60807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2026-09-02T21:11:38Z</dcterms:created>
  <dcterms:modified xsi:type="dcterms:W3CDTF">2026-09-02T21:11:38Z</dcterms:modified>
</cp:coreProperties>
</file>