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The next dollar's return rises, THEN falls — not monotonic</a:t>
            </a:r>
          </a:p>
        </c:rich>
      </c:tx>
      <c:layout/>
      <c:overlay val="0"/>
    </c:title>
    <c:autoTitleDeleted val="0"/>
    <c:plotArea>
      <c:layout/>
      <c:lineChart>
        <c:varyColors val="0"/>
        <c:ser>
          <c:idx val="0"/>
          <c:order val="0"/>
          <c:tx>
            <c:strRef>
              <c:f>Sheet1!$B$1</c:f>
              <c:strCache>
                <c:ptCount val="1"/>
                <c:pt idx="0">
                  <c:v>Restaurant: incremental lift per $1,000 spent</c:v>
                </c:pt>
              </c:strCache>
            </c:strRef>
          </c:tx>
          <c:spPr>
            <a:solidFill>
              <a:srgbClr val="1E2761"/>
            </a:solidFill>
            <a:ln w="31750" cap="flat">
              <a:solidFill>
                <a:srgbClr val="1E2761"/>
              </a:solidFill>
              <a:prstDash val="solid"/>
              <a:round/>
            </a:ln>
            <a:effectLst/>
          </c:spPr>
          <c:invertIfNegative val="0"/>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Sheet1!$A$2:$A$7</c:f>
              <c:multiLvlStrCache>
                <c:ptCount val="6"/>
                <c:lvl>
                  <c:pt idx="0">
                    <c:v>.25</c:v>
                  </c:pt>
                  <c:pt idx="1">
                    <c:v>.5</c:v>
                  </c:pt>
                  <c:pt idx="2">
                    <c:v>.75</c:v>
                  </c:pt>
                  <c:pt idx="3">
                    <c:v>1.0</c:v>
                  </c:pt>
                  <c:pt idx="4">
                    <c:v>1.5</c:v>
                  </c:pt>
                  <c:pt idx="5">
                    <c:v>2.0</c:v>
                  </c:pt>
                </c:lvl>
              </c:multiLvlStrCache>
            </c:multiLvlStrRef>
          </c:cat>
          <c:val>
            <c:numRef>
              <c:f>Sheet1!$B$2:$B$7</c:f>
              <c:numCache>
                <c:formatCode>General</c:formatCode>
                <c:ptCount val="6"/>
                <c:pt idx="0">
                  <c:v>5</c:v>
                </c:pt>
                <c:pt idx="1">
                  <c:v>34.2</c:v>
                </c:pt>
                <c:pt idx="2">
                  <c:v>86.9</c:v>
                </c:pt>
                <c:pt idx="3">
                  <c:v>147.5</c:v>
                </c:pt>
                <c:pt idx="4">
                  <c:v>205.8</c:v>
                </c:pt>
                <c:pt idx="5">
                  <c:v>198</c:v>
                </c:pt>
              </c:numCache>
            </c:numRef>
          </c:val>
          <c:smooth val="0"/>
        </c:ser>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000000"/>
                    </a:solidFill>
                    <a:latin typeface="Arial"/>
                  </a:defRPr>
                </a:pPr>
                <a:r>
                  <a:rPr sz="950" b="0" i="0" u="none" strike="noStrike">
                    <a:solidFill>
                      <a:srgbClr val="000000"/>
                    </a:solidFill>
                    <a:latin typeface="Arial"/>
                  </a:rPr>
                  <a:t>Frequency (plays/venue/wk)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Incremental lift per $1,000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E2761"/>
                </a:solidFill>
                <a:latin typeface="Arial"/>
              </a:defRPr>
            </a:pPr>
            <a:r>
              <a:rPr sz="1050" b="0" i="0" u="none" strike="noStrike">
                <a:solidFill>
                  <a:srgbClr val="1E2761"/>
                </a:solidFill>
                <a:latin typeface="Arial"/>
              </a:rPr>
              <a:t>$100,000 weekly budget — DP-optimal allocation</a:t>
            </a:r>
          </a:p>
        </c:rich>
      </c:tx>
      <c:layout/>
      <c:overlay val="0"/>
    </c:title>
    <c:autoTitleDeleted val="0"/>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5486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Simplified for the demo: a real deployment would add more controls (competitor spend, price/promo, macro trend), validate the shape out-of-time rather than on in-sample SSE alone, and often blend the experiment in as a Bayesian prior rather than a hard rescale.</a:t>
            </a:r>
            <a:endParaRPr lang="en-US" sz="85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Worked example: restaurant's β, step by step</a:t>
            </a:r>
            <a:endParaRPr lang="en-US" sz="1050" dirty="0"/>
          </a:p>
        </p:txBody>
      </p:sp>
      <p:sp>
        <p:nvSpPr>
          <p:cNvPr id="20" name="Text 17"/>
          <p:cNvSpPr/>
          <p:nvPr/>
        </p:nvSpPr>
        <p:spPr>
          <a:xfrm>
            <a:off x="7772400" y="3977640"/>
            <a:ext cx="3840480" cy="1188720"/>
          </a:xfrm>
          <a:prstGeom prst="rect">
            <a:avLst/>
          </a:prstGeom>
          <a:noFill/>
          <a:ln/>
        </p:spPr>
        <p:txBody>
          <a:bodyPr wrap="square" rtlCol="0" anchor="ctr"/>
          <a:lstStyle/>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design:      6 plays/wk × 10 wks</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Adstock (decay .7): 6.0→10.2→13.1→…→19.4</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Saturation (half 6, shape 3): .50→.83→.91→…→.97, avg≈0.90</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Naive predicts:  7.97 × 0.90 ≈ 7.2</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measured:   16.79 (real, from Slide 7)</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Calibrated β:   16.79 ÷ 0.90 ≈ 18.7</a:t>
            </a:r>
            <a:endParaRPr lang="en-US" sz="870" dirty="0"/>
          </a:p>
        </p:txBody>
      </p:sp>
      <p:sp>
        <p:nvSpPr>
          <p:cNvPr id="21" name="Text 18"/>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Only β is rescaled — decay/half/shape stay exactly as fit in step ①. calibration_adjustment_pct is just (β_calibrated − β_naive) ÷ β_naive: (18.69 − 7.97) ÷ 7.97 ≈ +134%, the number shown for restaurants above.</a:t>
            </a:r>
            <a:endParaRPr lang="en-US" sz="900" dirty="0"/>
          </a:p>
        </p:txBody>
      </p:sp>
      <p:sp>
        <p:nvSpPr>
          <p:cNvPr id="22" name="Text 1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Why a greedy allocator can lose to equal-split</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motivation · Answers Q2</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400"/>
              </a:lnSpc>
              <a:buNone/>
            </a:pPr>
            <a:r>
              <a:rPr lang="en-US" sz="1200" i="1" dirty="0">
                <a:solidFill>
                  <a:srgbClr val="5B6178"/>
                </a:solidFill>
                <a:latin typeface="Calibri" pitchFamily="34" charset="0"/>
                <a:ea typeface="Calibri" pitchFamily="34" charset="-122"/>
                <a:cs typeface="Calibri" pitchFamily="34" charset="-120"/>
              </a:rPr>
              <a:t>A Hill/S-curve (shape &gt; 1, as fit here) is convex before its inflection point — the next dollar's marginal return isn't monotonically falling, so "chase today's best marginal $" can get stuck.</a:t>
            </a:r>
            <a:endParaRPr lang="en-US" sz="1200" dirty="0"/>
          </a:p>
        </p:txBody>
      </p:sp>
      <p:graphicFrame>
        <p:nvGraphicFramePr>
          <p:cNvPr id="6" name="Chart 0" descr=""/>
          <p:cNvGraphicFramePr/>
          <p:nvPr/>
        </p:nvGraphicFramePr>
        <p:xfrm>
          <a:off x="548640" y="160020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54880"/>
            <a:ext cx="6583680" cy="14173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This real curve (restaurant, from this deck's own calibrated MMM) is convex up to ~freq 1.0–1.5, concave after. At very low frequency every venue type's next dollar buys almost nothing — still in the flat, convex trough — so a rule comparing "which type's next dollar looks best right now" can't see that committing a lump sum to ONE type would pay off later. It only sees today's small, similar-looking numbers.</a:t>
            </a:r>
            <a:endParaRPr lang="en-US" sz="1000" dirty="0"/>
          </a:p>
        </p:txBody>
      </p:sp>
      <p:sp>
        <p:nvSpPr>
          <p:cNvPr id="8" name="Text 5"/>
          <p:cNvSpPr/>
          <p:nvPr/>
        </p:nvSpPr>
        <p:spPr>
          <a:xfrm>
            <a:off x="7406640" y="1600200"/>
            <a:ext cx="4206240" cy="365760"/>
          </a:xfrm>
          <a:prstGeom prst="rect">
            <a:avLst/>
          </a:prstGeom>
          <a:noFill/>
          <a:ln/>
        </p:spPr>
        <p:txBody>
          <a:bodyPr wrap="square" rtlCol="0" anchor="ctr"/>
          <a:lstStyle/>
          <a:p>
            <a:pPr indent="0" marL="0">
              <a:lnSpc>
                <a:spcPts val="1400"/>
              </a:lnSpc>
              <a:buNone/>
            </a:pPr>
            <a:r>
              <a:rPr lang="en-US" sz="1200" b="1" dirty="0">
                <a:solidFill>
                  <a:srgbClr val="1E2761"/>
                </a:solidFill>
                <a:latin typeface="Cambria" pitchFamily="34" charset="0"/>
                <a:ea typeface="Cambria" pitchFamily="34" charset="-122"/>
                <a:cs typeface="Cambria" pitchFamily="34" charset="-120"/>
              </a:rPr>
              <a:t>At freq ≈ .25, every type looks similarly unpromising</a:t>
            </a:r>
            <a:endParaRPr lang="en-US" sz="1200" dirty="0"/>
          </a:p>
        </p:txBody>
      </p:sp>
      <p:sp>
        <p:nvSpPr>
          <p:cNvPr id="9" name="Text 6"/>
          <p:cNvSpPr/>
          <p:nvPr/>
        </p:nvSpPr>
        <p:spPr>
          <a:xfrm>
            <a:off x="7406640" y="2057400"/>
            <a:ext cx="4206240" cy="96012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Venue type      Lift per $1,000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1.4</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Restaurant             5.0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6.1</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Waiting room           8.4</a:t>
            </a:r>
            <a:endParaRPr lang="en-US" sz="950" dirty="0"/>
          </a:p>
        </p:txBody>
      </p:sp>
      <p:sp>
        <p:nvSpPr>
          <p:cNvPr id="10" name="Text 7"/>
          <p:cNvSpPr/>
          <p:nvPr/>
        </p:nvSpPr>
        <p:spPr>
          <a:xfrm>
            <a:off x="7406640" y="3108960"/>
            <a:ext cx="4206240" cy="457200"/>
          </a:xfrm>
          <a:prstGeom prst="rect">
            <a:avLst/>
          </a:prstGeom>
          <a:noFill/>
          <a:ln/>
        </p:spPr>
        <p:txBody>
          <a:bodyPr wrap="square" rtlCol="0" anchor="ctr"/>
          <a:lstStyle/>
          <a:p>
            <a:pPr indent="0" marL="0">
              <a:lnSpc>
                <a:spcPts val="1300"/>
              </a:lnSpc>
              <a:buNone/>
            </a:pPr>
            <a:r>
              <a:rPr lang="en-US" sz="1000" i="1" dirty="0">
                <a:solidFill>
                  <a:srgbClr val="1A1A2E"/>
                </a:solidFill>
                <a:latin typeface="Calibri" pitchFamily="34" charset="0"/>
                <a:ea typeface="Calibri" pitchFamily="34" charset="-122"/>
                <a:cs typeface="Calibri" pitchFamily="34" charset="-120"/>
              </a:rPr>
              <a:t>...but each type's own PEAK (always somewhere around freq 1–2) is 15–30× higher:</a:t>
            </a:r>
            <a:endParaRPr lang="en-US" sz="1000" dirty="0"/>
          </a:p>
        </p:txBody>
      </p:sp>
      <p:sp>
        <p:nvSpPr>
          <p:cNvPr id="11" name="Text 8"/>
          <p:cNvSpPr/>
          <p:nvPr/>
        </p:nvSpPr>
        <p:spPr>
          <a:xfrm>
            <a:off x="7406640" y="3611880"/>
            <a:ext cx="4206240" cy="54864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~124      Restaurant ~206</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~132      Waiting room ~247</a:t>
            </a:r>
            <a:endParaRPr lang="en-US" sz="950" dirty="0"/>
          </a:p>
        </p:txBody>
      </p:sp>
      <p:sp>
        <p:nvSpPr>
          <p:cNvPr id="12" name="Text 9"/>
          <p:cNvSpPr/>
          <p:nvPr/>
        </p:nvSpPr>
        <p:spPr>
          <a:xfrm>
            <a:off x="7406640" y="4251960"/>
            <a:ext cx="4206240" cy="192024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A greedy rule that only ever compares "today's next dollar" has no way to see that peak from here — it can only react to which of these near-tied numbers is currently largest, one tiny step at a time. This is the mechanism that let an earlier greedy version of this allocator underperform naive equal-split at larger budgets — the retired code itself isn't preserved, but this is the exact response-curve shape it was walking.</a:t>
            </a:r>
            <a:endParaRPr lang="en-US" sz="95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 why not greedy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Budget allocator: how the exact DP actually works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No concavity requirement — every discretized spend level is actually evaluated, so by construction it can never do worse than equal-split.</a:t>
            </a:r>
            <a:endParaRPr lang="en-US" sz="1250" dirty="0"/>
          </a:p>
        </p:txBody>
      </p:sp>
      <p:sp>
        <p:nvSpPr>
          <p:cNvPr id="6" name="Text 4"/>
          <p:cNvSpPr/>
          <p:nvPr/>
        </p:nvSpPr>
        <p:spPr>
          <a:xfrm>
            <a:off x="548640" y="1417320"/>
            <a:ext cx="667512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exact DP in four steps (multiple-choice knapsack)</a:t>
            </a:r>
            <a:endParaRPr lang="en-US" sz="1250" dirty="0"/>
          </a:p>
        </p:txBody>
      </p:sp>
      <p:sp>
        <p:nvSpPr>
          <p:cNvPr id="7" name="Text 5"/>
          <p:cNvSpPr/>
          <p:nvPr/>
        </p:nvSpPr>
        <p:spPr>
          <a:xfrm>
            <a:off x="548640" y="1691640"/>
            <a:ext cx="6675120" cy="1874520"/>
          </a:xfrm>
          <a:prstGeom prst="rect">
            <a:avLst/>
          </a:prstGeom>
          <a:noFill/>
          <a:ln/>
        </p:spPr>
        <p:txBody>
          <a:bodyPr wrap="square" rtlCol="0" anchor="ctr"/>
          <a:lstStyle/>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① Discretize: for each venue_type, sweep frequency 0→14/venue in 0.25 steps (57 points). At each point, read network lift = per-venue lift (from the calibrated MMM response curve) × venue count, and $ spend = freq × cost-per-frequency-unit × venue count.</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② Snap every candidate's spend onto a shared $250 grid, so all venue types' options line up on one budget axis — keeping only the highest-lift option at each grid point per type. This is that type's "menu."</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③ Process venue types one at a time: for every $ grid point b, try each of that type's menu options with spend ≤ b, add it to whatever the types-already-processed achieved at (b − spend), and keep whichever combination gives the highest total lift — every option is actually tried, not estimated from a local slope.</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④ Backtrack from the full-budget column to read off which frequency was actually chosen for each venue type.</a:t>
            </a:r>
            <a:endParaRPr lang="en-US" sz="930" dirty="0"/>
          </a:p>
        </p:txBody>
      </p:sp>
      <p:sp>
        <p:nvSpPr>
          <p:cNvPr id="8" name="Text 6"/>
          <p:cNvSpPr/>
          <p:nvPr/>
        </p:nvSpPr>
        <p:spPr>
          <a:xfrm>
            <a:off x="548640" y="3657600"/>
            <a:ext cx="6675120" cy="457200"/>
          </a:xfrm>
          <a:prstGeom prst="rect">
            <a:avLst/>
          </a:prstGeom>
          <a:noFill/>
          <a:ln/>
        </p:spPr>
        <p:txBody>
          <a:bodyPr wrap="square" rtlCol="0" anchor="ctr"/>
          <a:lstStyle/>
          <a:p>
            <a:pPr indent="0" marL="0">
              <a:lnSpc>
                <a:spcPts val="1100"/>
              </a:lnSpc>
              <a:buNone/>
            </a:pPr>
            <a:r>
              <a:rPr lang="en-US" sz="870" i="1" dirty="0">
                <a:solidFill>
                  <a:srgbClr val="5B6178"/>
                </a:solidFill>
                <a:latin typeface="Calibri" pitchFamily="34" charset="0"/>
                <a:ea typeface="Calibri" pitchFamily="34" charset="-122"/>
                <a:cs typeface="Calibri" pitchFamily="34" charset="-120"/>
              </a:rPr>
              <a:t>Grid granularity ($250 budget steps, 0.25 frequency steps) trades a little precision for tractability — the same principle real deployments use, just at production-scale resolution.</a:t>
            </a:r>
            <a:endParaRPr lang="en-US" sz="870" dirty="0"/>
          </a:p>
        </p:txBody>
      </p:sp>
      <p:graphicFrame>
        <p:nvGraphicFramePr>
          <p:cNvPr id="9" name="Chart 0" descr=""/>
          <p:cNvGraphicFramePr/>
          <p:nvPr/>
        </p:nvGraphicFramePr>
        <p:xfrm>
          <a:off x="548640" y="420624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7498080" y="1417320"/>
            <a:ext cx="4114800" cy="32004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Gain vs. naive equal-split</a:t>
            </a:r>
            <a:endParaRPr lang="en-US" sz="1300" dirty="0"/>
          </a:p>
        </p:txBody>
      </p:sp>
      <p:sp>
        <p:nvSpPr>
          <p:cNvPr id="11" name="Text 8"/>
          <p:cNvSpPr/>
          <p:nvPr/>
        </p:nvSpPr>
        <p:spPr>
          <a:xfrm>
            <a:off x="7498080" y="18745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2" name="Text 9"/>
          <p:cNvSpPr/>
          <p:nvPr/>
        </p:nvSpPr>
        <p:spPr>
          <a:xfrm>
            <a:off x="9326880" y="18288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3" name="Text 10"/>
          <p:cNvSpPr/>
          <p:nvPr/>
        </p:nvSpPr>
        <p:spPr>
          <a:xfrm>
            <a:off x="7498080" y="22585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4" name="Text 11"/>
          <p:cNvSpPr/>
          <p:nvPr/>
        </p:nvSpPr>
        <p:spPr>
          <a:xfrm>
            <a:off x="7498080" y="29260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5" name="Text 12"/>
          <p:cNvSpPr/>
          <p:nvPr/>
        </p:nvSpPr>
        <p:spPr>
          <a:xfrm>
            <a:off x="9326880" y="28803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6" name="Text 13"/>
          <p:cNvSpPr/>
          <p:nvPr/>
        </p:nvSpPr>
        <p:spPr>
          <a:xfrm>
            <a:off x="7498080" y="33101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7" name="Text 14"/>
          <p:cNvSpPr/>
          <p:nvPr/>
        </p:nvSpPr>
        <p:spPr>
          <a:xfrm>
            <a:off x="7498080" y="39776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8" name="Text 15"/>
          <p:cNvSpPr/>
          <p:nvPr/>
        </p:nvSpPr>
        <p:spPr>
          <a:xfrm>
            <a:off x="9326880" y="39319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9" name="Text 16"/>
          <p:cNvSpPr/>
          <p:nvPr/>
        </p:nvSpPr>
        <p:spPr>
          <a:xfrm>
            <a:off x="7498080" y="43616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20" name="Text 17"/>
          <p:cNvSpPr/>
          <p:nvPr/>
        </p:nvSpPr>
        <p:spPr>
          <a:xfrm>
            <a:off x="7498080" y="5074920"/>
            <a:ext cx="4206240" cy="8229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 (Previous slide: why a greedy walk can lose this edge entirely.)</a:t>
            </a:r>
            <a:endParaRPr lang="en-US" sz="1050" dirty="0"/>
          </a:p>
        </p:txBody>
      </p:sp>
      <p:sp>
        <p:nvSpPr>
          <p:cNvPr id="21" name="Text 1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Venue revenue model: what feeds in, and why this model</a:t>
            </a:r>
            <a:endParaRPr lang="en-US" sz="23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setup · Answers Q3</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Can this venue's own characteristics + a validated advertising effect predict what it actually earns — and surface who's under-monetized or high-potential?</a:t>
            </a:r>
            <a:endParaRPr lang="en-US" sz="1250" dirty="0"/>
          </a:p>
        </p:txBody>
      </p:sp>
      <p:sp>
        <p:nvSpPr>
          <p:cNvPr id="6" name="Text 4"/>
          <p:cNvSpPr/>
          <p:nvPr/>
        </p:nvSpPr>
        <p:spPr>
          <a:xfrm>
            <a:off x="548640" y="1645920"/>
            <a:ext cx="5394960" cy="50292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Model: HistGradientBoostingRegressor (sklearn)</a:t>
            </a:r>
            <a:endParaRPr lang="en-US" sz="1350" dirty="0"/>
          </a:p>
        </p:txBody>
      </p:sp>
      <p:sp>
        <p:nvSpPr>
          <p:cNvPr id="7" name="Text 5"/>
          <p:cNvSpPr/>
          <p:nvPr/>
        </p:nvSpPr>
        <p:spPr>
          <a:xfrm>
            <a:off x="548640" y="2194560"/>
            <a:ext cx="539496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Chosen because it handles venue_type / geo_cluster / traffic_tier as native categorical splits. geo_cluster alone has 20+ levels — one-hot encoding that would blow the feature space up and dilute each split's signal. categorical_features="from_dtype" avoids that entirely, no preprocessing needed.</a:t>
            </a:r>
            <a:endParaRPr lang="en-US" sz="1050" dirty="0"/>
          </a:p>
        </p:txBody>
      </p:sp>
      <p:sp>
        <p:nvSpPr>
          <p:cNvPr id="8" name="Text 6"/>
          <p:cNvSpPr/>
          <p:nvPr/>
        </p:nvSpPr>
        <p:spPr>
          <a:xfrm>
            <a:off x="548640" y="3520440"/>
            <a:ext cx="5394960" cy="36576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Target: realized_ad_revenue</a:t>
            </a:r>
            <a:endParaRPr lang="en-US" sz="1350" dirty="0"/>
          </a:p>
        </p:txBody>
      </p:sp>
      <p:sp>
        <p:nvSpPr>
          <p:cNvPr id="9" name="Text 7"/>
          <p:cNvSpPr/>
          <p:nvPr/>
        </p:nvSpPr>
        <p:spPr>
          <a:xfrm>
            <a:off x="548640" y="3977640"/>
            <a:ext cx="5394960" cy="3657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venue's actual weekly $ ad revenue — not a proxy, not a survey response.</a:t>
            </a:r>
            <a:endParaRPr lang="en-US" sz="1050" dirty="0"/>
          </a:p>
        </p:txBody>
      </p:sp>
      <p:sp>
        <p:nvSpPr>
          <p:cNvPr id="10" name="Text 8"/>
          <p:cNvSpPr/>
          <p:nvPr/>
        </p:nvSpPr>
        <p:spPr>
          <a:xfrm>
            <a:off x="6263640" y="1645920"/>
            <a:ext cx="5394960" cy="32004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Features — two sources</a:t>
            </a:r>
            <a:endParaRPr lang="en-US" sz="1350" dirty="0"/>
          </a:p>
        </p:txBody>
      </p:sp>
      <p:sp>
        <p:nvSpPr>
          <p:cNvPr id="11" name="Shape 9"/>
          <p:cNvSpPr/>
          <p:nvPr/>
        </p:nvSpPr>
        <p:spPr>
          <a:xfrm>
            <a:off x="6263640" y="2029968"/>
            <a:ext cx="5394960" cy="1600200"/>
          </a:xfrm>
          <a:prstGeom prst="roundRect">
            <a:avLst>
              <a:gd name="adj" fmla="val 4000"/>
            </a:avLst>
          </a:prstGeom>
          <a:solidFill>
            <a:srgbClr val="F5F7FC"/>
          </a:solidFill>
          <a:ln/>
        </p:spPr>
      </p:sp>
      <p:sp>
        <p:nvSpPr>
          <p:cNvPr id="12" name="Text 10"/>
          <p:cNvSpPr/>
          <p:nvPr/>
        </p:nvSpPr>
        <p:spPr>
          <a:xfrm>
            <a:off x="6492240" y="2148840"/>
            <a:ext cx="493776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This venue's own characteristics</a:t>
            </a:r>
            <a:endParaRPr lang="en-US" sz="1100" dirty="0"/>
          </a:p>
        </p:txBody>
      </p:sp>
      <p:sp>
        <p:nvSpPr>
          <p:cNvPr id="13" name="Text 11"/>
          <p:cNvSpPr/>
          <p:nvPr/>
        </p:nvSpPr>
        <p:spPr>
          <a:xfrm>
            <a:off x="6492240" y="2468880"/>
            <a:ext cx="4937760" cy="1051560"/>
          </a:xfrm>
          <a:prstGeom prst="rect">
            <a:avLst/>
          </a:prstGeom>
          <a:noFill/>
          <a:ln/>
        </p:spPr>
        <p:txBody>
          <a:bodyPr wrap="square" rtlCol="0" anchor="ctr"/>
          <a:lstStyle/>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venue_type · geo_cluster · traffic_tier</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baseline_level · dwell_time_min</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screen_count · audience_quality</a:t>
            </a:r>
            <a:endParaRPr lang="en-US" sz="1050" dirty="0"/>
          </a:p>
        </p:txBody>
      </p:sp>
      <p:sp>
        <p:nvSpPr>
          <p:cNvPr id="14" name="Shape 12"/>
          <p:cNvSpPr/>
          <p:nvPr/>
        </p:nvSpPr>
        <p:spPr>
          <a:xfrm>
            <a:off x="6263640" y="3767328"/>
            <a:ext cx="5394960" cy="1325880"/>
          </a:xfrm>
          <a:prstGeom prst="roundRect">
            <a:avLst>
              <a:gd name="adj" fmla="val 4828"/>
            </a:avLst>
          </a:prstGeom>
          <a:solidFill>
            <a:srgbClr val="FDF1E3"/>
          </a:solidFill>
          <a:ln/>
        </p:spPr>
      </p:sp>
      <p:sp>
        <p:nvSpPr>
          <p:cNvPr id="15" name="Text 13"/>
          <p:cNvSpPr/>
          <p:nvPr/>
        </p:nvSpPr>
        <p:spPr>
          <a:xfrm>
            <a:off x="6492240" y="3886200"/>
            <a:ext cx="493776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From the Q1/Q2 causal pipeline (RCT: Slide 7 · MMM: Slide 10)</a:t>
            </a:r>
            <a:endParaRPr lang="en-US" sz="1030" dirty="0"/>
          </a:p>
        </p:txBody>
      </p:sp>
      <p:sp>
        <p:nvSpPr>
          <p:cNvPr id="16" name="Text 14"/>
          <p:cNvSpPr/>
          <p:nvPr/>
        </p:nvSpPr>
        <p:spPr>
          <a:xfrm>
            <a:off x="6492240" y="4187952"/>
            <a:ext cx="4937760" cy="868680"/>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calibrated_lift_feature — the RCT-calibrated per-exposure lift from the MMM. This is where the advertising-incrementality pipeline plugs into the venue-economics side — the connection promised on Slide 14, not a separate silo.</a:t>
            </a:r>
            <a:endParaRPr lang="en-US" sz="970" dirty="0"/>
          </a:p>
        </p:txBody>
      </p:sp>
      <p:sp>
        <p:nvSpPr>
          <p:cNvPr id="17" name="Shape 15"/>
          <p:cNvSpPr/>
          <p:nvPr/>
        </p:nvSpPr>
        <p:spPr>
          <a:xfrm>
            <a:off x="548640" y="5257800"/>
            <a:ext cx="11091672" cy="960120"/>
          </a:xfrm>
          <a:prstGeom prst="roundRect">
            <a:avLst>
              <a:gd name="adj" fmla="val 5714"/>
            </a:avLst>
          </a:prstGeom>
          <a:solidFill>
            <a:srgbClr val="F5F7FC"/>
          </a:solidFill>
          <a:ln/>
        </p:spPr>
      </p:sp>
      <p:sp>
        <p:nvSpPr>
          <p:cNvPr id="18" name="Text 16"/>
          <p:cNvSpPr/>
          <p:nvPr/>
        </p:nvSpPr>
        <p:spPr>
          <a:xfrm>
            <a:off x="777240" y="5367528"/>
            <a:ext cx="10607040" cy="777240"/>
          </a:xfrm>
          <a:prstGeom prst="rect">
            <a:avLst/>
          </a:prstGeom>
          <a:noFill/>
          <a:ln/>
        </p:spPr>
        <p:txBody>
          <a:bodyPr wrap="square" rtlCol="0" anchor="ctr"/>
          <a:lstStyle/>
          <a:p>
            <a:pPr indent="0" marL="0">
              <a:lnSpc>
                <a:spcPts val="1400"/>
              </a:lnSpc>
              <a:buNone/>
            </a:pPr>
            <a:r>
              <a:rPr lang="en-US" sz="1050" i="1" dirty="0">
                <a:solidFill>
                  <a:srgbClr val="1A1A2E"/>
                </a:solidFill>
                <a:latin typeface="Calibri" pitchFamily="34" charset="0"/>
                <a:ea typeface="Calibri" pitchFamily="34" charset="-122"/>
                <a:cs typeface="Calibri" pitchFamily="34" charset="-120"/>
              </a:rPr>
              <a:t>Method, honestly: held-out metrics (next slide) come from a genuine 30% test split, stratified by venue_type — never train-set fit. Under-monetization flags come from 5-fold out-of-fold predictions — every venue's flag uses a model that never saw its own revenue. Prospect venues (no revenue history) are scored by that same trained model, not a separate heuristic.</a:t>
            </a:r>
            <a:endParaRPr lang="en-US" sz="1050" dirty="0"/>
          </a:p>
        </p:txBody>
      </p:sp>
      <p:sp>
        <p:nvSpPr>
          <p:cNvPr id="19" name="Text 1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 — model &amp; inputs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Held-out evaluation, feature importance, and the venues these numbers actually flag (model &amp; features: previous slide).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48640" y="5742432"/>
            <a:ext cx="5394960" cy="3200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Permutation, not gain-based — gain-based splits are biased toward high-cardinality categoricals like geo_cluster (20+ levels).</a:t>
            </a:r>
            <a:endParaRPr lang="en-US" sz="850" dirty="0"/>
          </a:p>
        </p:txBody>
      </p:sp>
      <p:sp>
        <p:nvSpPr>
          <p:cNvPr id="20" name="Text 17"/>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1" name="Text 18"/>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2" name="Text 19"/>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3" name="Text 20"/>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4" name="Text 21"/>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5" name="Text 22"/>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6" name="Text 23"/>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7" name="Text 24"/>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8" name="Text 25"/>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9" name="Text 26"/>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30" name="Text 27"/>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1" name="Text 28"/>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2" name="Text 29"/>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3" name="Text 30"/>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4" name="Text 31"/>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5" name="Text 32"/>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6" name="Text 33"/>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7" name="Text 34"/>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8" name="Text 35"/>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2026-09-08T18:54:29Z</dcterms:created>
  <dcterms:modified xsi:type="dcterms:W3CDTF">2026-09-08T18:54:29Z</dcterms:modified>
</cp:coreProperties>
</file>