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43484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709160"/>
            <a:ext cx="6583680" cy="86868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For each activated venue: fit non-negative weights (summing to 1) on same-type never-activated donor venues, minimizing pre-period MSE against that venue's own trajectory (the classic Abadie et al. construction) → apply those weights to donors' post-period data as the counterfactual → effect = mean(actual − synthetic) over that venue's own 16-week post-campaign window.</a:t>
            </a:r>
            <a:endParaRPr lang="en-US" sz="1000" dirty="0"/>
          </a:p>
        </p:txBody>
      </p:sp>
      <p:sp>
        <p:nvSpPr>
          <p:cNvPr id="9" name="Text 6"/>
          <p:cNvSpPr/>
          <p:nvPr/>
        </p:nvSpPr>
        <p:spPr>
          <a:xfrm>
            <a:off x="548640" y="5623560"/>
            <a:ext cx="6583680" cy="82296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Unlike the RCT, each venue picks its own pre/post split at its own activation week — obs-pool venues self-activate on their own schedule, there's no shared campaign window. Each bar is the mean effect across only that type's good pre-period-fit venues (see right) — poor fits are excluded, not averaged in.</a:t>
            </a:r>
            <a:endParaRPr lang="en-US" sz="90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0.160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0.050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0.100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0.110       8.3</a:t>
            </a:r>
            <a:endParaRPr lang="en-US" sz="950" dirty="0"/>
          </a:p>
        </p:txBody>
      </p:sp>
      <p:sp>
        <p:nvSpPr>
          <p:cNvPr id="15" name="Text 12"/>
          <p:cNvSpPr/>
          <p:nvPr/>
        </p:nvSpPr>
        <p:spPr>
          <a:xfrm>
            <a:off x="7406640" y="3346704"/>
            <a:ext cx="4206240" cy="1051560"/>
          </a:xfrm>
          <a:prstGeom prst="rect">
            <a:avLst/>
          </a:prstGeom>
          <a:noFill/>
          <a:ln/>
        </p:spPr>
        <p:txBody>
          <a:bodyPr wrap="square" rtlCol="0" anchor="ctr"/>
          <a:lstStyle/>
          <a:p>
            <a:pPr indent="0" marL="0">
              <a:lnSpc>
                <a:spcPts val="1250"/>
              </a:lnSpc>
              <a:buNone/>
            </a:pPr>
            <a:r>
              <a:rPr lang="en-US" sz="950" dirty="0">
                <a:solidFill>
                  <a:srgbClr val="1A1A2E"/>
                </a:solidFill>
                <a:latin typeface="Calibri" pitchFamily="34" charset="0"/>
                <a:ea typeface="Calibri" pitchFamily="34" charset="-122"/>
                <a:cs typeface="Calibri" pitchFamily="34" charset="-120"/>
              </a:rPr>
              <a:t>Pre-period RMSPE = √mean((actual − synthetic)²) over each venue's own pre-period weeks — how well the twin matches reality before treatment starts. A venue is flagged (excluded from the bar above) if its RMSPE exceeds 2.5× its type's median — restaurants' high median (26.4) is why 4 of its 46 attempted fits got flagged.</a:t>
            </a:r>
            <a:endParaRPr lang="en-US" sz="950" dirty="0"/>
          </a:p>
        </p:txBody>
      </p:sp>
      <p:sp>
        <p:nvSpPr>
          <p:cNvPr id="16" name="Text 13"/>
          <p:cNvSpPr/>
          <p:nvPr/>
        </p:nvSpPr>
        <p:spPr>
          <a:xfrm>
            <a:off x="7406640" y="4489704"/>
            <a:ext cx="4206240" cy="114300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those donor "fake effects" at least as extreme as the real one — restaurant's p=0.16 is the weakest signal of the four (its worst-fitting type too); gym's p=0.05 the strongest.</a:t>
            </a:r>
            <a:endParaRPr lang="en-US" sz="9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2026-09-08T15:59:36Z</dcterms:created>
  <dcterms:modified xsi:type="dcterms:W3CDTF">2026-09-08T15:59:36Z</dcterms:modified>
</cp:coreProperties>
</file>