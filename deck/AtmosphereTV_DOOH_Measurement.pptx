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The roadmap: four problems, four methods</a:t>
            </a:r>
            <a:endParaRPr lang="en-US" sz="28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48640" y="1691640"/>
            <a:ext cx="11091672" cy="960120"/>
          </a:xfrm>
          <a:prstGeom prst="roundRect">
            <a:avLst>
              <a:gd name="adj" fmla="val 9524"/>
            </a:avLst>
          </a:prstGeom>
          <a:solidFill>
            <a:srgbClr val="E4E9F7"/>
          </a:solidFill>
          <a:ln/>
        </p:spPr>
      </p:sp>
      <p:sp>
        <p:nvSpPr>
          <p:cNvPr id="5" name="Shape 3"/>
          <p:cNvSpPr/>
          <p:nvPr/>
        </p:nvSpPr>
        <p:spPr>
          <a:xfrm>
            <a:off x="822960" y="1897380"/>
            <a:ext cx="548640" cy="548640"/>
          </a:xfrm>
          <a:prstGeom prst="ellipse">
            <a:avLst/>
          </a:prstGeom>
          <a:solidFill>
            <a:srgbClr val="1E2761"/>
          </a:solidFill>
          <a:ln/>
        </p:spPr>
      </p:sp>
      <p:sp>
        <p:nvSpPr>
          <p:cNvPr id="6" name="Text 4"/>
          <p:cNvSpPr/>
          <p:nvPr/>
        </p:nvSpPr>
        <p:spPr>
          <a:xfrm>
            <a:off x="822960" y="1897380"/>
            <a:ext cx="548640" cy="54864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Q1</a:t>
            </a:r>
            <a:endParaRPr lang="en-US" sz="1500" dirty="0"/>
          </a:p>
        </p:txBody>
      </p:sp>
      <p:sp>
        <p:nvSpPr>
          <p:cNvPr id="7" name="Text 5"/>
          <p:cNvSpPr/>
          <p:nvPr/>
        </p:nvSpPr>
        <p:spPr>
          <a:xfrm>
            <a:off x="1645920" y="1783080"/>
            <a:ext cx="4114800" cy="777240"/>
          </a:xfrm>
          <a:prstGeom prst="rect">
            <a:avLst/>
          </a:prstGeom>
          <a:noFill/>
          <a:ln/>
        </p:spPr>
        <p:txBody>
          <a:bodyPr wrap="square" rtlCol="0" anchor="ctr"/>
          <a:lstStyle/>
          <a:p>
            <a:pPr indent="0" marL="0">
              <a:lnSpc>
                <a:spcPts val="1700"/>
              </a:lnSpc>
              <a:buNone/>
            </a:pPr>
            <a:r>
              <a:rPr lang="en-US" sz="1450" b="1" dirty="0">
                <a:solidFill>
                  <a:srgbClr val="1E2761"/>
                </a:solidFill>
                <a:latin typeface="Cambria" pitchFamily="34" charset="0"/>
                <a:ea typeface="Cambria" pitchFamily="34" charset="-122"/>
                <a:cs typeface="Cambria" pitchFamily="34" charset="-120"/>
              </a:rPr>
              <a:t>Did the campaign actually work?</a:t>
            </a:r>
            <a:endParaRPr lang="en-US" sz="1450" dirty="0"/>
          </a:p>
        </p:txBody>
      </p:sp>
      <p:sp>
        <p:nvSpPr>
          <p:cNvPr id="8" name="Text 6"/>
          <p:cNvSpPr/>
          <p:nvPr/>
        </p:nvSpPr>
        <p:spPr>
          <a:xfrm>
            <a:off x="5943600" y="1783080"/>
            <a:ext cx="5394960" cy="777240"/>
          </a:xfrm>
          <a:prstGeom prst="rect">
            <a:avLst/>
          </a:prstGeom>
          <a:noFill/>
          <a:ln/>
        </p:spPr>
        <p:txBody>
          <a:bodyPr wrap="square" rtlCol="0" anchor="ctr"/>
          <a:lstStyle/>
          <a:p>
            <a:pPr indent="0" marL="0">
              <a:lnSpc>
                <a:spcPts val="1600"/>
              </a:lnSpc>
              <a:buNone/>
            </a:pPr>
            <a:r>
              <a:rPr lang="en-US" sz="1250" dirty="0">
                <a:solidFill>
                  <a:srgbClr val="1A1A2E"/>
                </a:solidFill>
                <a:latin typeface="Calibri" pitchFamily="34" charset="0"/>
                <a:ea typeface="Calibri" pitchFamily="34" charset="-122"/>
                <a:cs typeface="Calibri" pitchFamily="34" charset="-120"/>
              </a:rPr>
              <a:t>RCT geo-holdout, extended to historical campaigns with synthetic control.</a:t>
            </a:r>
            <a:endParaRPr lang="en-US" sz="1250" dirty="0"/>
          </a:p>
        </p:txBody>
      </p:sp>
      <p:sp>
        <p:nvSpPr>
          <p:cNvPr id="9" name="Shape 7"/>
          <p:cNvSpPr/>
          <p:nvPr/>
        </p:nvSpPr>
        <p:spPr>
          <a:xfrm>
            <a:off x="548640" y="2788920"/>
            <a:ext cx="11091672" cy="960120"/>
          </a:xfrm>
          <a:prstGeom prst="roundRect">
            <a:avLst>
              <a:gd name="adj" fmla="val 9524"/>
            </a:avLst>
          </a:prstGeom>
          <a:solidFill>
            <a:srgbClr val="FBE8D2"/>
          </a:solidFill>
          <a:ln/>
        </p:spPr>
      </p:sp>
      <p:sp>
        <p:nvSpPr>
          <p:cNvPr id="10" name="Shape 8"/>
          <p:cNvSpPr/>
          <p:nvPr/>
        </p:nvSpPr>
        <p:spPr>
          <a:xfrm>
            <a:off x="822960" y="2994660"/>
            <a:ext cx="548640" cy="548640"/>
          </a:xfrm>
          <a:prstGeom prst="ellipse">
            <a:avLst/>
          </a:prstGeom>
          <a:solidFill>
            <a:srgbClr val="B8500A"/>
          </a:solidFill>
          <a:ln/>
        </p:spPr>
      </p:sp>
      <p:sp>
        <p:nvSpPr>
          <p:cNvPr id="11" name="Text 9"/>
          <p:cNvSpPr/>
          <p:nvPr/>
        </p:nvSpPr>
        <p:spPr>
          <a:xfrm>
            <a:off x="822960" y="2994660"/>
            <a:ext cx="548640" cy="54864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Q2</a:t>
            </a:r>
            <a:endParaRPr lang="en-US" sz="1500" dirty="0"/>
          </a:p>
        </p:txBody>
      </p:sp>
      <p:sp>
        <p:nvSpPr>
          <p:cNvPr id="12" name="Text 10"/>
          <p:cNvSpPr/>
          <p:nvPr/>
        </p:nvSpPr>
        <p:spPr>
          <a:xfrm>
            <a:off x="1645920" y="2880360"/>
            <a:ext cx="4114800" cy="777240"/>
          </a:xfrm>
          <a:prstGeom prst="rect">
            <a:avLst/>
          </a:prstGeom>
          <a:noFill/>
          <a:ln/>
        </p:spPr>
        <p:txBody>
          <a:bodyPr wrap="square" rtlCol="0" anchor="ctr"/>
          <a:lstStyle/>
          <a:p>
            <a:pPr indent="0" marL="0">
              <a:lnSpc>
                <a:spcPts val="1700"/>
              </a:lnSpc>
              <a:buNone/>
            </a:pPr>
            <a:r>
              <a:rPr lang="en-US" sz="1450" b="1" dirty="0">
                <a:solidFill>
                  <a:srgbClr val="B8500A"/>
                </a:solidFill>
                <a:latin typeface="Cambria" pitchFamily="34" charset="0"/>
                <a:ea typeface="Cambria" pitchFamily="34" charset="-122"/>
                <a:cs typeface="Cambria" pitchFamily="34" charset="-120"/>
              </a:rPr>
              <a:t>How should budget be spent?</a:t>
            </a:r>
            <a:endParaRPr lang="en-US" sz="1450" dirty="0"/>
          </a:p>
        </p:txBody>
      </p:sp>
      <p:sp>
        <p:nvSpPr>
          <p:cNvPr id="13" name="Text 11"/>
          <p:cNvSpPr/>
          <p:nvPr/>
        </p:nvSpPr>
        <p:spPr>
          <a:xfrm>
            <a:off x="5943600" y="2880360"/>
            <a:ext cx="5394960" cy="777240"/>
          </a:xfrm>
          <a:prstGeom prst="rect">
            <a:avLst/>
          </a:prstGeom>
          <a:noFill/>
          <a:ln/>
        </p:spPr>
        <p:txBody>
          <a:bodyPr wrap="square" rtlCol="0" anchor="ctr"/>
          <a:lstStyle/>
          <a:p>
            <a:pPr indent="0" marL="0">
              <a:lnSpc>
                <a:spcPts val="1600"/>
              </a:lnSpc>
              <a:buNone/>
            </a:pPr>
            <a:r>
              <a:rPr lang="en-US" sz="1250" dirty="0">
                <a:solidFill>
                  <a:srgbClr val="1A1A2E"/>
                </a:solidFill>
                <a:latin typeface="Calibri" pitchFamily="34" charset="0"/>
                <a:ea typeface="Calibri" pitchFamily="34" charset="-122"/>
                <a:cs typeface="Calibri" pitchFamily="34" charset="-120"/>
              </a:rPr>
              <a:t>RCT-calibrated MMM, then an exact DP budget allocator over the calibrated response curves.</a:t>
            </a:r>
            <a:endParaRPr lang="en-US" sz="1250" dirty="0"/>
          </a:p>
        </p:txBody>
      </p:sp>
      <p:sp>
        <p:nvSpPr>
          <p:cNvPr id="14" name="Shape 12"/>
          <p:cNvSpPr/>
          <p:nvPr/>
        </p:nvSpPr>
        <p:spPr>
          <a:xfrm>
            <a:off x="548640" y="3886200"/>
            <a:ext cx="11091672" cy="960120"/>
          </a:xfrm>
          <a:prstGeom prst="roundRect">
            <a:avLst>
              <a:gd name="adj" fmla="val 9524"/>
            </a:avLst>
          </a:prstGeom>
          <a:solidFill>
            <a:srgbClr val="E2F1E9"/>
          </a:solidFill>
          <a:ln/>
        </p:spPr>
      </p:sp>
      <p:sp>
        <p:nvSpPr>
          <p:cNvPr id="15" name="Shape 13"/>
          <p:cNvSpPr/>
          <p:nvPr/>
        </p:nvSpPr>
        <p:spPr>
          <a:xfrm>
            <a:off x="822960" y="4091940"/>
            <a:ext cx="548640" cy="548640"/>
          </a:xfrm>
          <a:prstGeom prst="ellipse">
            <a:avLst/>
          </a:prstGeom>
          <a:solidFill>
            <a:srgbClr val="2C7A57"/>
          </a:solidFill>
          <a:ln/>
        </p:spPr>
      </p:sp>
      <p:sp>
        <p:nvSpPr>
          <p:cNvPr id="16" name="Text 14"/>
          <p:cNvSpPr/>
          <p:nvPr/>
        </p:nvSpPr>
        <p:spPr>
          <a:xfrm>
            <a:off x="822960" y="4091940"/>
            <a:ext cx="548640" cy="54864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Q3</a:t>
            </a:r>
            <a:endParaRPr lang="en-US" sz="1500" dirty="0"/>
          </a:p>
        </p:txBody>
      </p:sp>
      <p:sp>
        <p:nvSpPr>
          <p:cNvPr id="17" name="Text 15"/>
          <p:cNvSpPr/>
          <p:nvPr/>
        </p:nvSpPr>
        <p:spPr>
          <a:xfrm>
            <a:off x="1645920" y="3977640"/>
            <a:ext cx="4114800" cy="777240"/>
          </a:xfrm>
          <a:prstGeom prst="rect">
            <a:avLst/>
          </a:prstGeom>
          <a:noFill/>
          <a:ln/>
        </p:spPr>
        <p:txBody>
          <a:bodyPr wrap="square" rtlCol="0" anchor="ctr"/>
          <a:lstStyle/>
          <a:p>
            <a:pPr indent="0" marL="0">
              <a:lnSpc>
                <a:spcPts val="1700"/>
              </a:lnSpc>
              <a:buNone/>
            </a:pPr>
            <a:r>
              <a:rPr lang="en-US" sz="1450" b="1" dirty="0">
                <a:solidFill>
                  <a:srgbClr val="2C7A57"/>
                </a:solidFill>
                <a:latin typeface="Cambria" pitchFamily="34" charset="0"/>
                <a:ea typeface="Cambria" pitchFamily="34" charset="-122"/>
                <a:cs typeface="Cambria" pitchFamily="34" charset="-120"/>
              </a:rPr>
              <a:t>Where's the revenue upside?</a:t>
            </a:r>
            <a:endParaRPr lang="en-US" sz="1450" dirty="0"/>
          </a:p>
        </p:txBody>
      </p:sp>
      <p:sp>
        <p:nvSpPr>
          <p:cNvPr id="18" name="Text 16"/>
          <p:cNvSpPr/>
          <p:nvPr/>
        </p:nvSpPr>
        <p:spPr>
          <a:xfrm>
            <a:off x="5943600" y="3977640"/>
            <a:ext cx="5394960" cy="777240"/>
          </a:xfrm>
          <a:prstGeom prst="rect">
            <a:avLst/>
          </a:prstGeom>
          <a:noFill/>
          <a:ln/>
        </p:spPr>
        <p:txBody>
          <a:bodyPr wrap="square" rtlCol="0" anchor="ctr"/>
          <a:lstStyle/>
          <a:p>
            <a:pPr indent="0" marL="0">
              <a:lnSpc>
                <a:spcPts val="1600"/>
              </a:lnSpc>
              <a:buNone/>
            </a:pPr>
            <a:r>
              <a:rPr lang="en-US" sz="1250" dirty="0">
                <a:solidFill>
                  <a:srgbClr val="1A1A2E"/>
                </a:solidFill>
                <a:latin typeface="Calibri" pitchFamily="34" charset="0"/>
                <a:ea typeface="Calibri" pitchFamily="34" charset="-122"/>
                <a:cs typeface="Calibri" pitchFamily="34" charset="-120"/>
              </a:rPr>
              <a:t>Gradient-boosted venue-revenue model, honest out-of-fold evaluation.</a:t>
            </a:r>
            <a:endParaRPr lang="en-US" sz="1250" dirty="0"/>
          </a:p>
        </p:txBody>
      </p:sp>
      <p:sp>
        <p:nvSpPr>
          <p:cNvPr id="19" name="Shape 17"/>
          <p:cNvSpPr/>
          <p:nvPr/>
        </p:nvSpPr>
        <p:spPr>
          <a:xfrm>
            <a:off x="548640" y="4983480"/>
            <a:ext cx="11091672" cy="960120"/>
          </a:xfrm>
          <a:prstGeom prst="roundRect">
            <a:avLst>
              <a:gd name="adj" fmla="val 9524"/>
            </a:avLst>
          </a:prstGeom>
          <a:solidFill>
            <a:srgbClr val="F5E3EC"/>
          </a:solidFill>
          <a:ln/>
        </p:spPr>
      </p:sp>
      <p:sp>
        <p:nvSpPr>
          <p:cNvPr id="20" name="Shape 18"/>
          <p:cNvSpPr/>
          <p:nvPr/>
        </p:nvSpPr>
        <p:spPr>
          <a:xfrm>
            <a:off x="822960" y="5189220"/>
            <a:ext cx="548640" cy="548640"/>
          </a:xfrm>
          <a:prstGeom prst="ellipse">
            <a:avLst/>
          </a:prstGeom>
          <a:solidFill>
            <a:srgbClr val="8E3B60"/>
          </a:solidFill>
          <a:ln/>
        </p:spPr>
      </p:sp>
      <p:sp>
        <p:nvSpPr>
          <p:cNvPr id="21" name="Text 19"/>
          <p:cNvSpPr/>
          <p:nvPr/>
        </p:nvSpPr>
        <p:spPr>
          <a:xfrm>
            <a:off x="822960" y="5189220"/>
            <a:ext cx="548640" cy="54864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Q4</a:t>
            </a:r>
            <a:endParaRPr lang="en-US" sz="1500" dirty="0"/>
          </a:p>
        </p:txBody>
      </p:sp>
      <p:sp>
        <p:nvSpPr>
          <p:cNvPr id="22" name="Text 20"/>
          <p:cNvSpPr/>
          <p:nvPr/>
        </p:nvSpPr>
        <p:spPr>
          <a:xfrm>
            <a:off x="1645920" y="5074920"/>
            <a:ext cx="4114800" cy="777240"/>
          </a:xfrm>
          <a:prstGeom prst="rect">
            <a:avLst/>
          </a:prstGeom>
          <a:noFill/>
          <a:ln/>
        </p:spPr>
        <p:txBody>
          <a:bodyPr wrap="square" rtlCol="0" anchor="ctr"/>
          <a:lstStyle/>
          <a:p>
            <a:pPr indent="0" marL="0">
              <a:lnSpc>
                <a:spcPts val="1700"/>
              </a:lnSpc>
              <a:buNone/>
            </a:pPr>
            <a:r>
              <a:rPr lang="en-US" sz="1450" b="1" dirty="0">
                <a:solidFill>
                  <a:srgbClr val="8E3B60"/>
                </a:solidFill>
                <a:latin typeface="Cambria" pitchFamily="34" charset="0"/>
                <a:ea typeface="Cambria" pitchFamily="34" charset="-122"/>
                <a:cs typeface="Cambria" pitchFamily="34" charset="-120"/>
              </a:rPr>
              <a:t>Which venues are at risk?</a:t>
            </a:r>
            <a:endParaRPr lang="en-US" sz="1450" dirty="0"/>
          </a:p>
        </p:txBody>
      </p:sp>
      <p:sp>
        <p:nvSpPr>
          <p:cNvPr id="23" name="Text 21"/>
          <p:cNvSpPr/>
          <p:nvPr/>
        </p:nvSpPr>
        <p:spPr>
          <a:xfrm>
            <a:off x="5943600" y="5074920"/>
            <a:ext cx="5394960" cy="777240"/>
          </a:xfrm>
          <a:prstGeom prst="rect">
            <a:avLst/>
          </a:prstGeom>
          <a:noFill/>
          <a:ln/>
        </p:spPr>
        <p:txBody>
          <a:bodyPr wrap="square" rtlCol="0" anchor="ctr"/>
          <a:lstStyle/>
          <a:p>
            <a:pPr indent="0" marL="0">
              <a:lnSpc>
                <a:spcPts val="1600"/>
              </a:lnSpc>
              <a:buNone/>
            </a:pPr>
            <a:r>
              <a:rPr lang="en-US" sz="1250" dirty="0">
                <a:solidFill>
                  <a:srgbClr val="1A1A2E"/>
                </a:solidFill>
                <a:latin typeface="Calibri" pitchFamily="34" charset="0"/>
                <a:ea typeface="Calibri" pitchFamily="34" charset="-122"/>
                <a:cs typeface="Calibri" pitchFamily="34" charset="-120"/>
              </a:rPr>
              <a:t>Gradient-boosted churn classifier, combined with Q3 into one value × risk priority.</a:t>
            </a:r>
            <a:endParaRPr lang="en-US" sz="125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2026-09-08T06:45:24Z</dcterms:created>
  <dcterms:modified xsi:type="dcterms:W3CDTF">2026-09-08T06:45:24Z</dcterms:modified>
</cp:coreProperties>
</file>