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The next dollar's return rises, THEN falls — not monotonic</a:t>
            </a:r>
          </a:p>
        </c:rich>
      </c:tx>
      <c:layout/>
      <c:overlay val="0"/>
    </c:title>
    <c:autoTitleDeleted val="0"/>
    <c:plotArea>
      <c:layout/>
      <c:lineChart>
        <c:varyColors val="0"/>
        <c:ser>
          <c:idx val="0"/>
          <c:order val="0"/>
          <c:tx>
            <c:strRef>
              <c:f>Sheet1!$B$1</c:f>
              <c:strCache>
                <c:ptCount val="1"/>
                <c:pt idx="0">
                  <c:v>Restaurant: incremental lift per $1,000 spent</c:v>
                </c:pt>
              </c:strCache>
            </c:strRef>
          </c:tx>
          <c:spPr>
            <a:solidFill>
              <a:srgbClr val="1E2761"/>
            </a:solidFill>
            <a:ln w="31750" cap="flat">
              <a:solidFill>
                <a:srgbClr val="1E2761"/>
              </a:solidFill>
              <a:prstDash val="solid"/>
              <a:round/>
            </a:ln>
            <a:effectLst/>
          </c:spPr>
          <c:invertIfNegative val="0"/>
          <c:dLbls>
            <c:numFmt formatCode="0.0" sourceLinked="0"/>
            <c:txPr>
              <a:bodyPr/>
              <a:lstStyle/>
              <a:p>
                <a:pPr>
                  <a:defRPr b="0" i="0" strike="noStrike" sz="900" u="none">
                    <a:solidFill>
                      <a:srgbClr val="1A1A2E"/>
                    </a:solidFill>
                    <a:latin typeface="Arial"/>
                  </a:defRPr>
                </a:pPr>
              </a:p>
            </c:txPr>
            <c:dLblPos val="t"/>
            <c:showLegendKey val="0"/>
            <c:showVal val="1"/>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Sheet1!$A$2:$A$7</c:f>
              <c:multiLvlStrCache>
                <c:ptCount val="6"/>
                <c:lvl>
                  <c:pt idx="0">
                    <c:v>.25</c:v>
                  </c:pt>
                  <c:pt idx="1">
                    <c:v>.5</c:v>
                  </c:pt>
                  <c:pt idx="2">
                    <c:v>.75</c:v>
                  </c:pt>
                  <c:pt idx="3">
                    <c:v>1.0</c:v>
                  </c:pt>
                  <c:pt idx="4">
                    <c:v>1.5</c:v>
                  </c:pt>
                  <c:pt idx="5">
                    <c:v>2.0</c:v>
                  </c:pt>
                </c:lvl>
              </c:multiLvlStrCache>
            </c:multiLvlStrRef>
          </c:cat>
          <c:val>
            <c:numRef>
              <c:f>Sheet1!$B$2:$B$7</c:f>
              <c:numCache>
                <c:formatCode>General</c:formatCode>
                <c:ptCount val="6"/>
                <c:pt idx="0">
                  <c:v>5</c:v>
                </c:pt>
                <c:pt idx="1">
                  <c:v>34.2</c:v>
                </c:pt>
                <c:pt idx="2">
                  <c:v>86.9</c:v>
                </c:pt>
                <c:pt idx="3">
                  <c:v>147.5</c:v>
                </c:pt>
                <c:pt idx="4">
                  <c:v>205.8</c:v>
                </c:pt>
                <c:pt idx="5">
                  <c:v>198</c:v>
                </c:pt>
              </c:numCache>
            </c:numRef>
          </c:val>
          <c:smooth val="0"/>
        </c:ser>
        <c:dLbls>
          <c:numFmt formatCode="0.0" sourceLinked="0"/>
          <c:txPr>
            <a:bodyPr/>
            <a:lstStyle/>
            <a:p>
              <a:pPr>
                <a:defRPr b="0" i="0" strike="noStrike" sz="900" u="none">
                  <a:solidFill>
                    <a:srgbClr val="1A1A2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50" b="0" i="0" u="none" strike="noStrike">
                    <a:solidFill>
                      <a:srgbClr val="000000"/>
                    </a:solidFill>
                    <a:latin typeface="Arial"/>
                  </a:defRPr>
                </a:pPr>
                <a:r>
                  <a:rPr sz="950" b="0" i="0" u="none" strike="noStrike">
                    <a:solidFill>
                      <a:srgbClr val="000000"/>
                    </a:solidFill>
                    <a:latin typeface="Arial"/>
                  </a:rPr>
                  <a:t>Frequency (plays/venue/wk)</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Incremental lift per $1,000</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E2761"/>
                </a:solidFill>
                <a:latin typeface="Arial"/>
              </a:defRPr>
            </a:pPr>
            <a:r>
              <a:rPr sz="1050" b="0" i="0" u="none" strike="noStrike">
                <a:solidFill>
                  <a:srgbClr val="1E2761"/>
                </a:solidFill>
                <a:latin typeface="Arial"/>
              </a:rPr>
              <a:t>$100,000 weekly budget — DP-optimal allocation</a:t>
            </a:r>
          </a:p>
        </c:rich>
      </c:tx>
      <c:layout/>
      <c:overlay val="0"/>
    </c:title>
    <c:autoTitleDeleted val="0"/>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9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9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go live here — each on its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go live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 a real tail holds for ~10 weeks, then fades to zero (see persistence check, next).</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go live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577840"/>
            <a:ext cx="11091672" cy="7772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130 go live at their own, uncoordinated point in time — whether a venue is using its own free self-promotion slot or Atmosphere sold the remaining inventory there to an outside advertiser, the panel only records that the screen started playing ads, not who bought the airtime — exactly why synthetic control (next) reconstructs the counterfactual instead of comparing before/after directly.</a:t>
            </a:r>
            <a:endParaRPr lang="en-US" sz="105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017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ANCOVA-style delta estimator</a:t>
            </a:r>
            <a:endParaRPr lang="en-US" sz="1250" dirty="0"/>
          </a:p>
        </p:txBody>
      </p:sp>
      <p:sp>
        <p:nvSpPr>
          <p:cNvPr id="9" name="Text 6"/>
          <p:cNvSpPr/>
          <p:nvPr/>
        </p:nvSpPr>
        <p:spPr>
          <a:xfrm>
            <a:off x="548640" y="4572000"/>
            <a:ext cx="6583680" cy="10515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① Per-venue delta = campaign-window avg − pre-period avg — nets out that venue's own baseline.</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② Effect = mean(treated deltas) − mean(holdout deltas) — a DiD-style comparison; any trend common to both arms cancels out too.</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③ Welch's t-test on the two delta samples (unequal variance, unequal n) → SE, 95% CI, p-value.</a:t>
            </a:r>
            <a:endParaRPr lang="en-US" sz="1000" dirty="0"/>
          </a:p>
        </p:txBody>
      </p:sp>
      <p:sp>
        <p:nvSpPr>
          <p:cNvPr id="10" name="Text 7"/>
          <p:cNvSpPr/>
          <p:nvPr/>
        </p:nvSpPr>
        <p:spPr>
          <a:xfrm>
            <a:off x="548640" y="562356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Why delta, not raw post-period levels: individual venues differ a lot in baseline traffic even within one arm — differencing each against its own pre-period average removes that noise, so 15–19 venues/arm reach significance a raw-level comparison couldn't. Why Welch's, not Student's or z: arms are small and unequal in size, so we don't assume equal variance, and we use the t- (not z-) distribution — for both the p-value and the CI — because that variance is itself estimated from so few venues.</a:t>
            </a:r>
            <a:endParaRPr lang="en-US" sz="900" dirty="0"/>
          </a:p>
        </p:txBody>
      </p:sp>
      <p:sp>
        <p:nvSpPr>
          <p:cNvPr id="11" name="Text 8"/>
          <p:cNvSpPr/>
          <p:nvPr/>
        </p:nvSpPr>
        <p:spPr>
          <a:xfrm>
            <a:off x="7406640" y="118872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 (T/H)   95% CI               p-value</a:t>
            </a:r>
            <a:endParaRPr lang="en-US" sz="950" dirty="0"/>
          </a:p>
        </p:txBody>
      </p:sp>
      <p:sp>
        <p:nvSpPr>
          <p:cNvPr id="12" name="Text 9"/>
          <p:cNvSpPr/>
          <p:nvPr/>
        </p:nvSpPr>
        <p:spPr>
          <a:xfrm>
            <a:off x="7406640" y="1508760"/>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Restaurants    18/17     [10.9, 22.7]   &lt; 0.001</a:t>
            </a:r>
            <a:endParaRPr lang="en-US" sz="1000" dirty="0"/>
          </a:p>
        </p:txBody>
      </p:sp>
      <p:sp>
        <p:nvSpPr>
          <p:cNvPr id="13" name="Text 10"/>
          <p:cNvSpPr/>
          <p:nvPr/>
        </p:nvSpPr>
        <p:spPr>
          <a:xfrm>
            <a:off x="7406640" y="1892808"/>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Gyms           15/17     [5.0, 15.7]   &lt; 0.001</a:t>
            </a:r>
            <a:endParaRPr lang="en-US" sz="1000" dirty="0"/>
          </a:p>
        </p:txBody>
      </p:sp>
      <p:sp>
        <p:nvSpPr>
          <p:cNvPr id="14" name="Text 11"/>
          <p:cNvSpPr/>
          <p:nvPr/>
        </p:nvSpPr>
        <p:spPr>
          <a:xfrm>
            <a:off x="7406640" y="2276856"/>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Bars           17/19     [13.1, 22.6]   &lt; 0.001</a:t>
            </a:r>
            <a:endParaRPr lang="en-US" sz="1000" dirty="0"/>
          </a:p>
        </p:txBody>
      </p:sp>
      <p:sp>
        <p:nvSpPr>
          <p:cNvPr id="15" name="Text 12"/>
          <p:cNvSpPr/>
          <p:nvPr/>
        </p:nvSpPr>
        <p:spPr>
          <a:xfrm>
            <a:off x="7406640" y="2660904"/>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Waiting Rooms  17/16     [5.0, 10.3]   &lt; 0.001</a:t>
            </a:r>
            <a:endParaRPr lang="en-US" sz="1000" dirty="0"/>
          </a:p>
        </p:txBody>
      </p:sp>
      <p:sp>
        <p:nvSpPr>
          <p:cNvPr id="16" name="Text 13"/>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7" name="Text 14"/>
          <p:cNvSpPr/>
          <p:nvPr/>
        </p:nvSpPr>
        <p:spPr>
          <a:xfrm>
            <a:off x="7406640" y="3639312"/>
            <a:ext cx="4206240" cy="91440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t-tests = 4 pre-treatment covariates (baseline traffic level, dwell time, screen count, audience quality) × 4 venue types — a separate check from the 136 RCT venues themselves. Only 2 came back significant at p≤0.05.</a:t>
            </a:r>
            <a:endParaRPr lang="en-US" sz="1050" dirty="0"/>
          </a:p>
        </p:txBody>
      </p:sp>
      <p:sp>
        <p:nvSpPr>
          <p:cNvPr id="18" name="Text 15"/>
          <p:cNvSpPr/>
          <p:nvPr/>
        </p:nvSpPr>
        <p:spPr>
          <a:xfrm>
            <a:off x="7406640" y="4599432"/>
            <a:ext cx="4206240" cy="12344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t-tests follows Binomial(16, 0.05): mean 0.8, P(≥2) ≈ 19%. Two sits well inside that distribution's main mass — nowhere near a red-flag tail value like 8+. Randomization worked as designed, not assumed.</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5262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same estimator, later windows</a:t>
            </a:r>
            <a:endParaRPr lang="en-US" sz="1250" dirty="0"/>
          </a:p>
        </p:txBody>
      </p:sp>
      <p:sp>
        <p:nvSpPr>
          <p:cNvPr id="8" name="Text 5"/>
          <p:cNvSpPr/>
          <p:nvPr/>
        </p:nvSpPr>
        <p:spPr>
          <a:xfrm>
            <a:off x="548640" y="4800600"/>
            <a:ext cx="6583680" cy="7315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Same 3-step ANCOVA-style delta as the RCT slide — per-venue delta (window avg − pre-period avg) → treated-mean minus holdout-mean → Welch's t-test for SE, CI, p-value — but pooled across all 4 venue types here (not split like the RCT slide), and re-applied to each window instead of the single week 60–69 window.</a:t>
            </a:r>
            <a:endParaRPr lang="en-US" sz="1000" dirty="0"/>
          </a:p>
        </p:txBody>
      </p:sp>
      <p:sp>
        <p:nvSpPr>
          <p:cNvPr id="9" name="Text 6"/>
          <p:cNvSpPr/>
          <p:nvPr/>
        </p:nvSpPr>
        <p:spPr>
          <a:xfrm>
            <a:off x="548640" y="557784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Splitting was already thin at ~15–19 venues/arm for one window; spreading that across four venue types and four windows, on top of decay effects that are smaller than the in-campaign lift, would push the noise past what a week-level estimate can resolve.</a:t>
            </a:r>
            <a:endParaRPr lang="en-US" sz="900" dirty="0"/>
          </a:p>
        </p:txBody>
      </p:sp>
      <p:sp>
        <p:nvSpPr>
          <p:cNvPr id="10" name="Text 7"/>
          <p:cNvSpPr/>
          <p:nvPr/>
        </p:nvSpPr>
        <p:spPr>
          <a:xfrm>
            <a:off x="7406640" y="1600200"/>
            <a:ext cx="4206240" cy="237744"/>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n = 67 treated / 69 holdout (same venues, every window)</a:t>
            </a:r>
            <a:endParaRPr lang="en-US" sz="950" dirty="0"/>
          </a:p>
        </p:txBody>
      </p:sp>
      <p:sp>
        <p:nvSpPr>
          <p:cNvPr id="11" name="Text 8"/>
          <p:cNvSpPr/>
          <p:nvPr/>
        </p:nvSpPr>
        <p:spPr>
          <a:xfrm>
            <a:off x="7406640" y="1892808"/>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95% CI              p-value</a:t>
            </a:r>
            <a:endParaRPr lang="en-US" sz="950" dirty="0"/>
          </a:p>
        </p:txBody>
      </p:sp>
      <p:sp>
        <p:nvSpPr>
          <p:cNvPr id="12" name="Text 9"/>
          <p:cNvSpPr/>
          <p:nvPr/>
        </p:nvSpPr>
        <p:spPr>
          <a:xfrm>
            <a:off x="7406640" y="2185416"/>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During campaign    [10.8, 15.8]    &lt; 0.001</a:t>
            </a:r>
            <a:endParaRPr lang="en-US" sz="1000" dirty="0"/>
          </a:p>
        </p:txBody>
      </p:sp>
      <p:sp>
        <p:nvSpPr>
          <p:cNvPr id="13" name="Text 10"/>
          <p:cNvSpPr/>
          <p:nvPr/>
        </p:nvSpPr>
        <p:spPr>
          <a:xfrm>
            <a:off x="7406640" y="2514600"/>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0–10 wks after     [0.2, 4.8]      0.031</a:t>
            </a:r>
            <a:endParaRPr lang="en-US" sz="1000" dirty="0"/>
          </a:p>
        </p:txBody>
      </p:sp>
      <p:sp>
        <p:nvSpPr>
          <p:cNvPr id="14" name="Text 11"/>
          <p:cNvSpPr/>
          <p:nvPr/>
        </p:nvSpPr>
        <p:spPr>
          <a:xfrm>
            <a:off x="7406640" y="2843784"/>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10–20 wks after    [-3.8, 0.9]     0.236</a:t>
            </a:r>
            <a:endParaRPr lang="en-US" sz="1000" dirty="0"/>
          </a:p>
        </p:txBody>
      </p:sp>
      <p:sp>
        <p:nvSpPr>
          <p:cNvPr id="15" name="Text 12"/>
          <p:cNvSpPr/>
          <p:nvPr/>
        </p:nvSpPr>
        <p:spPr>
          <a:xfrm>
            <a:off x="7406640" y="3172968"/>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Full post (34wk)   [-1.4, 1.5]     0.945</a:t>
            </a:r>
            <a:endParaRPr lang="en-US" sz="1000" dirty="0"/>
          </a:p>
        </p:txBody>
      </p:sp>
      <p:sp>
        <p:nvSpPr>
          <p:cNvPr id="16" name="Text 13"/>
          <p:cNvSpPr/>
          <p:nvPr/>
        </p:nvSpPr>
        <p:spPr>
          <a:xfrm>
            <a:off x="7406640" y="3666744"/>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7" name="Text 14"/>
          <p:cNvSpPr/>
          <p:nvPr/>
        </p:nvSpPr>
        <p:spPr>
          <a:xfrm>
            <a:off x="7406640" y="3977640"/>
            <a:ext cx="4206240" cy="1097280"/>
          </a:xfrm>
          <a:prstGeom prst="rect">
            <a:avLst/>
          </a:prstGeom>
          <a:noFill/>
          <a:ln/>
        </p:spPr>
        <p:txBody>
          <a:bodyPr wrap="square" rtlCol="0" anchor="ctr"/>
          <a:lstStyle/>
          <a:p>
            <a:pPr indent="0" marL="0">
              <a:lnSpc>
                <a:spcPts val="135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8" name="Text 15"/>
          <p:cNvSpPr/>
          <p:nvPr/>
        </p:nvSpPr>
        <p:spPr>
          <a:xfrm>
            <a:off x="7406640" y="5166360"/>
            <a:ext cx="4206240" cy="86868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2606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build a synthetic twin, per venue</a:t>
            </a:r>
            <a:endParaRPr lang="en-US" sz="1250" dirty="0"/>
          </a:p>
        </p:txBody>
      </p:sp>
      <p:sp>
        <p:nvSpPr>
          <p:cNvPr id="8" name="Text 5"/>
          <p:cNvSpPr/>
          <p:nvPr/>
        </p:nvSpPr>
        <p:spPr>
          <a:xfrm>
            <a:off x="548640" y="4572000"/>
            <a:ext cx="6583680" cy="1417320"/>
          </a:xfrm>
          <a:prstGeom prst="rect">
            <a:avLst/>
          </a:prstGeom>
          <a:noFill/>
          <a:ln/>
        </p:spPr>
        <p:txBody>
          <a:bodyPr wrap="square" rtlCol="0" anchor="ctr"/>
          <a:lstStyle/>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① Donor pool = same-type venues that never ran a campaign (e.g. 31 never-activated bars).</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② Fit non-negative weights, one per donor, summing to 1, via SLSQP (Sequential Least Squares Programming, scipy.optimize) minimizing the MSE between the weighted donor blend and this venue's own pre-period traffic (Abadie et al.) — a real blend, typically 5–15 donors get meaningful weight, not one single match.</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③ Apply that same weight vector to the donors' post-period traffic → synthetic counterfactual; effect = mean(actual − synthetic) over the venue's own 16-week post-campaign window.</a:t>
            </a:r>
            <a:endParaRPr lang="en-US" sz="950" dirty="0"/>
          </a:p>
        </p:txBody>
      </p:sp>
      <p:sp>
        <p:nvSpPr>
          <p:cNvPr id="9" name="Text 6"/>
          <p:cNvSpPr/>
          <p:nvPr/>
        </p:nvSpPr>
        <p:spPr>
          <a:xfrm>
            <a:off x="548640" y="6035040"/>
            <a:ext cx="6583680" cy="50292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Unlike the RCT, each venue picks its own pre/post split at its own activation week — no shared campaign window. Each bar is the mean effect across only that type's good pre-period-fit venues (see right) — poor fits are excluded, not averaged in.</a:t>
            </a:r>
            <a:endParaRPr lang="en-US" sz="850" dirty="0"/>
          </a:p>
        </p:txBody>
      </p:sp>
      <p:sp>
        <p:nvSpPr>
          <p:cNvPr id="10" name="Text 7"/>
          <p:cNvSpPr/>
          <p:nvPr/>
        </p:nvSpPr>
        <p:spPr>
          <a:xfrm>
            <a:off x="7406640" y="1645920"/>
            <a:ext cx="4206240" cy="256032"/>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n(used/flag)  Placebo p   RMSPE</a:t>
            </a:r>
            <a:endParaRPr lang="en-US" sz="950" dirty="0"/>
          </a:p>
        </p:txBody>
      </p:sp>
      <p:sp>
        <p:nvSpPr>
          <p:cNvPr id="11" name="Text 8"/>
          <p:cNvSpPr/>
          <p:nvPr/>
        </p:nvSpPr>
        <p:spPr>
          <a:xfrm>
            <a:off x="7406640" y="1938528"/>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Restaurants   42/4          0.158       26.4</a:t>
            </a:r>
            <a:endParaRPr lang="en-US" sz="950" dirty="0"/>
          </a:p>
        </p:txBody>
      </p:sp>
      <p:sp>
        <p:nvSpPr>
          <p:cNvPr id="12" name="Text 9"/>
          <p:cNvSpPr/>
          <p:nvPr/>
        </p:nvSpPr>
        <p:spPr>
          <a:xfrm>
            <a:off x="7406640" y="2267712"/>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Gyms          31/0          0.054       14.4</a:t>
            </a:r>
            <a:endParaRPr lang="en-US" sz="950" dirty="0"/>
          </a:p>
        </p:txBody>
      </p:sp>
      <p:sp>
        <p:nvSpPr>
          <p:cNvPr id="13" name="Text 10"/>
          <p:cNvSpPr/>
          <p:nvPr/>
        </p:nvSpPr>
        <p:spPr>
          <a:xfrm>
            <a:off x="7406640" y="2596896"/>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Bars          29/4          0.097       17.8</a:t>
            </a:r>
            <a:endParaRPr lang="en-US" sz="950" dirty="0"/>
          </a:p>
        </p:txBody>
      </p:sp>
      <p:sp>
        <p:nvSpPr>
          <p:cNvPr id="14" name="Text 11"/>
          <p:cNvSpPr/>
          <p:nvPr/>
        </p:nvSpPr>
        <p:spPr>
          <a:xfrm>
            <a:off x="7406640" y="2926080"/>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Waiting Rooms 20/0          0.106       8.3</a:t>
            </a:r>
            <a:endParaRPr lang="en-US" sz="950" dirty="0"/>
          </a:p>
        </p:txBody>
      </p:sp>
      <p:sp>
        <p:nvSpPr>
          <p:cNvPr id="15" name="Text 12"/>
          <p:cNvSpPr/>
          <p:nvPr/>
        </p:nvSpPr>
        <p:spPr>
          <a:xfrm>
            <a:off x="7406640" y="3328416"/>
            <a:ext cx="4206240" cy="914400"/>
          </a:xfrm>
          <a:prstGeom prst="rect">
            <a:avLst/>
          </a:prstGeom>
          <a:noFill/>
          <a:ln/>
        </p:spPr>
        <p:txBody>
          <a:bodyPr wrap="square" rtlCol="0" anchor="ctr"/>
          <a:lstStyle/>
          <a:p>
            <a:pPr indent="0" marL="0">
              <a:lnSpc>
                <a:spcPts val="1150"/>
              </a:lnSpc>
              <a:buNone/>
            </a:pPr>
            <a:r>
              <a:rPr lang="en-US" sz="900" dirty="0">
                <a:solidFill>
                  <a:srgbClr val="1A1A2E"/>
                </a:solidFill>
                <a:latin typeface="Calibri" pitchFamily="34" charset="0"/>
                <a:ea typeface="Calibri" pitchFamily="34" charset="-122"/>
                <a:cs typeface="Calibri" pitchFamily="34" charset="-120"/>
              </a:rPr>
              <a:t>Pre-period RMSPE (root mean squared prediction error) = √mean((actual − synthetic)²) over each venue's own pre-period weeks — how well the twin matches reality before treatment starts. Flagged (excluded from the bar) if RMSPE exceeds 2.5× its type's median — restaurants' high median (26.4) is why 4 of its 46 fits got flagged.</a:t>
            </a:r>
            <a:endParaRPr lang="en-US" sz="900" dirty="0"/>
          </a:p>
        </p:txBody>
      </p:sp>
      <p:sp>
        <p:nvSpPr>
          <p:cNvPr id="16" name="Text 13"/>
          <p:cNvSpPr/>
          <p:nvPr/>
        </p:nvSpPr>
        <p:spPr>
          <a:xfrm>
            <a:off x="7406640" y="4315968"/>
            <a:ext cx="4206240" cy="96012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In-space placebo test — substitutes for a p-value since synthetic control has no closed-form SE: rerun the identical fit on every never-activated donor, pretending each was treated. Placebo p = share of donor "fake effects" at least as extreme as the real one — restaurant's p=0.158 is the weakest signal (its worst-fitting type too); gym's p=0.054 the strongest.</a:t>
            </a:r>
            <a:endParaRPr lang="en-US" sz="900" dirty="0"/>
          </a:p>
        </p:txBody>
      </p:sp>
      <p:sp>
        <p:nvSpPr>
          <p:cNvPr id="17" name="Text 14"/>
          <p:cNvSpPr/>
          <p:nvPr/>
        </p:nvSpPr>
        <p:spPr>
          <a:xfrm>
            <a:off x="7406640" y="5367528"/>
            <a:ext cx="4206240" cy="292608"/>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Consistent with the RCT — not independently significant</a:t>
            </a:r>
            <a:endParaRPr lang="en-US" sz="1100" dirty="0"/>
          </a:p>
        </p:txBody>
      </p:sp>
      <p:sp>
        <p:nvSpPr>
          <p:cNvPr id="18" name="Text 15"/>
          <p:cNvSpPr/>
          <p:nvPr/>
        </p:nvSpPr>
        <p:spPr>
          <a:xfrm>
            <a:off x="7406640" y="5696712"/>
            <a:ext cx="4206240" cy="548640"/>
          </a:xfrm>
          <a:prstGeom prst="rect">
            <a:avLst/>
          </a:prstGeom>
          <a:noFill/>
          <a:ln/>
        </p:spPr>
        <p:txBody>
          <a:bodyPr wrap="square" rtlCol="0" anchor="ctr"/>
          <a:lstStyle/>
          <a:p>
            <a:pPr indent="0" marL="0">
              <a:lnSpc>
                <a:spcPts val="1100"/>
              </a:lnSpc>
              <a:buNone/>
            </a:pPr>
            <a:r>
              <a:rPr lang="en-US" sz="900" dirty="0">
                <a:solidFill>
                  <a:srgbClr val="1A1A2E"/>
                </a:solidFill>
                <a:latin typeface="Calibri" pitchFamily="34" charset="0"/>
                <a:ea typeface="Calibri" pitchFamily="34" charset="-122"/>
                <a:cs typeface="Calibri" pitchFamily="34" charset="-120"/>
              </a:rPr>
              <a:t>No type clears p&lt;0.05 alone (gyms closest, 0.054) — but every point estimate lands within ~1.3 of the RCT's own effect for that same type, on a completely different set of venues: real corroboration, just not from this test alone.</a:t>
            </a:r>
            <a:endParaRPr lang="en-US" sz="90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2286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3977640"/>
            <a:ext cx="6949440" cy="237744"/>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fit the shape, then pin the scale</a:t>
            </a:r>
            <a:endParaRPr lang="en-US" sz="1250" dirty="0"/>
          </a:p>
        </p:txBody>
      </p:sp>
      <p:sp>
        <p:nvSpPr>
          <p:cNvPr id="8" name="Text 5"/>
          <p:cNvSpPr/>
          <p:nvPr/>
        </p:nvSpPr>
        <p:spPr>
          <a:xfrm>
            <a:off x="548640" y="4233672"/>
            <a:ext cx="6949440" cy="1463040"/>
          </a:xfrm>
          <a:prstGeom prst="rect">
            <a:avLst/>
          </a:prstGeom>
          <a:noFill/>
          <a:ln/>
        </p:spPr>
        <p:txBody>
          <a:bodyPr wrap="square" rtlCol="0" anchor="ctr"/>
          <a:lstStyle/>
          <a:p>
            <a:pPr indent="0" marL="0">
              <a:lnSpc>
                <a:spcPts val="1080"/>
              </a:lnSpc>
              <a:buNone/>
            </a:pPr>
            <a:r>
              <a:rPr lang="en-US" sz="900" dirty="0">
                <a:solidFill>
                  <a:srgbClr val="1A1A2E"/>
                </a:solidFill>
                <a:latin typeface="Calibri" pitchFamily="34" charset="0"/>
                <a:ea typeface="Calibri" pitchFamily="34" charset="-122"/>
                <a:cs typeface="Calibri" pitchFamily="34" charset="-120"/>
              </a:rPr>
              <a:t>① Fit shape on the aggregate weekly series (all venues of this type, RCT + observational pooled together): adstock carries exposure forward week to week (adstock_t = freq_t + decay×adstock_{t−1}), then a Hill curve turns that into diminishing returns (sat(x) = x^shape / (x^shape + half^shape)). decay, half, and shape are grid-searched — 7 × 6 × 4 = 168 combinations — picking whichever minimizes squared error against actual weekly traffic (with trend + seasonality controls, plain OLS). This gives β_naive, the raw uncalibrated max-lift.</a:t>
            </a:r>
            <a:endParaRPr lang="en-US" sz="900" dirty="0"/>
          </a:p>
          <a:p>
            <a:pPr indent="0" marL="0">
              <a:lnSpc>
                <a:spcPts val="1080"/>
              </a:lnSpc>
              <a:buNone/>
            </a:pPr>
            <a:r>
              <a:rPr lang="en-US" sz="900" dirty="0">
                <a:solidFill>
                  <a:srgbClr val="1A1A2E"/>
                </a:solidFill>
                <a:latin typeface="Calibri" pitchFamily="34" charset="0"/>
                <a:ea typeface="Calibri" pitchFamily="34" charset="-122"/>
                <a:cs typeface="Calibri" pitchFamily="34" charset="-120"/>
              </a:rPr>
              <a:t>② Pin scale only, via the RCT: simulate the RCT's own exposure (6 plays/wk for 10 weeks) through this same fitted decay/saturation curve to get its implied saturation level, then rescale β so the model's predicted lift there matches the RCT's point estimate exactly. decay/half/shape stay exactly as fit in step ① — only β moves.</a:t>
            </a:r>
            <a:endParaRPr lang="en-US" sz="900" dirty="0"/>
          </a:p>
        </p:txBody>
      </p:sp>
      <p:sp>
        <p:nvSpPr>
          <p:cNvPr id="9" name="Text 6"/>
          <p:cNvSpPr/>
          <p:nvPr/>
        </p:nvSpPr>
        <p:spPr>
          <a:xfrm>
            <a:off x="548640" y="5742432"/>
            <a:ext cx="6949440" cy="658368"/>
          </a:xfrm>
          <a:prstGeom prst="rect">
            <a:avLst/>
          </a:prstGeom>
          <a:noFill/>
          <a:ln/>
        </p:spPr>
        <p:txBody>
          <a:bodyPr wrap="square" rtlCol="0" anchor="ctr"/>
          <a:lstStyle/>
          <a:p>
            <a:pPr indent="0" marL="0">
              <a:lnSpc>
                <a:spcPts val="1000"/>
              </a:lnSpc>
              <a:buNone/>
            </a:pPr>
            <a:r>
              <a:rPr lang="en-US" sz="830" i="1" dirty="0">
                <a:solidFill>
                  <a:srgbClr val="5B6178"/>
                </a:solidFill>
                <a:latin typeface="Calibri" pitchFamily="34" charset="0"/>
                <a:ea typeface="Calibri" pitchFamily="34" charset="-122"/>
                <a:cs typeface="Calibri" pitchFamily="34" charset="-120"/>
              </a:rPr>
              <a:t>Why the naive estimate undershoots: the aggregate series it's fit on is sparse — restaurants never average above ~2.6 plays/wk — versus the RCT's sustained 6 plays/wk. The fitted curve is extrapolated into that untested territory, where a Hill curve's convex early segment (Slide 12) tends to undersell the upside; pooling RCT and non-randomly-selected venues in the same aggregate fit adds further bias. The RCT measures that exposure directly, not by extrapolation.</a:t>
            </a:r>
            <a:endParaRPr lang="en-US" sz="830" dirty="0"/>
          </a:p>
        </p:txBody>
      </p:sp>
      <p:sp>
        <p:nvSpPr>
          <p:cNvPr id="10" name="Text 7"/>
          <p:cNvSpPr/>
          <p:nvPr/>
        </p:nvSpPr>
        <p:spPr>
          <a:xfrm>
            <a:off x="7772400" y="1600200"/>
            <a:ext cx="3840480" cy="274320"/>
          </a:xfrm>
          <a:prstGeom prst="rect">
            <a:avLst/>
          </a:prstGeom>
          <a:noFill/>
          <a:ln/>
        </p:spPr>
        <p:txBody>
          <a:bodyPr wrap="square" rtlCol="0" anchor="ctr"/>
          <a:lstStyle/>
          <a:p>
            <a:pPr indent="0" marL="0">
              <a:buNone/>
            </a:pPr>
            <a:r>
              <a:rPr lang="en-US" sz="1150" b="1" dirty="0">
                <a:solidFill>
                  <a:srgbClr val="1E2761"/>
                </a:solidFill>
                <a:latin typeface="Cambria" pitchFamily="34" charset="0"/>
                <a:ea typeface="Cambria" pitchFamily="34" charset="-122"/>
                <a:cs typeface="Cambria" pitchFamily="34" charset="-120"/>
              </a:rPr>
              <a:t>Calibration adjustment</a:t>
            </a:r>
            <a:endParaRPr lang="en-US" sz="1150" dirty="0"/>
          </a:p>
        </p:txBody>
      </p:sp>
      <p:sp>
        <p:nvSpPr>
          <p:cNvPr id="11" name="Text 8"/>
          <p:cNvSpPr/>
          <p:nvPr/>
        </p:nvSpPr>
        <p:spPr>
          <a:xfrm>
            <a:off x="7772400" y="1947672"/>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Restaurants</a:t>
            </a:r>
            <a:endParaRPr lang="en-US" sz="1100" dirty="0"/>
          </a:p>
        </p:txBody>
      </p:sp>
      <p:sp>
        <p:nvSpPr>
          <p:cNvPr id="12" name="Text 9"/>
          <p:cNvSpPr/>
          <p:nvPr/>
        </p:nvSpPr>
        <p:spPr>
          <a:xfrm>
            <a:off x="9509760" y="1947672"/>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+134%</a:t>
            </a:r>
            <a:endParaRPr lang="en-US" sz="1500" dirty="0"/>
          </a:p>
        </p:txBody>
      </p:sp>
      <p:sp>
        <p:nvSpPr>
          <p:cNvPr id="13" name="Text 10"/>
          <p:cNvSpPr/>
          <p:nvPr/>
        </p:nvSpPr>
        <p:spPr>
          <a:xfrm>
            <a:off x="7772400" y="2350008"/>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Gyms</a:t>
            </a:r>
            <a:endParaRPr lang="en-US" sz="1100" dirty="0"/>
          </a:p>
        </p:txBody>
      </p:sp>
      <p:sp>
        <p:nvSpPr>
          <p:cNvPr id="14" name="Text 11"/>
          <p:cNvSpPr/>
          <p:nvPr/>
        </p:nvSpPr>
        <p:spPr>
          <a:xfrm>
            <a:off x="9509760" y="2350008"/>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+165%</a:t>
            </a:r>
            <a:endParaRPr lang="en-US" sz="1500" dirty="0"/>
          </a:p>
        </p:txBody>
      </p:sp>
      <p:sp>
        <p:nvSpPr>
          <p:cNvPr id="15" name="Text 12"/>
          <p:cNvSpPr/>
          <p:nvPr/>
        </p:nvSpPr>
        <p:spPr>
          <a:xfrm>
            <a:off x="7772400" y="2752344"/>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Bars</a:t>
            </a:r>
            <a:endParaRPr lang="en-US" sz="1100" dirty="0"/>
          </a:p>
        </p:txBody>
      </p:sp>
      <p:sp>
        <p:nvSpPr>
          <p:cNvPr id="16" name="Text 13"/>
          <p:cNvSpPr/>
          <p:nvPr/>
        </p:nvSpPr>
        <p:spPr>
          <a:xfrm>
            <a:off x="9509760" y="2752344"/>
            <a:ext cx="2103120" cy="384048"/>
          </a:xfrm>
          <a:prstGeom prst="rect">
            <a:avLst/>
          </a:prstGeom>
          <a:noFill/>
          <a:ln/>
        </p:spPr>
        <p:txBody>
          <a:bodyPr wrap="square" rtlCol="0" anchor="ctr"/>
          <a:lstStyle/>
          <a:p>
            <a:pPr indent="0" marL="0">
              <a:buNone/>
            </a:pPr>
            <a:r>
              <a:rPr lang="en-US" sz="1500" b="1" dirty="0">
                <a:solidFill>
                  <a:srgbClr val="2C7A57"/>
                </a:solidFill>
                <a:latin typeface="Calibri" pitchFamily="34" charset="0"/>
                <a:ea typeface="Calibri" pitchFamily="34" charset="-122"/>
                <a:cs typeface="Calibri" pitchFamily="34" charset="-120"/>
              </a:rPr>
              <a:t>+20%</a:t>
            </a:r>
            <a:endParaRPr lang="en-US" sz="1500" dirty="0"/>
          </a:p>
        </p:txBody>
      </p:sp>
      <p:sp>
        <p:nvSpPr>
          <p:cNvPr id="17" name="Text 14"/>
          <p:cNvSpPr/>
          <p:nvPr/>
        </p:nvSpPr>
        <p:spPr>
          <a:xfrm>
            <a:off x="7772400" y="3154680"/>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Waiting Rooms</a:t>
            </a:r>
            <a:endParaRPr lang="en-US" sz="1100" dirty="0"/>
          </a:p>
        </p:txBody>
      </p:sp>
      <p:sp>
        <p:nvSpPr>
          <p:cNvPr id="18" name="Text 15"/>
          <p:cNvSpPr/>
          <p:nvPr/>
        </p:nvSpPr>
        <p:spPr>
          <a:xfrm>
            <a:off x="9509760" y="3154680"/>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+100%</a:t>
            </a:r>
            <a:endParaRPr lang="en-US" sz="1500" dirty="0"/>
          </a:p>
        </p:txBody>
      </p:sp>
      <p:sp>
        <p:nvSpPr>
          <p:cNvPr id="19" name="Text 16"/>
          <p:cNvSpPr/>
          <p:nvPr/>
        </p:nvSpPr>
        <p:spPr>
          <a:xfrm>
            <a:off x="7772400" y="3685032"/>
            <a:ext cx="3840480" cy="256032"/>
          </a:xfrm>
          <a:prstGeom prst="rect">
            <a:avLst/>
          </a:prstGeom>
          <a:noFill/>
          <a:ln/>
        </p:spPr>
        <p:txBody>
          <a:bodyPr wrap="square" rtlCol="0" anchor="ctr"/>
          <a:lstStyle/>
          <a:p>
            <a:pPr indent="0" marL="0">
              <a:buNone/>
            </a:pPr>
            <a:r>
              <a:rPr lang="en-US" sz="1050" b="1" dirty="0">
                <a:solidFill>
                  <a:srgbClr val="1E2761"/>
                </a:solidFill>
                <a:latin typeface="Cambria" pitchFamily="34" charset="0"/>
                <a:ea typeface="Cambria" pitchFamily="34" charset="-122"/>
                <a:cs typeface="Cambria" pitchFamily="34" charset="-120"/>
              </a:rPr>
              <a:t>Worked example: restaurant's β, step by step</a:t>
            </a:r>
            <a:endParaRPr lang="en-US" sz="1050" dirty="0"/>
          </a:p>
        </p:txBody>
      </p:sp>
      <p:sp>
        <p:nvSpPr>
          <p:cNvPr id="20" name="Text 17"/>
          <p:cNvSpPr/>
          <p:nvPr/>
        </p:nvSpPr>
        <p:spPr>
          <a:xfrm>
            <a:off x="7772400" y="3977640"/>
            <a:ext cx="3840480" cy="1188720"/>
          </a:xfrm>
          <a:prstGeom prst="rect">
            <a:avLst/>
          </a:prstGeom>
          <a:noFill/>
          <a:ln/>
        </p:spPr>
        <p:txBody>
          <a:bodyPr wrap="square" rtlCol="0" anchor="ctr"/>
          <a:lstStyle/>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RCT design:      6 plays/wk × 10 wks</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Adstock (decay .7): 6.0→10.2→13.1→…→19.4</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Saturation (half 6, shape 3): .50→.83→.91→…→.97, avg≈0.90</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Naive predicts:  7.97 × 0.90 ≈ 7.2</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RCT measured:   16.79 (real, from Slide 7)</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Calibrated β:   16.79 ÷ 0.90 ≈ 18.7</a:t>
            </a:r>
            <a:endParaRPr lang="en-US" sz="870" dirty="0"/>
          </a:p>
        </p:txBody>
      </p:sp>
      <p:sp>
        <p:nvSpPr>
          <p:cNvPr id="21" name="Text 18"/>
          <p:cNvSpPr/>
          <p:nvPr/>
        </p:nvSpPr>
        <p:spPr>
          <a:xfrm>
            <a:off x="7772400" y="5276088"/>
            <a:ext cx="3840480" cy="91440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Only β is rescaled — decay/half/shape stay exactly as fit in step ①. calibration_adjustment_pct is just (β_calibrated − β_naive) ÷ β_naive: (18.69 − 7.97) ÷ 7.97 ≈ +134%, the number shown for restaurants above.</a:t>
            </a:r>
            <a:endParaRPr lang="en-US" sz="900" dirty="0"/>
          </a:p>
        </p:txBody>
      </p:sp>
      <p:sp>
        <p:nvSpPr>
          <p:cNvPr id="22" name="Text 1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Why calibrate only one of eight parameters?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continued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The MMM regression has 8 free parameters. One RCT arm gives exactly one clean number — enough to calibrate exactly one of them.</a:t>
            </a:r>
            <a:endParaRPr lang="en-US" sz="1250" dirty="0"/>
          </a:p>
        </p:txBody>
      </p:sp>
      <p:sp>
        <p:nvSpPr>
          <p:cNvPr id="6" name="Text 4"/>
          <p:cNvSpPr/>
          <p:nvPr/>
        </p:nvSpPr>
        <p:spPr>
          <a:xfrm>
            <a:off x="548640" y="1508760"/>
            <a:ext cx="694944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The regression, in full</a:t>
            </a:r>
            <a:endParaRPr lang="en-US" sz="1250" dirty="0"/>
          </a:p>
        </p:txBody>
      </p:sp>
      <p:sp>
        <p:nvSpPr>
          <p:cNvPr id="7" name="Text 5"/>
          <p:cNvSpPr/>
          <p:nvPr/>
        </p:nvSpPr>
        <p:spPr>
          <a:xfrm>
            <a:off x="548640" y="1783080"/>
            <a:ext cx="6949440" cy="1234440"/>
          </a:xfrm>
          <a:prstGeom prst="rect">
            <a:avLst/>
          </a:prstGeom>
          <a:noFill/>
          <a:ln/>
        </p:spPr>
        <p:txBody>
          <a:bodyPr wrap="square" rtlCol="0" anchor="ctr"/>
          <a:lstStyle/>
          <a:p>
            <a:pPr indent="0" marL="0">
              <a:lnSpc>
                <a:spcPts val="1300"/>
              </a:lnSpc>
              <a:buNone/>
            </a:pPr>
            <a:r>
              <a:rPr lang="en-US" sz="930" dirty="0">
                <a:solidFill>
                  <a:srgbClr val="1A1A2E"/>
                </a:solidFill>
                <a:latin typeface="Courier New" pitchFamily="34" charset="0"/>
                <a:ea typeface="Courier New" pitchFamily="34" charset="-122"/>
                <a:cs typeface="Courier New" pitchFamily="34" charset="-120"/>
              </a:rPr>
              <a:t>adstock_t  = freq_t + decay·adstock_(t−1)</a:t>
            </a:r>
            <a:endParaRPr lang="en-US" sz="930" dirty="0"/>
          </a:p>
          <a:p>
            <a:pPr indent="0" marL="0">
              <a:lnSpc>
                <a:spcPts val="1300"/>
              </a:lnSpc>
              <a:buNone/>
            </a:pPr>
            <a:r>
              <a:rPr lang="en-US" sz="930" dirty="0">
                <a:solidFill>
                  <a:srgbClr val="1A1A2E"/>
                </a:solidFill>
                <a:latin typeface="Courier New" pitchFamily="34" charset="0"/>
                <a:ea typeface="Courier New" pitchFamily="34" charset="-122"/>
                <a:cs typeface="Courier New" pitchFamily="34" charset="-120"/>
              </a:rPr>
              <a:t>sat(x)     = x^shape ÷ (x^shape + half^shape)</a:t>
            </a:r>
            <a:endParaRPr lang="en-US" sz="930" dirty="0"/>
          </a:p>
          <a:p>
            <a:pPr indent="0" marL="0">
              <a:lnSpc>
                <a:spcPts val="1300"/>
              </a:lnSpc>
              <a:buNone/>
            </a:pPr>
            <a:r>
              <a:rPr lang="en-US" sz="930" dirty="0">
                <a:solidFill>
                  <a:srgbClr val="1A1A2E"/>
                </a:solidFill>
                <a:latin typeface="Courier New" pitchFamily="34" charset="0"/>
                <a:ea typeface="Courier New" pitchFamily="34" charset="-122"/>
                <a:cs typeface="Courier New" pitchFamily="34" charset="-120"/>
              </a:rPr>
              <a:t>traffic_t  = β · sat(adstock_t)</a:t>
            </a:r>
            <a:endParaRPr lang="en-US" sz="930" dirty="0"/>
          </a:p>
          <a:p>
            <a:pPr indent="0" marL="0">
              <a:lnSpc>
                <a:spcPts val="1300"/>
              </a:lnSpc>
              <a:buNone/>
            </a:pPr>
            <a:r>
              <a:rPr lang="en-US" sz="930" dirty="0">
                <a:solidFill>
                  <a:srgbClr val="1A1A2E"/>
                </a:solidFill>
                <a:latin typeface="Courier New" pitchFamily="34" charset="0"/>
                <a:ea typeface="Courier New" pitchFamily="34" charset="-122"/>
                <a:cs typeface="Courier New" pitchFamily="34" charset="-120"/>
              </a:rPr>
              <a:t>           + trend_coef · week_t</a:t>
            </a:r>
            <a:endParaRPr lang="en-US" sz="930" dirty="0"/>
          </a:p>
          <a:p>
            <a:pPr indent="0" marL="0">
              <a:lnSpc>
                <a:spcPts val="1300"/>
              </a:lnSpc>
              <a:buNone/>
            </a:pPr>
            <a:r>
              <a:rPr lang="en-US" sz="930" dirty="0">
                <a:solidFill>
                  <a:srgbClr val="1A1A2E"/>
                </a:solidFill>
                <a:latin typeface="Courier New" pitchFamily="34" charset="0"/>
                <a:ea typeface="Courier New" pitchFamily="34" charset="-122"/>
                <a:cs typeface="Courier New" pitchFamily="34" charset="-120"/>
              </a:rPr>
              <a:t>           + season_sin_coef · sin(2π·week_t /52)</a:t>
            </a:r>
            <a:endParaRPr lang="en-US" sz="930" dirty="0"/>
          </a:p>
          <a:p>
            <a:pPr indent="0" marL="0">
              <a:lnSpc>
                <a:spcPts val="1300"/>
              </a:lnSpc>
              <a:buNone/>
            </a:pPr>
            <a:r>
              <a:rPr lang="en-US" sz="930" dirty="0">
                <a:solidFill>
                  <a:srgbClr val="1A1A2E"/>
                </a:solidFill>
                <a:latin typeface="Courier New" pitchFamily="34" charset="0"/>
                <a:ea typeface="Courier New" pitchFamily="34" charset="-122"/>
                <a:cs typeface="Courier New" pitchFamily="34" charset="-120"/>
              </a:rPr>
              <a:t>           + season_cos_coef · cos(2π·week_t /52)</a:t>
            </a:r>
            <a:endParaRPr lang="en-US" sz="930" dirty="0"/>
          </a:p>
          <a:p>
            <a:pPr indent="0" marL="0">
              <a:lnSpc>
                <a:spcPts val="1300"/>
              </a:lnSpc>
              <a:buNone/>
            </a:pPr>
            <a:r>
              <a:rPr lang="en-US" sz="930" dirty="0">
                <a:solidFill>
                  <a:srgbClr val="1A1A2E"/>
                </a:solidFill>
                <a:latin typeface="Courier New" pitchFamily="34" charset="0"/>
                <a:ea typeface="Courier New" pitchFamily="34" charset="-122"/>
                <a:cs typeface="Courier New" pitchFamily="34" charset="-120"/>
              </a:rPr>
              <a:t>           + intercept</a:t>
            </a:r>
            <a:endParaRPr lang="en-US" sz="930" dirty="0"/>
          </a:p>
        </p:txBody>
      </p:sp>
      <p:sp>
        <p:nvSpPr>
          <p:cNvPr id="8" name="Text 6"/>
          <p:cNvSpPr/>
          <p:nvPr/>
        </p:nvSpPr>
        <p:spPr>
          <a:xfrm>
            <a:off x="548640" y="3127248"/>
            <a:ext cx="694944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why only β is RCT-calibrated</a:t>
            </a:r>
            <a:endParaRPr lang="en-US" sz="1250" dirty="0"/>
          </a:p>
        </p:txBody>
      </p:sp>
      <p:sp>
        <p:nvSpPr>
          <p:cNvPr id="9" name="Text 7"/>
          <p:cNvSpPr/>
          <p:nvPr/>
        </p:nvSpPr>
        <p:spPr>
          <a:xfrm>
            <a:off x="548640" y="3429000"/>
            <a:ext cx="6949440" cy="2880360"/>
          </a:xfrm>
          <a:prstGeom prst="rect">
            <a:avLst/>
          </a:prstGeom>
          <a:noFill/>
          <a:ln/>
        </p:spPr>
        <p:txBody>
          <a:bodyPr wrap="square" rtlCol="0" anchor="ctr"/>
          <a:lstStyle/>
          <a:p>
            <a:pPr indent="0" marL="0">
              <a:lnSpc>
                <a:spcPts val="1300"/>
              </a:lnSpc>
              <a:buNone/>
            </a:pPr>
            <a:r>
              <a:rPr lang="en-US" sz="980" dirty="0">
                <a:solidFill>
                  <a:srgbClr val="1A1A2E"/>
                </a:solidFill>
                <a:latin typeface="Calibri" pitchFamily="34" charset="0"/>
                <a:ea typeface="Calibri" pitchFamily="34" charset="-122"/>
                <a:cs typeface="Calibri" pitchFamily="34" charset="-120"/>
              </a:rPr>
              <a:t>① One RCT arm supplies exactly one clean number — a single measured average lift at one exposure design. That's enough information to pin down exactly one free parameter without the fit becoming underdetermined.</a:t>
            </a:r>
            <a:endParaRPr lang="en-US" sz="980" dirty="0"/>
          </a:p>
          <a:p>
            <a:pPr indent="0" marL="0">
              <a:lnSpc>
                <a:spcPts val="1300"/>
              </a:lnSpc>
              <a:buNone/>
            </a:pPr>
            <a:r>
              <a:rPr lang="en-US" sz="980" dirty="0">
                <a:solidFill>
                  <a:srgbClr val="1A1A2E"/>
                </a:solidFill>
                <a:latin typeface="Calibri" pitchFamily="34" charset="0"/>
                <a:ea typeface="Calibri" pitchFamily="34" charset="-122"/>
                <a:cs typeface="Calibri" pitchFamily="34" charset="-120"/>
              </a:rPr>
              <a:t>② trend_coef, season_sin_coef, season_cos_coef, and the intercept are nuisance controls, not causal targets. Randomization balances them between the RCT's treatment and control arms — it doesn't estimate what their true values are, so there's nothing for the RCT to calibrate there.</a:t>
            </a:r>
            <a:endParaRPr lang="en-US" sz="980" dirty="0"/>
          </a:p>
          <a:p>
            <a:pPr indent="0" marL="0">
              <a:lnSpc>
                <a:spcPts val="1300"/>
              </a:lnSpc>
              <a:buNone/>
            </a:pPr>
            <a:r>
              <a:rPr lang="en-US" sz="980" dirty="0">
                <a:solidFill>
                  <a:srgbClr val="1A1A2E"/>
                </a:solidFill>
                <a:latin typeface="Calibri" pitchFamily="34" charset="0"/>
                <a:ea typeface="Calibri" pitchFamily="34" charset="-122"/>
                <a:cs typeface="Calibri" pitchFamily="34" charset="-120"/>
              </a:rPr>
              <a:t>③ decay, half, and shape describe the curve's dynamics — how fast memory fades, where it saturates, how steep the climb is. These are identified from the much richer week-to-week variation across the whole aggregate series, not from a single experimental anchor.</a:t>
            </a:r>
            <a:endParaRPr lang="en-US" sz="980" dirty="0"/>
          </a:p>
          <a:p>
            <a:pPr indent="0" marL="0">
              <a:lnSpc>
                <a:spcPts val="1300"/>
              </a:lnSpc>
              <a:buNone/>
            </a:pPr>
            <a:r>
              <a:rPr lang="en-US" sz="980" dirty="0">
                <a:solidFill>
                  <a:srgbClr val="1A1A2E"/>
                </a:solidFill>
                <a:latin typeface="Calibri" pitchFamily="34" charset="0"/>
                <a:ea typeface="Calibri" pitchFamily="34" charset="-122"/>
                <a:cs typeface="Calibri" pitchFamily="34" charset="-120"/>
              </a:rPr>
              <a:t>④ β (the media/scale coefficient) is exactly the piece most exposed to endogeneity: this aggregate series pools RCT venues with non-randomly-selected observational ones. Its overall level is the one thing a single clean causal estimate both can, and should, correct.</a:t>
            </a:r>
            <a:endParaRPr lang="en-US" sz="980" dirty="0"/>
          </a:p>
        </p:txBody>
      </p:sp>
      <p:sp>
        <p:nvSpPr>
          <p:cNvPr id="10" name="Text 8"/>
          <p:cNvSpPr/>
          <p:nvPr/>
        </p:nvSpPr>
        <p:spPr>
          <a:xfrm>
            <a:off x="7772400" y="1508760"/>
            <a:ext cx="3931920" cy="274320"/>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8 free parameters, one RCT anchor</a:t>
            </a:r>
            <a:endParaRPr lang="en-US" sz="1250" dirty="0"/>
          </a:p>
        </p:txBody>
      </p:sp>
      <p:sp>
        <p:nvSpPr>
          <p:cNvPr id="11" name="Shape 9"/>
          <p:cNvSpPr/>
          <p:nvPr/>
        </p:nvSpPr>
        <p:spPr>
          <a:xfrm>
            <a:off x="7772400" y="1874520"/>
            <a:ext cx="3931920" cy="1783080"/>
          </a:xfrm>
          <a:prstGeom prst="roundRect">
            <a:avLst>
              <a:gd name="adj" fmla="val 3590"/>
            </a:avLst>
          </a:prstGeom>
          <a:solidFill>
            <a:srgbClr val="F5F7FC"/>
          </a:solidFill>
          <a:ln/>
        </p:spPr>
      </p:sp>
      <p:sp>
        <p:nvSpPr>
          <p:cNvPr id="12" name="Text 10"/>
          <p:cNvSpPr/>
          <p:nvPr/>
        </p:nvSpPr>
        <p:spPr>
          <a:xfrm>
            <a:off x="8001000" y="1993392"/>
            <a:ext cx="3474720" cy="27432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5 linear coefficients (OLS)</a:t>
            </a:r>
            <a:endParaRPr lang="en-US" sz="1100" dirty="0"/>
          </a:p>
        </p:txBody>
      </p:sp>
      <p:sp>
        <p:nvSpPr>
          <p:cNvPr id="13" name="Text 11"/>
          <p:cNvSpPr/>
          <p:nvPr/>
        </p:nvSpPr>
        <p:spPr>
          <a:xfrm>
            <a:off x="8001000" y="2331720"/>
            <a:ext cx="3474720" cy="1234440"/>
          </a:xfrm>
          <a:prstGeom prst="rect">
            <a:avLst/>
          </a:prstGeom>
          <a:noFill/>
          <a:ln/>
        </p:spPr>
        <p:txBody>
          <a:bodyPr wrap="square" rtlCol="0" anchor="ctr"/>
          <a:lstStyle/>
          <a:p>
            <a:pPr indent="0" marL="0">
              <a:lnSpc>
                <a:spcPts val="1650"/>
              </a:lnSpc>
              <a:buNone/>
            </a:pPr>
            <a:r>
              <a:rPr lang="en-US" sz="1030" b="1" dirty="0">
                <a:solidFill>
                  <a:srgbClr val="B8500A"/>
                </a:solidFill>
                <a:latin typeface="Courier New" pitchFamily="34" charset="0"/>
                <a:ea typeface="Courier New" pitchFamily="34" charset="-122"/>
                <a:cs typeface="Courier New" pitchFamily="34" charset="-120"/>
              </a:rPr>
              <a:t>β_media  ← RCT-calibrated
</a:t>
            </a:r>
            <a:pPr indent="0" marL="0">
              <a:lnSpc>
                <a:spcPts val="1650"/>
              </a:lnSpc>
              <a:buNone/>
            </a:pPr>
            <a:r>
              <a:rPr lang="en-US" sz="1030" dirty="0">
                <a:solidFill>
                  <a:srgbClr val="1A1A2E"/>
                </a:solidFill>
                <a:latin typeface="Courier New" pitchFamily="34" charset="0"/>
                <a:ea typeface="Courier New" pitchFamily="34" charset="-122"/>
                <a:cs typeface="Courier New" pitchFamily="34" charset="-120"/>
              </a:rPr>
              <a:t>trend_coef</a:t>
            </a:r>
            <a:endParaRPr lang="en-US" sz="1030" dirty="0"/>
          </a:p>
          <a:p>
            <a:pPr indent="0" marL="0">
              <a:lnSpc>
                <a:spcPts val="1650"/>
              </a:lnSpc>
              <a:buNone/>
            </a:pPr>
            <a:r>
              <a:rPr lang="en-US" sz="1030" dirty="0">
                <a:solidFill>
                  <a:srgbClr val="1A1A2E"/>
                </a:solidFill>
                <a:latin typeface="Courier New" pitchFamily="34" charset="0"/>
                <a:ea typeface="Courier New" pitchFamily="34" charset="-122"/>
                <a:cs typeface="Courier New" pitchFamily="34" charset="-120"/>
              </a:rPr>
              <a:t>season_sin_coef</a:t>
            </a:r>
            <a:endParaRPr lang="en-US" sz="1030" dirty="0"/>
          </a:p>
          <a:p>
            <a:pPr indent="0" marL="0">
              <a:lnSpc>
                <a:spcPts val="1650"/>
              </a:lnSpc>
              <a:buNone/>
            </a:pPr>
            <a:r>
              <a:rPr lang="en-US" sz="1030" dirty="0">
                <a:solidFill>
                  <a:srgbClr val="1A1A2E"/>
                </a:solidFill>
                <a:latin typeface="Courier New" pitchFamily="34" charset="0"/>
                <a:ea typeface="Courier New" pitchFamily="34" charset="-122"/>
                <a:cs typeface="Courier New" pitchFamily="34" charset="-120"/>
              </a:rPr>
              <a:t>season_cos_coef</a:t>
            </a:r>
            <a:endParaRPr lang="en-US" sz="1030" dirty="0"/>
          </a:p>
          <a:p>
            <a:pPr indent="0" marL="0">
              <a:lnSpc>
                <a:spcPts val="1650"/>
              </a:lnSpc>
              <a:buNone/>
            </a:pPr>
            <a:r>
              <a:rPr lang="en-US" sz="1030" dirty="0">
                <a:solidFill>
                  <a:srgbClr val="1A1A2E"/>
                </a:solidFill>
                <a:latin typeface="Courier New" pitchFamily="34" charset="0"/>
                <a:ea typeface="Courier New" pitchFamily="34" charset="-122"/>
                <a:cs typeface="Courier New" pitchFamily="34" charset="-120"/>
              </a:rPr>
              <a:t>intercept</a:t>
            </a:r>
            <a:endParaRPr lang="en-US" sz="1030" dirty="0"/>
          </a:p>
        </p:txBody>
      </p:sp>
      <p:sp>
        <p:nvSpPr>
          <p:cNvPr id="14" name="Shape 12"/>
          <p:cNvSpPr/>
          <p:nvPr/>
        </p:nvSpPr>
        <p:spPr>
          <a:xfrm>
            <a:off x="7772400" y="3794760"/>
            <a:ext cx="3931920" cy="1234440"/>
          </a:xfrm>
          <a:prstGeom prst="roundRect">
            <a:avLst>
              <a:gd name="adj" fmla="val 5185"/>
            </a:avLst>
          </a:prstGeom>
          <a:solidFill>
            <a:srgbClr val="FDF1E3"/>
          </a:solidFill>
          <a:ln/>
        </p:spPr>
      </p:sp>
      <p:sp>
        <p:nvSpPr>
          <p:cNvPr id="15" name="Text 13"/>
          <p:cNvSpPr/>
          <p:nvPr/>
        </p:nvSpPr>
        <p:spPr>
          <a:xfrm>
            <a:off x="8001000" y="3913632"/>
            <a:ext cx="3474720" cy="274320"/>
          </a:xfrm>
          <a:prstGeom prst="rect">
            <a:avLst/>
          </a:prstGeom>
          <a:noFill/>
          <a:ln/>
        </p:spPr>
        <p:txBody>
          <a:bodyPr wrap="square" rtlCol="0" anchor="ctr"/>
          <a:lstStyle/>
          <a:p>
            <a:pPr indent="0" marL="0">
              <a:buNone/>
            </a:pPr>
            <a:r>
              <a:rPr lang="en-US" sz="1030" b="1" dirty="0">
                <a:solidFill>
                  <a:srgbClr val="8A4B0A"/>
                </a:solidFill>
                <a:latin typeface="Cambria" pitchFamily="34" charset="0"/>
                <a:ea typeface="Cambria" pitchFamily="34" charset="-122"/>
                <a:cs typeface="Cambria" pitchFamily="34" charset="-120"/>
              </a:rPr>
              <a:t>3 shape hyperparameters (grid search)</a:t>
            </a:r>
            <a:endParaRPr lang="en-US" sz="1030" dirty="0"/>
          </a:p>
        </p:txBody>
      </p:sp>
      <p:sp>
        <p:nvSpPr>
          <p:cNvPr id="16" name="Text 14"/>
          <p:cNvSpPr/>
          <p:nvPr/>
        </p:nvSpPr>
        <p:spPr>
          <a:xfrm>
            <a:off x="8001000" y="4224528"/>
            <a:ext cx="3474720" cy="749808"/>
          </a:xfrm>
          <a:prstGeom prst="rect">
            <a:avLst/>
          </a:prstGeom>
          <a:noFill/>
          <a:ln/>
        </p:spPr>
        <p:txBody>
          <a:bodyPr wrap="square" rtlCol="0" anchor="ctr"/>
          <a:lstStyle/>
          <a:p>
            <a:pPr indent="0" marL="0">
              <a:lnSpc>
                <a:spcPts val="1250"/>
              </a:lnSpc>
              <a:buNone/>
            </a:pPr>
            <a:r>
              <a:rPr lang="en-US" sz="970" dirty="0">
                <a:solidFill>
                  <a:srgbClr val="8A4B0A"/>
                </a:solidFill>
                <a:latin typeface="Calibri" pitchFamily="34" charset="0"/>
                <a:ea typeface="Calibri" pitchFamily="34" charset="-122"/>
                <a:cs typeface="Calibri" pitchFamily="34" charset="-120"/>
              </a:rPr>
              <a:t>decay · half · shape</a:t>
            </a:r>
            <a:endParaRPr lang="en-US" sz="970" dirty="0"/>
          </a:p>
          <a:p>
            <a:pPr indent="0" marL="0">
              <a:lnSpc>
                <a:spcPts val="1250"/>
              </a:lnSpc>
              <a:buNone/>
            </a:pPr>
            <a:r>
              <a:rPr lang="en-US" sz="970" dirty="0">
                <a:solidFill>
                  <a:srgbClr val="8A4B0A"/>
                </a:solidFill>
                <a:latin typeface="Calibri" pitchFamily="34" charset="0"/>
                <a:ea typeface="Calibri" pitchFamily="34" charset="-122"/>
                <a:cs typeface="Calibri" pitchFamily="34" charset="-120"/>
              </a:rPr>
              <a:t>Fit from the aggregate time series (168-combo grid search), not the RCT anchor.</a:t>
            </a:r>
            <a:endParaRPr lang="en-US" sz="970" dirty="0"/>
          </a:p>
        </p:txBody>
      </p:sp>
      <p:sp>
        <p:nvSpPr>
          <p:cNvPr id="17" name="Text 15"/>
          <p:cNvSpPr/>
          <p:nvPr/>
        </p:nvSpPr>
        <p:spPr>
          <a:xfrm>
            <a:off x="7772400" y="5257800"/>
            <a:ext cx="3931920" cy="96012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One RCT arm → one calibrated parameter. Calibrating the curve's shape too would need RCT arms at multiple exposure levels — a bigger, costlier experiment design than the single geo-holdout test used here (Slide 6).</a:t>
            </a:r>
            <a:endParaRPr lang="en-US" sz="900" dirty="0"/>
          </a:p>
        </p:txBody>
      </p:sp>
      <p:sp>
        <p:nvSpPr>
          <p:cNvPr id="18"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why one parameter</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Why a greedy allocator can lose to equal-split</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motivation · Answers Q2</a:t>
            </a:r>
            <a:endParaRPr lang="en-US" sz="950" dirty="0"/>
          </a:p>
        </p:txBody>
      </p:sp>
      <p:sp>
        <p:nvSpPr>
          <p:cNvPr id="5" name="Text 3"/>
          <p:cNvSpPr/>
          <p:nvPr/>
        </p:nvSpPr>
        <p:spPr>
          <a:xfrm>
            <a:off x="548640" y="1005840"/>
            <a:ext cx="10972800" cy="411480"/>
          </a:xfrm>
          <a:prstGeom prst="rect">
            <a:avLst/>
          </a:prstGeom>
          <a:noFill/>
          <a:ln/>
        </p:spPr>
        <p:txBody>
          <a:bodyPr wrap="square" rtlCol="0" anchor="ctr"/>
          <a:lstStyle/>
          <a:p>
            <a:pPr indent="0" marL="0">
              <a:lnSpc>
                <a:spcPts val="1400"/>
              </a:lnSpc>
              <a:buNone/>
            </a:pPr>
            <a:r>
              <a:rPr lang="en-US" sz="1200" i="1" dirty="0">
                <a:solidFill>
                  <a:srgbClr val="5B6178"/>
                </a:solidFill>
                <a:latin typeface="Calibri" pitchFamily="34" charset="0"/>
                <a:ea typeface="Calibri" pitchFamily="34" charset="-122"/>
                <a:cs typeface="Calibri" pitchFamily="34" charset="-120"/>
              </a:rPr>
              <a:t>A Hill/S-curve (shape &gt; 1, as fit here) is convex before its inflection point — the next dollar's marginal return isn't monotonically falling, so "chase today's best marginal $" can get stuck.</a:t>
            </a:r>
            <a:endParaRPr lang="en-US" sz="1200" dirty="0"/>
          </a:p>
        </p:txBody>
      </p:sp>
      <p:graphicFrame>
        <p:nvGraphicFramePr>
          <p:cNvPr id="6" name="Chart 0" descr=""/>
          <p:cNvGraphicFramePr/>
          <p:nvPr/>
        </p:nvGraphicFramePr>
        <p:xfrm>
          <a:off x="548640" y="1600200"/>
          <a:ext cx="6583680" cy="3063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754880"/>
            <a:ext cx="6583680" cy="14173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This real curve (restaurant, from this deck's own calibrated MMM) is convex up to ~freq 1.0–1.5, concave after. At very low frequency every venue type's next dollar buys almost nothing — still in the flat, convex trough — so a rule comparing "which type's next dollar looks best right now" can't see that committing a lump sum to ONE type would pay off later. It only sees today's small, similar-looking numbers.</a:t>
            </a:r>
            <a:endParaRPr lang="en-US" sz="1000" dirty="0"/>
          </a:p>
        </p:txBody>
      </p:sp>
      <p:sp>
        <p:nvSpPr>
          <p:cNvPr id="8" name="Text 5"/>
          <p:cNvSpPr/>
          <p:nvPr/>
        </p:nvSpPr>
        <p:spPr>
          <a:xfrm>
            <a:off x="7406640" y="1600200"/>
            <a:ext cx="4206240" cy="365760"/>
          </a:xfrm>
          <a:prstGeom prst="rect">
            <a:avLst/>
          </a:prstGeom>
          <a:noFill/>
          <a:ln/>
        </p:spPr>
        <p:txBody>
          <a:bodyPr wrap="square" rtlCol="0" anchor="ctr"/>
          <a:lstStyle/>
          <a:p>
            <a:pPr indent="0" marL="0">
              <a:lnSpc>
                <a:spcPts val="1400"/>
              </a:lnSpc>
              <a:buNone/>
            </a:pPr>
            <a:r>
              <a:rPr lang="en-US" sz="1200" b="1" dirty="0">
                <a:solidFill>
                  <a:srgbClr val="1E2761"/>
                </a:solidFill>
                <a:latin typeface="Cambria" pitchFamily="34" charset="0"/>
                <a:ea typeface="Cambria" pitchFamily="34" charset="-122"/>
                <a:cs typeface="Cambria" pitchFamily="34" charset="-120"/>
              </a:rPr>
              <a:t>At freq ≈ .25, every type looks similarly unpromising</a:t>
            </a:r>
            <a:endParaRPr lang="en-US" sz="1200" dirty="0"/>
          </a:p>
        </p:txBody>
      </p:sp>
      <p:sp>
        <p:nvSpPr>
          <p:cNvPr id="9" name="Text 6"/>
          <p:cNvSpPr/>
          <p:nvPr/>
        </p:nvSpPr>
        <p:spPr>
          <a:xfrm>
            <a:off x="7406640" y="2057400"/>
            <a:ext cx="4206240" cy="960120"/>
          </a:xfrm>
          <a:prstGeom prst="rect">
            <a:avLst/>
          </a:prstGeom>
          <a:noFill/>
          <a:ln/>
        </p:spPr>
        <p:txBody>
          <a:bodyPr wrap="square" rtlCol="0" anchor="ctr"/>
          <a:lstStyle/>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Venue type      Lift per $1,000</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Bar                    1.4</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Restaurant             5.0</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Gym                    6.1</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Waiting room           8.4</a:t>
            </a:r>
            <a:endParaRPr lang="en-US" sz="950" dirty="0"/>
          </a:p>
        </p:txBody>
      </p:sp>
      <p:sp>
        <p:nvSpPr>
          <p:cNvPr id="10" name="Text 7"/>
          <p:cNvSpPr/>
          <p:nvPr/>
        </p:nvSpPr>
        <p:spPr>
          <a:xfrm>
            <a:off x="7406640" y="3108960"/>
            <a:ext cx="4206240" cy="457200"/>
          </a:xfrm>
          <a:prstGeom prst="rect">
            <a:avLst/>
          </a:prstGeom>
          <a:noFill/>
          <a:ln/>
        </p:spPr>
        <p:txBody>
          <a:bodyPr wrap="square" rtlCol="0" anchor="ctr"/>
          <a:lstStyle/>
          <a:p>
            <a:pPr indent="0" marL="0">
              <a:lnSpc>
                <a:spcPts val="1300"/>
              </a:lnSpc>
              <a:buNone/>
            </a:pPr>
            <a:r>
              <a:rPr lang="en-US" sz="1000" i="1" dirty="0">
                <a:solidFill>
                  <a:srgbClr val="1A1A2E"/>
                </a:solidFill>
                <a:latin typeface="Calibri" pitchFamily="34" charset="0"/>
                <a:ea typeface="Calibri" pitchFamily="34" charset="-122"/>
                <a:cs typeface="Calibri" pitchFamily="34" charset="-120"/>
              </a:rPr>
              <a:t>...but each type's own PEAK (always somewhere around freq 1–2) is 15–30× higher:</a:t>
            </a:r>
            <a:endParaRPr lang="en-US" sz="1000" dirty="0"/>
          </a:p>
        </p:txBody>
      </p:sp>
      <p:sp>
        <p:nvSpPr>
          <p:cNvPr id="11" name="Text 8"/>
          <p:cNvSpPr/>
          <p:nvPr/>
        </p:nvSpPr>
        <p:spPr>
          <a:xfrm>
            <a:off x="7406640" y="3611880"/>
            <a:ext cx="4206240" cy="548640"/>
          </a:xfrm>
          <a:prstGeom prst="rect">
            <a:avLst/>
          </a:prstGeom>
          <a:noFill/>
          <a:ln/>
        </p:spPr>
        <p:txBody>
          <a:bodyPr wrap="square" rtlCol="0" anchor="ctr"/>
          <a:lstStyle/>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Bar ~124      Restaurant ~206</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Gym ~132      Waiting room ~247</a:t>
            </a:r>
            <a:endParaRPr lang="en-US" sz="950" dirty="0"/>
          </a:p>
        </p:txBody>
      </p:sp>
      <p:sp>
        <p:nvSpPr>
          <p:cNvPr id="12" name="Text 9"/>
          <p:cNvSpPr/>
          <p:nvPr/>
        </p:nvSpPr>
        <p:spPr>
          <a:xfrm>
            <a:off x="7406640" y="4251960"/>
            <a:ext cx="4206240" cy="1920240"/>
          </a:xfrm>
          <a:prstGeom prst="rect">
            <a:avLst/>
          </a:prstGeom>
          <a:noFill/>
          <a:ln/>
        </p:spPr>
        <p:txBody>
          <a:bodyPr wrap="square" rtlCol="0" anchor="ctr"/>
          <a:lstStyle/>
          <a:p>
            <a:pPr indent="0" marL="0">
              <a:lnSpc>
                <a:spcPts val="1250"/>
              </a:lnSpc>
              <a:buNone/>
            </a:pPr>
            <a:r>
              <a:rPr lang="en-US" sz="950" i="1" dirty="0">
                <a:solidFill>
                  <a:srgbClr val="5B6178"/>
                </a:solidFill>
                <a:latin typeface="Calibri" pitchFamily="34" charset="0"/>
                <a:ea typeface="Calibri" pitchFamily="34" charset="-122"/>
                <a:cs typeface="Calibri" pitchFamily="34" charset="-120"/>
              </a:rPr>
              <a:t>A greedy rule that only ever compares "today's next dollar" has no way to see that peak from here — it can only react to which of these near-tied numbers is currently largest, one tiny step at a time. This is the mechanism that let an earlier greedy version of this allocator underperform naive equal-split at larger budgets — the retired code itself isn't preserved, but this is the exact response-curve shape it was walking.</a:t>
            </a:r>
            <a:endParaRPr lang="en-US" sz="95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 why not greedy</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Budget allocator: how the exact DP actually works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No concavity requirement — every discretized spend level is actually evaluated, so by construction it can never do worse than equal-split.</a:t>
            </a:r>
            <a:endParaRPr lang="en-US" sz="1250" dirty="0"/>
          </a:p>
        </p:txBody>
      </p:sp>
      <p:sp>
        <p:nvSpPr>
          <p:cNvPr id="6" name="Text 4"/>
          <p:cNvSpPr/>
          <p:nvPr/>
        </p:nvSpPr>
        <p:spPr>
          <a:xfrm>
            <a:off x="548640" y="1417320"/>
            <a:ext cx="667512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exact DP in four steps (multiple-choice knapsack)</a:t>
            </a:r>
            <a:endParaRPr lang="en-US" sz="1250" dirty="0"/>
          </a:p>
        </p:txBody>
      </p:sp>
      <p:sp>
        <p:nvSpPr>
          <p:cNvPr id="7" name="Text 5"/>
          <p:cNvSpPr/>
          <p:nvPr/>
        </p:nvSpPr>
        <p:spPr>
          <a:xfrm>
            <a:off x="548640" y="1691640"/>
            <a:ext cx="6675120" cy="1874520"/>
          </a:xfrm>
          <a:prstGeom prst="rect">
            <a:avLst/>
          </a:prstGeom>
          <a:noFill/>
          <a:ln/>
        </p:spPr>
        <p:txBody>
          <a:bodyPr wrap="square" rtlCol="0" anchor="ctr"/>
          <a:lstStyle/>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① Discretize: for each venue_type, sweep frequency 0→14/venue in 0.25 steps (57 points). At each point, read network lift = per-venue lift (from the calibrated MMM response curve) × venue count, and $ spend = freq × cost-per-frequency-unit × venue count.</a:t>
            </a:r>
            <a:endParaRPr lang="en-US" sz="930" dirty="0"/>
          </a:p>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② Snap every candidate's spend onto a shared $250 grid, so all venue types' options line up on one budget axis — keeping only the highest-lift option at each grid point per type. This is that type's "menu."</a:t>
            </a:r>
            <a:endParaRPr lang="en-US" sz="930" dirty="0"/>
          </a:p>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③ Process venue types one at a time: for every $ grid point b, try each of that type's menu options with spend ≤ b, add it to whatever the types-already-processed achieved at (b − spend), and keep whichever combination gives the highest total lift — every option is actually tried, not estimated from a local slope.</a:t>
            </a:r>
            <a:endParaRPr lang="en-US" sz="930" dirty="0"/>
          </a:p>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④ Backtrack from the full-budget column to read off which frequency was actually chosen for each venue type.</a:t>
            </a:r>
            <a:endParaRPr lang="en-US" sz="930" dirty="0"/>
          </a:p>
        </p:txBody>
      </p:sp>
      <p:sp>
        <p:nvSpPr>
          <p:cNvPr id="8" name="Text 6"/>
          <p:cNvSpPr/>
          <p:nvPr/>
        </p:nvSpPr>
        <p:spPr>
          <a:xfrm>
            <a:off x="548640" y="3657600"/>
            <a:ext cx="6675120" cy="457200"/>
          </a:xfrm>
          <a:prstGeom prst="rect">
            <a:avLst/>
          </a:prstGeom>
          <a:noFill/>
          <a:ln/>
        </p:spPr>
        <p:txBody>
          <a:bodyPr wrap="square" rtlCol="0" anchor="ctr"/>
          <a:lstStyle/>
          <a:p>
            <a:pPr indent="0" marL="0">
              <a:lnSpc>
                <a:spcPts val="1100"/>
              </a:lnSpc>
              <a:buNone/>
            </a:pPr>
            <a:r>
              <a:rPr lang="en-US" sz="870" i="1" dirty="0">
                <a:solidFill>
                  <a:srgbClr val="5B6178"/>
                </a:solidFill>
                <a:latin typeface="Calibri" pitchFamily="34" charset="0"/>
                <a:ea typeface="Calibri" pitchFamily="34" charset="-122"/>
                <a:cs typeface="Calibri" pitchFamily="34" charset="-120"/>
              </a:rPr>
              <a:t>Grid granularity ($250 budget steps, 0.25 frequency steps) trades a little precision for tractability — the same principle real deployments use, just at production-scale resolution.</a:t>
            </a:r>
            <a:endParaRPr lang="en-US" sz="870" dirty="0"/>
          </a:p>
        </p:txBody>
      </p:sp>
      <p:graphicFrame>
        <p:nvGraphicFramePr>
          <p:cNvPr id="9" name="Chart 0" descr=""/>
          <p:cNvGraphicFramePr/>
          <p:nvPr/>
        </p:nvGraphicFramePr>
        <p:xfrm>
          <a:off x="548640" y="4206240"/>
          <a:ext cx="6675120" cy="2148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7498080" y="1417320"/>
            <a:ext cx="4114800" cy="32004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Gain vs. naive equal-split</a:t>
            </a:r>
            <a:endParaRPr lang="en-US" sz="1300" dirty="0"/>
          </a:p>
        </p:txBody>
      </p:sp>
      <p:sp>
        <p:nvSpPr>
          <p:cNvPr id="11" name="Text 8"/>
          <p:cNvSpPr/>
          <p:nvPr/>
        </p:nvSpPr>
        <p:spPr>
          <a:xfrm>
            <a:off x="7498080" y="18745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2" name="Text 9"/>
          <p:cNvSpPr/>
          <p:nvPr/>
        </p:nvSpPr>
        <p:spPr>
          <a:xfrm>
            <a:off x="9326880" y="18288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3" name="Text 10"/>
          <p:cNvSpPr/>
          <p:nvPr/>
        </p:nvSpPr>
        <p:spPr>
          <a:xfrm>
            <a:off x="7498080" y="22585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4" name="Text 11"/>
          <p:cNvSpPr/>
          <p:nvPr/>
        </p:nvSpPr>
        <p:spPr>
          <a:xfrm>
            <a:off x="7498080" y="29260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5" name="Text 12"/>
          <p:cNvSpPr/>
          <p:nvPr/>
        </p:nvSpPr>
        <p:spPr>
          <a:xfrm>
            <a:off x="9326880" y="28803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6" name="Text 13"/>
          <p:cNvSpPr/>
          <p:nvPr/>
        </p:nvSpPr>
        <p:spPr>
          <a:xfrm>
            <a:off x="7498080" y="33101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7" name="Text 14"/>
          <p:cNvSpPr/>
          <p:nvPr/>
        </p:nvSpPr>
        <p:spPr>
          <a:xfrm>
            <a:off x="7498080" y="39776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8" name="Text 15"/>
          <p:cNvSpPr/>
          <p:nvPr/>
        </p:nvSpPr>
        <p:spPr>
          <a:xfrm>
            <a:off x="9326880" y="39319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9" name="Text 16"/>
          <p:cNvSpPr/>
          <p:nvPr/>
        </p:nvSpPr>
        <p:spPr>
          <a:xfrm>
            <a:off x="7498080" y="43616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20" name="Text 17"/>
          <p:cNvSpPr/>
          <p:nvPr/>
        </p:nvSpPr>
        <p:spPr>
          <a:xfrm>
            <a:off x="7498080" y="5074920"/>
            <a:ext cx="4206240" cy="82296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 (Previous slide: why a greedy walk can lose this edge entirely.)</a:t>
            </a:r>
            <a:endParaRPr lang="en-US" sz="1050" dirty="0"/>
          </a:p>
        </p:txBody>
      </p:sp>
      <p:sp>
        <p:nvSpPr>
          <p:cNvPr id="21" name="Text 18"/>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300" b="1" dirty="0">
                <a:solidFill>
                  <a:srgbClr val="1E2761"/>
                </a:solidFill>
                <a:latin typeface="Cambria" pitchFamily="34" charset="0"/>
                <a:ea typeface="Cambria" pitchFamily="34" charset="-122"/>
                <a:cs typeface="Cambria" pitchFamily="34" charset="-120"/>
              </a:rPr>
              <a:t>Venue revenue model: what feeds in, and why this model</a:t>
            </a:r>
            <a:endParaRPr lang="en-US" sz="23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setup · Answers Q3</a:t>
            </a:r>
            <a:endParaRPr lang="en-US" sz="950" dirty="0"/>
          </a:p>
        </p:txBody>
      </p:sp>
      <p:sp>
        <p:nvSpPr>
          <p:cNvPr id="5" name="Text 3"/>
          <p:cNvSpPr/>
          <p:nvPr/>
        </p:nvSpPr>
        <p:spPr>
          <a:xfrm>
            <a:off x="548640" y="1005840"/>
            <a:ext cx="1097280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Can this venue's own characteristics + a validated advertising effect predict what it actually earns — and surface who's under-monetized or high-potential?</a:t>
            </a:r>
            <a:endParaRPr lang="en-US" sz="1250" dirty="0"/>
          </a:p>
        </p:txBody>
      </p:sp>
      <p:sp>
        <p:nvSpPr>
          <p:cNvPr id="6" name="Text 4"/>
          <p:cNvSpPr/>
          <p:nvPr/>
        </p:nvSpPr>
        <p:spPr>
          <a:xfrm>
            <a:off x="548640" y="1645920"/>
            <a:ext cx="5394960" cy="50292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Model: HistGradientBoostingRegressor (sklearn)</a:t>
            </a:r>
            <a:endParaRPr lang="en-US" sz="1350" dirty="0"/>
          </a:p>
        </p:txBody>
      </p:sp>
      <p:sp>
        <p:nvSpPr>
          <p:cNvPr id="7" name="Text 5"/>
          <p:cNvSpPr/>
          <p:nvPr/>
        </p:nvSpPr>
        <p:spPr>
          <a:xfrm>
            <a:off x="548640" y="2194560"/>
            <a:ext cx="5394960" cy="118872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Chosen because it handles venue_type / geo_cluster / traffic_tier as native categorical splits. geo_cluster alone has 20+ levels — one-hot encoding that would blow the feature space up and dilute each split's signal. categorical_features="from_dtype" avoids that entirely, no preprocessing needed.</a:t>
            </a:r>
            <a:endParaRPr lang="en-US" sz="1050" dirty="0"/>
          </a:p>
        </p:txBody>
      </p:sp>
      <p:sp>
        <p:nvSpPr>
          <p:cNvPr id="8" name="Text 6"/>
          <p:cNvSpPr/>
          <p:nvPr/>
        </p:nvSpPr>
        <p:spPr>
          <a:xfrm>
            <a:off x="548640" y="3520440"/>
            <a:ext cx="5394960" cy="365760"/>
          </a:xfrm>
          <a:prstGeom prst="rect">
            <a:avLst/>
          </a:prstGeom>
          <a:noFill/>
          <a:ln/>
        </p:spPr>
        <p:txBody>
          <a:bodyPr wrap="square"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Target: realized_ad_revenue</a:t>
            </a:r>
            <a:endParaRPr lang="en-US" sz="1350" dirty="0"/>
          </a:p>
        </p:txBody>
      </p:sp>
      <p:sp>
        <p:nvSpPr>
          <p:cNvPr id="9" name="Text 7"/>
          <p:cNvSpPr/>
          <p:nvPr/>
        </p:nvSpPr>
        <p:spPr>
          <a:xfrm>
            <a:off x="548640" y="3977640"/>
            <a:ext cx="5394960" cy="36576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venue's actual weekly $ ad revenue — not a proxy, not a survey response.</a:t>
            </a:r>
            <a:endParaRPr lang="en-US" sz="1050" dirty="0"/>
          </a:p>
        </p:txBody>
      </p:sp>
      <p:sp>
        <p:nvSpPr>
          <p:cNvPr id="10" name="Text 8"/>
          <p:cNvSpPr/>
          <p:nvPr/>
        </p:nvSpPr>
        <p:spPr>
          <a:xfrm>
            <a:off x="6263640" y="1645920"/>
            <a:ext cx="5394960" cy="320040"/>
          </a:xfrm>
          <a:prstGeom prst="rect">
            <a:avLst/>
          </a:prstGeom>
          <a:noFill/>
          <a:ln/>
        </p:spPr>
        <p:txBody>
          <a:bodyPr wrap="square" rtlCol="0" anchor="ctr"/>
          <a:lstStyle/>
          <a:p>
            <a:pPr indent="0" marL="0">
              <a:buNone/>
            </a:pPr>
            <a:r>
              <a:rPr lang="en-US" sz="1350" b="1" dirty="0">
                <a:solidFill>
                  <a:srgbClr val="1E2761"/>
                </a:solidFill>
                <a:latin typeface="Cambria" pitchFamily="34" charset="0"/>
                <a:ea typeface="Cambria" pitchFamily="34" charset="-122"/>
                <a:cs typeface="Cambria" pitchFamily="34" charset="-120"/>
              </a:rPr>
              <a:t>Features — two sources</a:t>
            </a:r>
            <a:endParaRPr lang="en-US" sz="1350" dirty="0"/>
          </a:p>
        </p:txBody>
      </p:sp>
      <p:sp>
        <p:nvSpPr>
          <p:cNvPr id="11" name="Shape 9"/>
          <p:cNvSpPr/>
          <p:nvPr/>
        </p:nvSpPr>
        <p:spPr>
          <a:xfrm>
            <a:off x="6263640" y="2029968"/>
            <a:ext cx="5394960" cy="1600200"/>
          </a:xfrm>
          <a:prstGeom prst="roundRect">
            <a:avLst>
              <a:gd name="adj" fmla="val 4000"/>
            </a:avLst>
          </a:prstGeom>
          <a:solidFill>
            <a:srgbClr val="F5F7FC"/>
          </a:solidFill>
          <a:ln/>
        </p:spPr>
      </p:sp>
      <p:sp>
        <p:nvSpPr>
          <p:cNvPr id="12" name="Text 10"/>
          <p:cNvSpPr/>
          <p:nvPr/>
        </p:nvSpPr>
        <p:spPr>
          <a:xfrm>
            <a:off x="6492240" y="2148840"/>
            <a:ext cx="4937760" cy="27432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This venue's own characteristics</a:t>
            </a:r>
            <a:endParaRPr lang="en-US" sz="1100" dirty="0"/>
          </a:p>
        </p:txBody>
      </p:sp>
      <p:sp>
        <p:nvSpPr>
          <p:cNvPr id="13" name="Text 11"/>
          <p:cNvSpPr/>
          <p:nvPr/>
        </p:nvSpPr>
        <p:spPr>
          <a:xfrm>
            <a:off x="6492240" y="2468880"/>
            <a:ext cx="4937760" cy="1051560"/>
          </a:xfrm>
          <a:prstGeom prst="rect">
            <a:avLst/>
          </a:prstGeom>
          <a:noFill/>
          <a:ln/>
        </p:spPr>
        <p:txBody>
          <a:bodyPr wrap="square" rtlCol="0" anchor="ctr"/>
          <a:lstStyle/>
          <a:p>
            <a:pPr indent="0" marL="0">
              <a:lnSpc>
                <a:spcPts val="1700"/>
              </a:lnSpc>
              <a:buNone/>
            </a:pPr>
            <a:r>
              <a:rPr lang="en-US" sz="1050" dirty="0">
                <a:solidFill>
                  <a:srgbClr val="1A1A2E"/>
                </a:solidFill>
                <a:latin typeface="Courier New" pitchFamily="34" charset="0"/>
                <a:ea typeface="Courier New" pitchFamily="34" charset="-122"/>
                <a:cs typeface="Courier New" pitchFamily="34" charset="-120"/>
              </a:rPr>
              <a:t>venue_type · geo_cluster · traffic_tier</a:t>
            </a:r>
            <a:endParaRPr lang="en-US" sz="1050" dirty="0"/>
          </a:p>
          <a:p>
            <a:pPr indent="0" marL="0">
              <a:lnSpc>
                <a:spcPts val="1700"/>
              </a:lnSpc>
              <a:buNone/>
            </a:pPr>
            <a:r>
              <a:rPr lang="en-US" sz="1050" dirty="0">
                <a:solidFill>
                  <a:srgbClr val="1A1A2E"/>
                </a:solidFill>
                <a:latin typeface="Courier New" pitchFamily="34" charset="0"/>
                <a:ea typeface="Courier New" pitchFamily="34" charset="-122"/>
                <a:cs typeface="Courier New" pitchFamily="34" charset="-120"/>
              </a:rPr>
              <a:t>baseline_level · dwell_time_min</a:t>
            </a:r>
            <a:endParaRPr lang="en-US" sz="1050" dirty="0"/>
          </a:p>
          <a:p>
            <a:pPr indent="0" marL="0">
              <a:lnSpc>
                <a:spcPts val="1700"/>
              </a:lnSpc>
              <a:buNone/>
            </a:pPr>
            <a:r>
              <a:rPr lang="en-US" sz="1050" dirty="0">
                <a:solidFill>
                  <a:srgbClr val="1A1A2E"/>
                </a:solidFill>
                <a:latin typeface="Courier New" pitchFamily="34" charset="0"/>
                <a:ea typeface="Courier New" pitchFamily="34" charset="-122"/>
                <a:cs typeface="Courier New" pitchFamily="34" charset="-120"/>
              </a:rPr>
              <a:t>screen_count · audience_quality</a:t>
            </a:r>
            <a:endParaRPr lang="en-US" sz="1050" dirty="0"/>
          </a:p>
        </p:txBody>
      </p:sp>
      <p:sp>
        <p:nvSpPr>
          <p:cNvPr id="14" name="Shape 12"/>
          <p:cNvSpPr/>
          <p:nvPr/>
        </p:nvSpPr>
        <p:spPr>
          <a:xfrm>
            <a:off x="6263640" y="3767328"/>
            <a:ext cx="5394960" cy="1325880"/>
          </a:xfrm>
          <a:prstGeom prst="roundRect">
            <a:avLst>
              <a:gd name="adj" fmla="val 4828"/>
            </a:avLst>
          </a:prstGeom>
          <a:solidFill>
            <a:srgbClr val="FDF1E3"/>
          </a:solidFill>
          <a:ln/>
        </p:spPr>
      </p:sp>
      <p:sp>
        <p:nvSpPr>
          <p:cNvPr id="15" name="Text 13"/>
          <p:cNvSpPr/>
          <p:nvPr/>
        </p:nvSpPr>
        <p:spPr>
          <a:xfrm>
            <a:off x="6492240" y="3886200"/>
            <a:ext cx="4937760" cy="274320"/>
          </a:xfrm>
          <a:prstGeom prst="rect">
            <a:avLst/>
          </a:prstGeom>
          <a:noFill/>
          <a:ln/>
        </p:spPr>
        <p:txBody>
          <a:bodyPr wrap="square" rtlCol="0" anchor="ctr"/>
          <a:lstStyle/>
          <a:p>
            <a:pPr indent="0" marL="0">
              <a:buNone/>
            </a:pPr>
            <a:r>
              <a:rPr lang="en-US" sz="1030" b="1" dirty="0">
                <a:solidFill>
                  <a:srgbClr val="8A4B0A"/>
                </a:solidFill>
                <a:latin typeface="Cambria" pitchFamily="34" charset="0"/>
                <a:ea typeface="Cambria" pitchFamily="34" charset="-122"/>
                <a:cs typeface="Cambria" pitchFamily="34" charset="-120"/>
              </a:rPr>
              <a:t>From the Q1/Q2 causal pipeline (RCT: Slide 7 · MMM: Slide 10)</a:t>
            </a:r>
            <a:endParaRPr lang="en-US" sz="1030" dirty="0"/>
          </a:p>
        </p:txBody>
      </p:sp>
      <p:sp>
        <p:nvSpPr>
          <p:cNvPr id="16" name="Text 14"/>
          <p:cNvSpPr/>
          <p:nvPr/>
        </p:nvSpPr>
        <p:spPr>
          <a:xfrm>
            <a:off x="6492240" y="4187952"/>
            <a:ext cx="4937760" cy="868680"/>
          </a:xfrm>
          <a:prstGeom prst="rect">
            <a:avLst/>
          </a:prstGeom>
          <a:noFill/>
          <a:ln/>
        </p:spPr>
        <p:txBody>
          <a:bodyPr wrap="square" rtlCol="0" anchor="ctr"/>
          <a:lstStyle/>
          <a:p>
            <a:pPr indent="0" marL="0">
              <a:lnSpc>
                <a:spcPts val="1250"/>
              </a:lnSpc>
              <a:buNone/>
            </a:pPr>
            <a:r>
              <a:rPr lang="en-US" sz="970" dirty="0">
                <a:solidFill>
                  <a:srgbClr val="8A4B0A"/>
                </a:solidFill>
                <a:latin typeface="Calibri" pitchFamily="34" charset="0"/>
                <a:ea typeface="Calibri" pitchFamily="34" charset="-122"/>
                <a:cs typeface="Calibri" pitchFamily="34" charset="-120"/>
              </a:rPr>
              <a:t>calibrated_lift_feature — the RCT-calibrated per-exposure lift from the MMM. This is where the advertising-incrementality pipeline plugs into the venue-economics side — the connection promised on Slide 14, not a separate silo.</a:t>
            </a:r>
            <a:endParaRPr lang="en-US" sz="970" dirty="0"/>
          </a:p>
        </p:txBody>
      </p:sp>
      <p:sp>
        <p:nvSpPr>
          <p:cNvPr id="17" name="Shape 15"/>
          <p:cNvSpPr/>
          <p:nvPr/>
        </p:nvSpPr>
        <p:spPr>
          <a:xfrm>
            <a:off x="548640" y="5257800"/>
            <a:ext cx="11091672" cy="960120"/>
          </a:xfrm>
          <a:prstGeom prst="roundRect">
            <a:avLst>
              <a:gd name="adj" fmla="val 5714"/>
            </a:avLst>
          </a:prstGeom>
          <a:solidFill>
            <a:srgbClr val="F5F7FC"/>
          </a:solidFill>
          <a:ln/>
        </p:spPr>
      </p:sp>
      <p:sp>
        <p:nvSpPr>
          <p:cNvPr id="18" name="Text 16"/>
          <p:cNvSpPr/>
          <p:nvPr/>
        </p:nvSpPr>
        <p:spPr>
          <a:xfrm>
            <a:off x="777240" y="5367528"/>
            <a:ext cx="10607040" cy="777240"/>
          </a:xfrm>
          <a:prstGeom prst="rect">
            <a:avLst/>
          </a:prstGeom>
          <a:noFill/>
          <a:ln/>
        </p:spPr>
        <p:txBody>
          <a:bodyPr wrap="square" rtlCol="0" anchor="ctr"/>
          <a:lstStyle/>
          <a:p>
            <a:pPr indent="0" marL="0">
              <a:lnSpc>
                <a:spcPts val="1400"/>
              </a:lnSpc>
              <a:buNone/>
            </a:pPr>
            <a:r>
              <a:rPr lang="en-US" sz="1050" i="1" dirty="0">
                <a:solidFill>
                  <a:srgbClr val="1A1A2E"/>
                </a:solidFill>
                <a:latin typeface="Calibri" pitchFamily="34" charset="0"/>
                <a:ea typeface="Calibri" pitchFamily="34" charset="-122"/>
                <a:cs typeface="Calibri" pitchFamily="34" charset="-120"/>
              </a:rPr>
              <a:t>Method, honestly: held-out metrics (next slide) come from a genuine 30% test split, stratified by venue_type — never train-set fit. Under-monetization flags come from 5-fold out-of-fold predictions — every venue's flag uses a model that never saw its own revenue. Prospect venues (no revenue history) are scored by that same trained model, not a separate heuristic.</a:t>
            </a:r>
            <a:endParaRPr lang="en-US" sz="1050" dirty="0"/>
          </a:p>
        </p:txBody>
      </p:sp>
      <p:sp>
        <p:nvSpPr>
          <p:cNvPr id="19" name="Text 1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 — model &amp; inputs</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Held-out evaluation, feature importance, and the venues these numbers actually flag (model &amp; features: previous slide).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548640" y="5742432"/>
            <a:ext cx="5394960" cy="32004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Permutation, not gain-based — gain-based splits are biased toward high-cardinality categoricals like geo_cluster (20+ levels).</a:t>
            </a:r>
            <a:endParaRPr lang="en-US" sz="850" dirty="0"/>
          </a:p>
        </p:txBody>
      </p:sp>
      <p:sp>
        <p:nvSpPr>
          <p:cNvPr id="20" name="Text 17"/>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1" name="Text 18"/>
          <p:cNvSpPr/>
          <p:nvPr/>
        </p:nvSpPr>
        <p:spPr>
          <a:xfrm>
            <a:off x="6263640" y="3172968"/>
            <a:ext cx="5394960" cy="201168"/>
          </a:xfrm>
          <a:prstGeom prst="rect">
            <a:avLst/>
          </a:prstGeom>
          <a:noFill/>
          <a:ln/>
        </p:spPr>
        <p:txBody>
          <a:bodyPr wrap="square" rtlCol="0" anchor="ctr"/>
          <a:lstStyle/>
          <a:p>
            <a:pPr indent="0" marL="0">
              <a:buNone/>
            </a:pPr>
            <a:r>
              <a:rPr lang="en-US" sz="870" i="1" dirty="0">
                <a:solidFill>
                  <a:srgbClr val="5B6178"/>
                </a:solidFill>
                <a:latin typeface="Courier New" pitchFamily="34" charset="0"/>
                <a:ea typeface="Courier New" pitchFamily="34" charset="-122"/>
                <a:cs typeface="Courier New" pitchFamily="34" charset="-120"/>
              </a:rPr>
              <a:t>gap_pct = (actual − OOF predicted) ÷ OOF predicted × 100</a:t>
            </a:r>
            <a:endParaRPr lang="en-US" sz="870" dirty="0"/>
          </a:p>
        </p:txBody>
      </p:sp>
      <p:sp>
        <p:nvSpPr>
          <p:cNvPr id="22" name="Text 19"/>
          <p:cNvSpPr/>
          <p:nvPr/>
        </p:nvSpPr>
        <p:spPr>
          <a:xfrm>
            <a:off x="6263640" y="3410712"/>
            <a:ext cx="365760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3" name="Text 20"/>
          <p:cNvSpPr/>
          <p:nvPr/>
        </p:nvSpPr>
        <p:spPr>
          <a:xfrm>
            <a:off x="9966960" y="3410712"/>
            <a:ext cx="1691640" cy="256032"/>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4" name="Text 21"/>
          <p:cNvSpPr/>
          <p:nvPr/>
        </p:nvSpPr>
        <p:spPr>
          <a:xfrm>
            <a:off x="6263640" y="3666744"/>
            <a:ext cx="365760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5" name="Text 22"/>
          <p:cNvSpPr/>
          <p:nvPr/>
        </p:nvSpPr>
        <p:spPr>
          <a:xfrm>
            <a:off x="9966960" y="3666744"/>
            <a:ext cx="1691640" cy="256032"/>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3922776"/>
            <a:ext cx="365760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7" name="Text 24"/>
          <p:cNvSpPr/>
          <p:nvPr/>
        </p:nvSpPr>
        <p:spPr>
          <a:xfrm>
            <a:off x="9966960" y="3922776"/>
            <a:ext cx="1691640" cy="256032"/>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8" name="Text 25"/>
          <p:cNvSpPr/>
          <p:nvPr/>
        </p:nvSpPr>
        <p:spPr>
          <a:xfrm>
            <a:off x="6263640" y="4178808"/>
            <a:ext cx="365760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9" name="Text 26"/>
          <p:cNvSpPr/>
          <p:nvPr/>
        </p:nvSpPr>
        <p:spPr>
          <a:xfrm>
            <a:off x="9966960" y="4178808"/>
            <a:ext cx="1691640" cy="256032"/>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30" name="Text 27"/>
          <p:cNvSpPr/>
          <p:nvPr/>
        </p:nvSpPr>
        <p:spPr>
          <a:xfrm>
            <a:off x="6263640" y="457200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31" name="Text 28"/>
          <p:cNvSpPr/>
          <p:nvPr/>
        </p:nvSpPr>
        <p:spPr>
          <a:xfrm>
            <a:off x="6263640" y="4864608"/>
            <a:ext cx="402336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2" name="Text 29"/>
          <p:cNvSpPr/>
          <p:nvPr/>
        </p:nvSpPr>
        <p:spPr>
          <a:xfrm>
            <a:off x="10195560" y="4864608"/>
            <a:ext cx="1463040" cy="256032"/>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3" name="Text 30"/>
          <p:cNvSpPr/>
          <p:nvPr/>
        </p:nvSpPr>
        <p:spPr>
          <a:xfrm>
            <a:off x="6263640" y="5120640"/>
            <a:ext cx="402336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4" name="Text 31"/>
          <p:cNvSpPr/>
          <p:nvPr/>
        </p:nvSpPr>
        <p:spPr>
          <a:xfrm>
            <a:off x="10195560" y="5120640"/>
            <a:ext cx="1463040" cy="256032"/>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5" name="Text 32"/>
          <p:cNvSpPr/>
          <p:nvPr/>
        </p:nvSpPr>
        <p:spPr>
          <a:xfrm>
            <a:off x="6263640" y="5376672"/>
            <a:ext cx="402336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6" name="Text 33"/>
          <p:cNvSpPr/>
          <p:nvPr/>
        </p:nvSpPr>
        <p:spPr>
          <a:xfrm>
            <a:off x="10195560" y="5376672"/>
            <a:ext cx="1463040" cy="256032"/>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7" name="Text 34"/>
          <p:cNvSpPr/>
          <p:nvPr/>
        </p:nvSpPr>
        <p:spPr>
          <a:xfrm>
            <a:off x="6263640" y="5632704"/>
            <a:ext cx="4023360" cy="256032"/>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8" name="Text 35"/>
          <p:cNvSpPr/>
          <p:nvPr/>
        </p:nvSpPr>
        <p:spPr>
          <a:xfrm>
            <a:off x="10195560" y="5632704"/>
            <a:ext cx="1463040" cy="256032"/>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9" name="Text 36"/>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40" name="Text 37"/>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2026-09-08T19:33:38Z</dcterms:created>
  <dcterms:modified xsi:type="dcterms:W3CDTF">2026-09-08T19:33:38Z</dcterms:modified>
</cp:coreProperties>
</file>