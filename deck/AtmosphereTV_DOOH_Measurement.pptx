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Measured lift</c:v>
                </c:pt>
              </c:strCache>
            </c:strRef>
          </c:tx>
          <c:spPr>
            <a:solidFill>
              <a:srgbClr val="1E2761"/>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Restaurants</c:v>
                  </c:pt>
                  <c:pt idx="1">
                    <c:v>Gyms</c:v>
                  </c:pt>
                  <c:pt idx="2">
                    <c:v>Bars</c:v>
                  </c:pt>
                  <c:pt idx="3">
                    <c:v>Waiting Rooms</c:v>
                  </c:pt>
                </c:lvl>
              </c:multiLvlStrCache>
            </c:multiLvlStrRef>
          </c:cat>
          <c:val>
            <c:numRef>
              <c:f>Sheet1!$B$2:$B$5</c:f>
              <c:numCache>
                <c:formatCode>General</c:formatCode>
                <c:ptCount val="4"/>
                <c:pt idx="0">
                  <c:v>16.79</c:v>
                </c:pt>
                <c:pt idx="1">
                  <c:v>10.32</c:v>
                </c:pt>
                <c:pt idx="2">
                  <c:v>17.88</c:v>
                </c:pt>
                <c:pt idx="3">
                  <c:v>7.63</c:v>
                </c:pt>
              </c:numCache>
            </c:numRef>
          </c:val>
        </c:ser>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F"/>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Weekly incremental foot traffic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Measured lift</c:v>
                </c:pt>
              </c:strCache>
            </c:strRef>
          </c:tx>
          <c:spPr>
            <a:solidFill>
              <a:srgbClr val="1E2761"/>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Restaurants</c:v>
                  </c:pt>
                  <c:pt idx="1">
                    <c:v>Gyms</c:v>
                  </c:pt>
                  <c:pt idx="2">
                    <c:v>Bars</c:v>
                  </c:pt>
                  <c:pt idx="3">
                    <c:v>Waiting Rooms</c:v>
                  </c:pt>
                </c:lvl>
              </c:multiLvlStrCache>
            </c:multiLvlStrRef>
          </c:cat>
          <c:val>
            <c:numRef>
              <c:f>Sheet1!$B$2:$B$5</c:f>
              <c:numCache>
                <c:formatCode>General</c:formatCode>
                <c:ptCount val="4"/>
                <c:pt idx="0">
                  <c:v>15.46</c:v>
                </c:pt>
                <c:pt idx="1">
                  <c:v>9.92</c:v>
                </c:pt>
                <c:pt idx="2">
                  <c:v>17.96</c:v>
                </c:pt>
                <c:pt idx="3">
                  <c:v>6.53</c:v>
                </c:pt>
              </c:numCache>
            </c:numRef>
          </c:val>
        </c:ser>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F"/>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Weekly incremental foot traffic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 MMM (uncalibrated)</c:v>
                </c:pt>
              </c:strCache>
            </c:strRef>
          </c:tx>
          <c:spPr>
            <a:solidFill>
              <a:srgbClr val="A9AFC7"/>
            </a:solidFill>
            <a:effectLst/>
          </c:spPr>
          <c:invertIfNegative val="0"/>
          <c:dLbls>
            <c:numFmt formatCode="#,##0" sourceLinked="0"/>
            <c:txPr>
              <a:bodyPr/>
              <a:lstStyle/>
              <a:p>
                <a:pPr>
                  <a:defRPr b="0" i="0" strike="noStrike" sz="85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Restaurants</c:v>
                  </c:pt>
                  <c:pt idx="1">
                    <c:v>Gyms</c:v>
                  </c:pt>
                  <c:pt idx="2">
                    <c:v>Bars</c:v>
                  </c:pt>
                  <c:pt idx="3">
                    <c:v>Waiting Rooms</c:v>
                  </c:pt>
                </c:lvl>
              </c:multiLvlStrCache>
            </c:multiLvlStrRef>
          </c:cat>
          <c:val>
            <c:numRef>
              <c:f>Sheet1!$B$2:$B$5</c:f>
              <c:numCache>
                <c:formatCode>General</c:formatCode>
                <c:ptCount val="4"/>
                <c:pt idx="0">
                  <c:v>7.97</c:v>
                </c:pt>
                <c:pt idx="1">
                  <c:v>4.93</c:v>
                </c:pt>
                <c:pt idx="2">
                  <c:v>16.25</c:v>
                </c:pt>
                <c:pt idx="3">
                  <c:v>4.09</c:v>
                </c:pt>
              </c:numCache>
            </c:numRef>
          </c:val>
        </c:ser>
        <c:ser>
          <c:idx val="1"/>
          <c:order val="1"/>
          <c:tx>
            <c:strRef>
              <c:f>Sheet1!$C$1</c:f>
              <c:strCache>
                <c:ptCount val="1"/>
                <c:pt idx="0">
                  <c:v>RCT-calibrated MMM</c:v>
                </c:pt>
              </c:strCache>
            </c:strRef>
          </c:tx>
          <c:spPr>
            <a:solidFill>
              <a:srgbClr val="1E2761"/>
            </a:solidFill>
            <a:effectLst/>
          </c:spPr>
          <c:invertIfNegative val="0"/>
          <c:dLbls>
            <c:numFmt formatCode="#,##0" sourceLinked="0"/>
            <c:txPr>
              <a:bodyPr/>
              <a:lstStyle/>
              <a:p>
                <a:pPr>
                  <a:defRPr b="0" i="0" strike="noStrike" sz="85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Restaurants</c:v>
                  </c:pt>
                  <c:pt idx="1">
                    <c:v>Gyms</c:v>
                  </c:pt>
                  <c:pt idx="2">
                    <c:v>Bars</c:v>
                  </c:pt>
                  <c:pt idx="3">
                    <c:v>Waiting Rooms</c:v>
                  </c:pt>
                </c:lvl>
              </c:multiLvlStrCache>
            </c:multiLvlStrRef>
          </c:cat>
          <c:val>
            <c:numRef>
              <c:f>Sheet1!$C$2:$C$5</c:f>
              <c:numCache>
                <c:formatCode>General</c:formatCode>
                <c:ptCount val="4"/>
                <c:pt idx="0">
                  <c:v>18.69</c:v>
                </c:pt>
                <c:pt idx="1">
                  <c:v>13.05</c:v>
                </c:pt>
                <c:pt idx="2">
                  <c:v>19.57</c:v>
                </c:pt>
                <c:pt idx="3">
                  <c:v>8.19</c:v>
                </c:pt>
              </c:numCache>
            </c:numRef>
          </c:val>
        </c:ser>
        <c:dLbls>
          <c:numFmt formatCode="#,##0" sourceLinked="0"/>
          <c:txPr>
            <a:bodyPr/>
            <a:lstStyle/>
            <a:p>
              <a:pPr>
                <a:defRPr b="0" i="0" strike="noStrike" sz="85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F"/>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Max lift at saturation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 MMM (blind to competing media)</c:v>
                </c:pt>
              </c:strCache>
            </c:strRef>
          </c:tx>
          <c:spPr>
            <a:solidFill>
              <a:srgbClr val="C44E52"/>
            </a:solidFill>
            <a:effectLst/>
          </c:spPr>
          <c:invertIfNegative val="0"/>
          <c:dLbls>
            <c:numFmt formatCode="#,##0" sourceLinked="0"/>
            <c:txPr>
              <a:bodyPr/>
              <a:lstStyle/>
              <a:p>
                <a:pPr>
                  <a:defRPr b="0" i="0" strike="noStrike" sz="85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Restaurants</c:v>
                  </c:pt>
                  <c:pt idx="1">
                    <c:v>Gyms</c:v>
                  </c:pt>
                  <c:pt idx="2">
                    <c:v>Bars</c:v>
                  </c:pt>
                  <c:pt idx="3">
                    <c:v>Waiting Rooms</c:v>
                  </c:pt>
                </c:lvl>
              </c:multiLvlStrCache>
            </c:multiLvlStrRef>
          </c:cat>
          <c:val>
            <c:numRef>
              <c:f>Sheet1!$B$2:$B$5</c:f>
              <c:numCache>
                <c:formatCode>General</c:formatCode>
                <c:ptCount val="4"/>
                <c:pt idx="0">
                  <c:v>17.47</c:v>
                </c:pt>
                <c:pt idx="1">
                  <c:v>14.01</c:v>
                </c:pt>
                <c:pt idx="2">
                  <c:v>20.63</c:v>
                </c:pt>
                <c:pt idx="3">
                  <c:v>17.94</c:v>
                </c:pt>
              </c:numCache>
            </c:numRef>
          </c:val>
        </c:ser>
        <c:ser>
          <c:idx val="1"/>
          <c:order val="1"/>
          <c:tx>
            <c:strRef>
              <c:f>Sheet1!$C$1</c:f>
              <c:strCache>
                <c:ptCount val="1"/>
                <c:pt idx="0">
                  <c:v>Confound-aware MMM (controls for it)</c:v>
                </c:pt>
              </c:strCache>
            </c:strRef>
          </c:tx>
          <c:spPr>
            <a:solidFill>
              <a:srgbClr val="55A868"/>
            </a:solidFill>
            <a:effectLst/>
          </c:spPr>
          <c:invertIfNegative val="0"/>
          <c:dLbls>
            <c:numFmt formatCode="#,##0" sourceLinked="0"/>
            <c:txPr>
              <a:bodyPr/>
              <a:lstStyle/>
              <a:p>
                <a:pPr>
                  <a:defRPr b="0" i="0" strike="noStrike" sz="85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Restaurants</c:v>
                  </c:pt>
                  <c:pt idx="1">
                    <c:v>Gyms</c:v>
                  </c:pt>
                  <c:pt idx="2">
                    <c:v>Bars</c:v>
                  </c:pt>
                  <c:pt idx="3">
                    <c:v>Waiting Rooms</c:v>
                  </c:pt>
                </c:lvl>
              </c:multiLvlStrCache>
            </c:multiLvlStrRef>
          </c:cat>
          <c:val>
            <c:numRef>
              <c:f>Sheet1!$C$2:$C$5</c:f>
              <c:numCache>
                <c:formatCode>General</c:formatCode>
                <c:ptCount val="4"/>
                <c:pt idx="0">
                  <c:v>7.98</c:v>
                </c:pt>
                <c:pt idx="1">
                  <c:v>5</c:v>
                </c:pt>
                <c:pt idx="2">
                  <c:v>15.1</c:v>
                </c:pt>
                <c:pt idx="3">
                  <c:v>3.76</c:v>
                </c:pt>
              </c:numCache>
            </c:numRef>
          </c:val>
        </c:ser>
        <c:dLbls>
          <c:numFmt formatCode="#,##0" sourceLinked="0"/>
          <c:txPr>
            <a:bodyPr/>
            <a:lstStyle/>
            <a:p>
              <a:pPr>
                <a:defRPr b="0" i="0" strike="noStrike" sz="85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F"/>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Max lift at saturation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Allocated weekly budget ($)</c:v>
                </c:pt>
              </c:strCache>
            </c:strRef>
          </c:tx>
          <c:spPr>
            <a:solidFill>
              <a:srgbClr val="1E2761"/>
            </a:solidFill>
            <a:effectLst/>
          </c:spPr>
          <c:invertIfNegative val="0"/>
          <c:dLbls>
            <c:numFmt formatCode="$#,##0" sourceLinked="0"/>
            <c:txPr>
              <a:bodyPr/>
              <a:lstStyle/>
              <a:p>
                <a:pPr>
                  <a:defRPr b="0" i="0" strike="noStrike" sz="100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Restaurants</c:v>
                  </c:pt>
                  <c:pt idx="1">
                    <c:v>Gyms</c:v>
                  </c:pt>
                  <c:pt idx="2">
                    <c:v>Bars</c:v>
                  </c:pt>
                  <c:pt idx="3">
                    <c:v>Waiting Rooms</c:v>
                  </c:pt>
                </c:lvl>
              </c:multiLvlStrCache>
            </c:multiLvlStrRef>
          </c:cat>
          <c:val>
            <c:numRef>
              <c:f>Sheet1!$B$2:$B$5</c:f>
              <c:numCache>
                <c:formatCode>General</c:formatCode>
                <c:ptCount val="4"/>
                <c:pt idx="0">
                  <c:v>26000</c:v>
                </c:pt>
                <c:pt idx="1">
                  <c:v>25500</c:v>
                </c:pt>
                <c:pt idx="2">
                  <c:v>38250</c:v>
                </c:pt>
                <c:pt idx="3">
                  <c:v>10350</c:v>
                </c:pt>
              </c:numCache>
            </c:numRef>
          </c:val>
        </c:ser>
        <c:dLbls>
          <c:numFmt formatCode="$#,##0" sourceLinked="0"/>
          <c:txPr>
            <a:bodyPr/>
            <a:lstStyle/>
            <a:p>
              <a:pPr>
                <a:defRPr b="0" i="0" strike="noStrike" sz="10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E2761"/>
                </a:solidFill>
                <a:latin typeface="Arial"/>
              </a:defRPr>
            </a:pPr>
            <a:r>
              <a:rPr sz="1150" b="0" i="0" u="none" strike="noStrike">
                <a:solidFill>
                  <a:srgbClr val="1E2761"/>
                </a:solidFill>
                <a:latin typeface="Arial"/>
              </a:rPr>
              <a:t>Feature importance (permutation, test set)</a:t>
            </a:r>
          </a:p>
        </c:rich>
      </c:tx>
      <c:layout/>
      <c:overlay val="0"/>
    </c:title>
    <c:autoTitleDeleted val="0"/>
    <c:plotArea>
      <c:layout/>
      <c:barChart>
        <c:barDir val="bar"/>
        <c:grouping val="clustered"/>
        <c:varyColors val="0"/>
        <c:ser>
          <c:idx val="0"/>
          <c:order val="0"/>
          <c:tx>
            <c:strRef>
              <c:f>Sheet1!$B$1</c:f>
              <c:strCache>
                <c:ptCount val="1"/>
                <c:pt idx="0">
                  <c:v>Importance (mean R² drop)</c:v>
                </c:pt>
              </c:strCache>
            </c:strRef>
          </c:tx>
          <c:spPr>
            <a:solidFill>
              <a:srgbClr val="55A868"/>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dwell time min</c:v>
                  </c:pt>
                  <c:pt idx="1">
                    <c:v>audience quality</c:v>
                  </c:pt>
                  <c:pt idx="2">
                    <c:v>geo cluster</c:v>
                  </c:pt>
                  <c:pt idx="3">
                    <c:v>baseline level</c:v>
                  </c:pt>
                </c:lvl>
              </c:multiLvlStrCache>
            </c:multiLvlStrRef>
          </c:cat>
          <c:val>
            <c:numRef>
              <c:f>Sheet1!$B$2:$B$5</c:f>
              <c:numCache>
                <c:formatCode>General</c:formatCode>
                <c:ptCount val="4"/>
                <c:pt idx="0">
                  <c:v>0.075</c:v>
                </c:pt>
                <c:pt idx="1">
                  <c:v>0.142</c:v>
                </c:pt>
                <c:pt idx="2">
                  <c:v>0.269</c:v>
                </c:pt>
                <c:pt idx="3">
                  <c:v>0.813</c:v>
                </c:pt>
              </c:numCache>
            </c:numRef>
          </c:val>
        </c:ser>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5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B61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761"/>
                </a:solidFill>
                <a:latin typeface="Arial"/>
              </a:defRPr>
            </a:pPr>
            <a:r>
              <a:rPr sz="1100" b="0" i="0" u="none" strike="noStrike">
                <a:solidFill>
                  <a:srgbClr val="1E2761"/>
                </a:solidFill>
                <a:latin typeface="Arial"/>
              </a:rPr>
              <a:t>Feature importance (permutation, test set) — leading indicators</a:t>
            </a:r>
          </a:p>
        </c:rich>
      </c:tx>
      <c:layout/>
      <c:overlay val="0"/>
    </c:title>
    <c:autoTitleDeleted val="0"/>
    <c:plotArea>
      <c:layout/>
      <c:barChart>
        <c:barDir val="bar"/>
        <c:grouping val="clustered"/>
        <c:varyColors val="0"/>
        <c:ser>
          <c:idx val="0"/>
          <c:order val="0"/>
          <c:tx>
            <c:strRef>
              <c:f>Sheet1!$B$1</c:f>
              <c:strCache>
                <c:ptCount val="1"/>
                <c:pt idx="0">
                  <c:v>Importance (mean AUC drop)</c:v>
                </c:pt>
              </c:strCache>
            </c:strRef>
          </c:tx>
          <c:spPr>
            <a:solidFill>
              <a:srgbClr val="C44E52"/>
            </a:solidFill>
            <a:effectLst/>
          </c:spPr>
          <c:invertIfNegative val="0"/>
          <c:dLbls>
            <c:numFmt formatCode="0.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competitor outreach flag</c:v>
                  </c:pt>
                  <c:pt idx="1">
                    <c:v>engagement trend 90d</c:v>
                  </c:pt>
                  <c:pt idx="2">
                    <c:v>realized ad revenue</c:v>
                  </c:pt>
                  <c:pt idx="3">
                    <c:v>screen uptime pct</c:v>
                  </c:pt>
                </c:lvl>
              </c:multiLvlStrCache>
            </c:multiLvlStrRef>
          </c:cat>
          <c:val>
            <c:numRef>
              <c:f>Sheet1!$B$2:$B$5</c:f>
              <c:numCache>
                <c:formatCode>General</c:formatCode>
                <c:ptCount val="4"/>
                <c:pt idx="0">
                  <c:v>0.0089</c:v>
                </c:pt>
                <c:pt idx="1">
                  <c:v>0.0116</c:v>
                </c:pt>
                <c:pt idx="2">
                  <c:v>0.0387</c:v>
                </c:pt>
                <c:pt idx="3">
                  <c:v>0.0792</c:v>
                </c:pt>
              </c:numCache>
            </c:numRef>
          </c:val>
        </c:ser>
        <c:dLbls>
          <c:numFmt formatCode="0.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5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B61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Text 1"/>
          <p:cNvSpPr/>
          <p:nvPr/>
        </p:nvSpPr>
        <p:spPr>
          <a:xfrm>
            <a:off x="822960" y="1965960"/>
            <a:ext cx="10515600" cy="640080"/>
          </a:xfrm>
          <a:prstGeom prst="rect">
            <a:avLst/>
          </a:prstGeom>
          <a:noFill/>
          <a:ln/>
        </p:spPr>
        <p:txBody>
          <a:bodyPr wrap="square" rtlCol="0" anchor="ctr"/>
          <a:lstStyle/>
          <a:p>
            <a:pPr indent="0" marL="0">
              <a:buNone/>
            </a:pPr>
            <a:r>
              <a:rPr lang="en-US" sz="2200" b="1" spc="200" kern="0" dirty="0">
                <a:solidFill>
                  <a:srgbClr val="CADCFC"/>
                </a:solidFill>
                <a:latin typeface="Calibri" pitchFamily="34" charset="0"/>
                <a:ea typeface="Calibri" pitchFamily="34" charset="-122"/>
                <a:cs typeface="Calibri" pitchFamily="34" charset="-120"/>
              </a:rPr>
              <a:t>Atmosphere TV</a:t>
            </a:r>
            <a:endParaRPr lang="en-US" sz="2200" dirty="0"/>
          </a:p>
        </p:txBody>
      </p:sp>
      <p:sp>
        <p:nvSpPr>
          <p:cNvPr id="4" name="Text 2"/>
          <p:cNvSpPr/>
          <p:nvPr/>
        </p:nvSpPr>
        <p:spPr>
          <a:xfrm>
            <a:off x="822960" y="2514600"/>
            <a:ext cx="10515600" cy="173736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DOOH Venue Incrementality &amp;</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Media-Mix Measurement</a:t>
            </a:r>
            <a:endParaRPr lang="en-US" sz="4000" dirty="0"/>
          </a:p>
        </p:txBody>
      </p:sp>
      <p:sp>
        <p:nvSpPr>
          <p:cNvPr id="5" name="Text 3"/>
          <p:cNvSpPr/>
          <p:nvPr/>
        </p:nvSpPr>
        <p:spPr>
          <a:xfrm>
            <a:off x="822960" y="4343400"/>
            <a:ext cx="8961120" cy="82296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causal measurement framework, calibrated media-mix model, budget optimizer, and venue revenue + retention models — built to answer the questions Atmosphere's advertising business and its own network economics run on.</a:t>
            </a:r>
            <a:endParaRPr lang="en-US" sz="1500" dirty="0"/>
          </a:p>
        </p:txBody>
      </p:sp>
      <p:sp>
        <p:nvSpPr>
          <p:cNvPr id="6" name="Text 4"/>
          <p:cNvSpPr/>
          <p:nvPr/>
        </p:nvSpPr>
        <p:spPr>
          <a:xfrm>
            <a:off x="822960" y="5989320"/>
            <a:ext cx="3657600" cy="32004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Yidan Hu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9436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How I'd approach this role</a:t>
            </a:r>
            <a:endParaRPr lang="en-US" sz="2800" dirty="0"/>
          </a:p>
        </p:txBody>
      </p:sp>
      <p:sp>
        <p:nvSpPr>
          <p:cNvPr id="3" name="Text 1"/>
          <p:cNvSpPr/>
          <p:nvPr/>
        </p:nvSpPr>
        <p:spPr>
          <a:xfrm>
            <a:off x="548640" y="1024128"/>
            <a:ext cx="11064240" cy="411480"/>
          </a:xfrm>
          <a:prstGeom prst="rect">
            <a:avLst/>
          </a:prstGeom>
          <a:noFill/>
          <a:ln/>
        </p:spPr>
        <p:txBody>
          <a:bodyPr wrap="square" rtlCol="0" anchor="ctr"/>
          <a:lstStyle/>
          <a:p>
            <a:pPr indent="0" marL="0">
              <a:lnSpc>
                <a:spcPts val="1500"/>
              </a:lnSpc>
              <a:buNone/>
            </a:pPr>
            <a:r>
              <a:rPr lang="en-US" sz="1250" i="1" dirty="0">
                <a:solidFill>
                  <a:srgbClr val="5B6178"/>
                </a:solidFill>
                <a:latin typeface="Calibri" pitchFamily="34" charset="0"/>
                <a:ea typeface="Calibri" pitchFamily="34" charset="-122"/>
                <a:cs typeface="Calibri" pitchFamily="34" charset="-120"/>
              </a:rPr>
              <a:t>Before the demo — the operating thesis behind it: what this role should do for Atmosphere, and how I'd prioritize the first few months as its first data scientist.</a:t>
            </a:r>
            <a:endParaRPr lang="en-US" sz="1250" dirty="0"/>
          </a:p>
        </p:txBody>
      </p:sp>
      <p:sp>
        <p:nvSpPr>
          <p:cNvPr id="4" name="Shape 2"/>
          <p:cNvSpPr/>
          <p:nvPr/>
        </p:nvSpPr>
        <p:spPr>
          <a:xfrm>
            <a:off x="548640" y="1600200"/>
            <a:ext cx="5349240" cy="1554480"/>
          </a:xfrm>
          <a:prstGeom prst="roundRect">
            <a:avLst>
              <a:gd name="adj" fmla="val 5882"/>
            </a:avLst>
          </a:prstGeom>
          <a:solidFill>
            <a:srgbClr val="F5F7FC"/>
          </a:solidFill>
          <a:ln/>
        </p:spPr>
      </p:sp>
      <p:sp>
        <p:nvSpPr>
          <p:cNvPr id="5" name="Text 3"/>
          <p:cNvSpPr/>
          <p:nvPr/>
        </p:nvSpPr>
        <p:spPr>
          <a:xfrm>
            <a:off x="868680" y="1856232"/>
            <a:ext cx="4709160" cy="502920"/>
          </a:xfrm>
          <a:prstGeom prst="rect">
            <a:avLst/>
          </a:prstGeom>
          <a:noFill/>
          <a:ln/>
        </p:spPr>
        <p:txBody>
          <a:bodyPr wrap="square" rtlCol="0" anchor="ctr"/>
          <a:lstStyle/>
          <a:p>
            <a:pPr indent="0" marL="0">
              <a:lnSpc>
                <a:spcPts val="1800"/>
              </a:lnSpc>
              <a:buNone/>
            </a:pPr>
            <a:r>
              <a:rPr lang="en-US" sz="1550" b="1" dirty="0">
                <a:solidFill>
                  <a:srgbClr val="1E2761"/>
                </a:solidFill>
                <a:latin typeface="Cambria" pitchFamily="34" charset="0"/>
                <a:ea typeface="Cambria" pitchFamily="34" charset="-122"/>
                <a:cs typeface="Cambria" pitchFamily="34" charset="-120"/>
              </a:rPr>
              <a:t>Advertising-side measurement</a:t>
            </a:r>
            <a:endParaRPr lang="en-US" sz="1550" dirty="0"/>
          </a:p>
        </p:txBody>
      </p:sp>
      <p:sp>
        <p:nvSpPr>
          <p:cNvPr id="6" name="Text 4"/>
          <p:cNvSpPr/>
          <p:nvPr/>
        </p:nvSpPr>
        <p:spPr>
          <a:xfrm>
            <a:off x="868680" y="2386584"/>
            <a:ext cx="4709160" cy="685800"/>
          </a:xfrm>
          <a:prstGeom prst="rect">
            <a:avLst/>
          </a:prstGeom>
          <a:noFill/>
          <a:ln/>
        </p:spPr>
        <p:txBody>
          <a:bodyPr wrap="square" rtlCol="0" anchor="ctr"/>
          <a:lstStyle/>
          <a:p>
            <a:pPr indent="0" marL="0">
              <a:lnSpc>
                <a:spcPts val="1450"/>
              </a:lnSpc>
              <a:buNone/>
            </a:pPr>
            <a:r>
              <a:rPr lang="en-US" sz="1100" dirty="0">
                <a:solidFill>
                  <a:srgbClr val="1A1A2E"/>
                </a:solidFill>
                <a:latin typeface="Calibri" pitchFamily="34" charset="0"/>
                <a:ea typeface="Calibri" pitchFamily="34" charset="-122"/>
                <a:cs typeface="Calibri" pitchFamily="34" charset="-120"/>
              </a:rPr>
              <a:t>Prove Atmosphere's own incremental foot traffic with methods advertisers can trust — the sell-side differentiator this business runs on. (Answers Q1–Q2.)</a:t>
            </a:r>
            <a:endParaRPr lang="en-US" sz="1100" dirty="0"/>
          </a:p>
        </p:txBody>
      </p:sp>
      <p:sp>
        <p:nvSpPr>
          <p:cNvPr id="7" name="Shape 5"/>
          <p:cNvSpPr/>
          <p:nvPr/>
        </p:nvSpPr>
        <p:spPr>
          <a:xfrm>
            <a:off x="6172200" y="1600200"/>
            <a:ext cx="5349240" cy="1554480"/>
          </a:xfrm>
          <a:prstGeom prst="roundRect">
            <a:avLst>
              <a:gd name="adj" fmla="val 5882"/>
            </a:avLst>
          </a:prstGeom>
          <a:solidFill>
            <a:srgbClr val="F5F7FC"/>
          </a:solidFill>
          <a:ln/>
        </p:spPr>
      </p:sp>
      <p:sp>
        <p:nvSpPr>
          <p:cNvPr id="8" name="Text 6"/>
          <p:cNvSpPr/>
          <p:nvPr/>
        </p:nvSpPr>
        <p:spPr>
          <a:xfrm>
            <a:off x="6492240" y="1856232"/>
            <a:ext cx="4709160" cy="502920"/>
          </a:xfrm>
          <a:prstGeom prst="rect">
            <a:avLst/>
          </a:prstGeom>
          <a:noFill/>
          <a:ln/>
        </p:spPr>
        <p:txBody>
          <a:bodyPr wrap="square" rtlCol="0" anchor="ctr"/>
          <a:lstStyle/>
          <a:p>
            <a:pPr indent="0" marL="0">
              <a:lnSpc>
                <a:spcPts val="1800"/>
              </a:lnSpc>
              <a:buNone/>
            </a:pPr>
            <a:r>
              <a:rPr lang="en-US" sz="1550" b="1" dirty="0">
                <a:solidFill>
                  <a:srgbClr val="1E2761"/>
                </a:solidFill>
                <a:latin typeface="Cambria" pitchFamily="34" charset="0"/>
                <a:ea typeface="Cambria" pitchFamily="34" charset="-122"/>
                <a:cs typeface="Cambria" pitchFamily="34" charset="-120"/>
              </a:rPr>
              <a:t>Venue-network health</a:t>
            </a:r>
            <a:endParaRPr lang="en-US" sz="1550" dirty="0"/>
          </a:p>
        </p:txBody>
      </p:sp>
      <p:sp>
        <p:nvSpPr>
          <p:cNvPr id="9" name="Text 7"/>
          <p:cNvSpPr/>
          <p:nvPr/>
        </p:nvSpPr>
        <p:spPr>
          <a:xfrm>
            <a:off x="6492240" y="2386584"/>
            <a:ext cx="4709160" cy="685800"/>
          </a:xfrm>
          <a:prstGeom prst="rect">
            <a:avLst/>
          </a:prstGeom>
          <a:noFill/>
          <a:ln/>
        </p:spPr>
        <p:txBody>
          <a:bodyPr wrap="square" rtlCol="0" anchor="ctr"/>
          <a:lstStyle/>
          <a:p>
            <a:pPr indent="0" marL="0">
              <a:lnSpc>
                <a:spcPts val="1450"/>
              </a:lnSpc>
              <a:buNone/>
            </a:pPr>
            <a:r>
              <a:rPr lang="en-US" sz="1100" dirty="0">
                <a:solidFill>
                  <a:srgbClr val="1A1A2E"/>
                </a:solidFill>
                <a:latin typeface="Calibri" pitchFamily="34" charset="0"/>
                <a:ea typeface="Calibri" pitchFamily="34" charset="-122"/>
                <a:cs typeface="Calibri" pitchFamily="34" charset="-120"/>
              </a:rPr>
              <a:t>Know which venues are generating less ad revenue than their audience is worth, and which are at risk of leaving — protect and grow the inventory Atmosphere actually sells. (Answers Q3–Q4.)</a:t>
            </a:r>
            <a:endParaRPr lang="en-US" sz="1100" dirty="0"/>
          </a:p>
        </p:txBody>
      </p:sp>
      <p:sp>
        <p:nvSpPr>
          <p:cNvPr id="10" name="Shape 8"/>
          <p:cNvSpPr/>
          <p:nvPr/>
        </p:nvSpPr>
        <p:spPr>
          <a:xfrm>
            <a:off x="548640" y="3429000"/>
            <a:ext cx="11064240" cy="1417320"/>
          </a:xfrm>
          <a:prstGeom prst="roundRect">
            <a:avLst>
              <a:gd name="adj" fmla="val 5161"/>
            </a:avLst>
          </a:prstGeom>
          <a:solidFill>
            <a:srgbClr val="FDF1E3"/>
          </a:solidFill>
          <a:ln/>
        </p:spPr>
      </p:sp>
      <p:sp>
        <p:nvSpPr>
          <p:cNvPr id="11" name="Text 9"/>
          <p:cNvSpPr/>
          <p:nvPr/>
        </p:nvSpPr>
        <p:spPr>
          <a:xfrm>
            <a:off x="777240" y="3538728"/>
            <a:ext cx="10607040" cy="365760"/>
          </a:xfrm>
          <a:prstGeom prst="rect">
            <a:avLst/>
          </a:prstGeom>
          <a:noFill/>
          <a:ln/>
        </p:spPr>
        <p:txBody>
          <a:bodyPr wrap="square" rtlCol="0" anchor="ctr"/>
          <a:lstStyle/>
          <a:p>
            <a:pPr indent="0" marL="0">
              <a:buNone/>
            </a:pPr>
            <a:r>
              <a:rPr lang="en-US" sz="1350" b="1" dirty="0">
                <a:solidFill>
                  <a:srgbClr val="8A4B0A"/>
                </a:solidFill>
                <a:latin typeface="Cambria" pitchFamily="34" charset="0"/>
                <a:ea typeface="Cambria" pitchFamily="34" charset="-122"/>
                <a:cs typeface="Cambria" pitchFamily="34" charset="-120"/>
              </a:rPr>
              <a:t>Not a “quick win vs. foundation” tradeoff — do both in one move</a:t>
            </a:r>
            <a:endParaRPr lang="en-US" sz="1350" dirty="0"/>
          </a:p>
        </p:txBody>
      </p:sp>
      <p:sp>
        <p:nvSpPr>
          <p:cNvPr id="12" name="Text 10"/>
          <p:cNvSpPr/>
          <p:nvPr/>
        </p:nvSpPr>
        <p:spPr>
          <a:xfrm>
            <a:off x="777240" y="3904488"/>
            <a:ext cx="10607040" cy="868680"/>
          </a:xfrm>
          <a:prstGeom prst="rect">
            <a:avLst/>
          </a:prstGeom>
          <a:noFill/>
          <a:ln/>
        </p:spPr>
        <p:txBody>
          <a:bodyPr wrap="square" rtlCol="0" anchor="ctr"/>
          <a:lstStyle/>
          <a:p>
            <a:pPr indent="0" marL="0">
              <a:lnSpc>
                <a:spcPts val="1450"/>
              </a:lnSpc>
              <a:buNone/>
            </a:pPr>
            <a:r>
              <a:rPr lang="en-US" sz="1100" i="1" dirty="0">
                <a:solidFill>
                  <a:srgbClr val="8A4B0A"/>
                </a:solidFill>
                <a:latin typeface="Calibri" pitchFamily="34" charset="0"/>
                <a:ea typeface="Calibri" pitchFamily="34" charset="-122"/>
                <a:cs typeface="Calibri" pitchFamily="34" charset="-120"/>
              </a:rPr>
              <a:t>A stratified RCT geo-holdout is the fastest trustworthy result available — and it doubles as the calibration anchor every other method here relies on: synthetic control's placebo check, the MMM's scale, and the venue models' causal-value feature. Ship it first and the “quick win” and the “foundation” are the same deliverable. The venue-network data pipeline (economics + retention features) doesn't have to wait on it — it builds in parallel.</a:t>
            </a:r>
            <a:endParaRPr lang="en-US" sz="1100" dirty="0"/>
          </a:p>
        </p:txBody>
      </p:sp>
      <p:sp>
        <p:nvSpPr>
          <p:cNvPr id="13" name="Text 11"/>
          <p:cNvSpPr/>
          <p:nvPr/>
        </p:nvSpPr>
        <p:spPr>
          <a:xfrm>
            <a:off x="548640" y="5047488"/>
            <a:ext cx="11064240" cy="292608"/>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What “done” means</a:t>
            </a:r>
            <a:endParaRPr lang="en-US" sz="1250" dirty="0"/>
          </a:p>
        </p:txBody>
      </p:sp>
      <p:sp>
        <p:nvSpPr>
          <p:cNvPr id="14" name="Text 12"/>
          <p:cNvSpPr/>
          <p:nvPr/>
        </p:nvSpPr>
        <p:spPr>
          <a:xfrm>
            <a:off x="548640" y="5358384"/>
            <a:ext cx="11064240" cy="502920"/>
          </a:xfrm>
          <a:prstGeom prst="rect">
            <a:avLst/>
          </a:prstGeom>
          <a:noFill/>
          <a:ln/>
        </p:spPr>
        <p:txBody>
          <a:bodyPr wrap="square" rtlCol="0" anchor="ctr"/>
          <a:lstStyle/>
          <a:p>
            <a:pPr indent="0" marL="0">
              <a:lnSpc>
                <a:spcPts val="1450"/>
              </a:lnSpc>
              <a:buNone/>
            </a:pPr>
            <a:r>
              <a:rPr lang="en-US" sz="1100" dirty="0">
                <a:solidFill>
                  <a:srgbClr val="1A1A2E"/>
                </a:solidFill>
                <a:latin typeface="Calibri" pitchFamily="34" charset="0"/>
                <a:ea typeface="Calibri" pitchFamily="34" charset="-122"/>
                <a:cs typeface="Calibri" pitchFamily="34" charset="-120"/>
              </a:rPr>
              <a:t>Sales and account teams making different decisions with it: a trusted lift number in a client pitch, a budget conversation anchored to a real response curve, an outreach list ranked by value × risk instead of instinct — not just a model with a good accuracy number.</a:t>
            </a:r>
            <a:endParaRPr lang="en-US" sz="1100" dirty="0"/>
          </a:p>
        </p:txBody>
      </p:sp>
      <p:sp>
        <p:nvSpPr>
          <p:cNvPr id="15" name="Text 13"/>
          <p:cNvSpPr/>
          <p:nvPr/>
        </p:nvSpPr>
        <p:spPr>
          <a:xfrm>
            <a:off x="548640" y="6108192"/>
            <a:ext cx="11064240" cy="365760"/>
          </a:xfrm>
          <a:prstGeom prst="rect">
            <a:avLst/>
          </a:prstGeom>
          <a:noFill/>
          <a:ln/>
        </p:spPr>
        <p:txBody>
          <a:bodyPr wrap="square" rtlCol="0" anchor="ctr"/>
          <a:lstStyle/>
          <a:p>
            <a:pPr indent="0" marL="0">
              <a:buNone/>
            </a:pPr>
            <a:r>
              <a:rPr lang="en-US" sz="1150" i="1" dirty="0">
                <a:solidFill>
                  <a:srgbClr val="E8871E"/>
                </a:solidFill>
                <a:latin typeface="Calibri" pitchFamily="34" charset="0"/>
                <a:ea typeface="Calibri" pitchFamily="34" charset="-122"/>
                <a:cs typeface="Calibri" pitchFamily="34" charset="-120"/>
              </a:rPr>
              <a:t>What follows is one concrete example of applying this approach — a synthetic demo.</a:t>
            </a:r>
            <a:endParaRPr lang="en-US" sz="1150" dirty="0"/>
          </a:p>
        </p:txBody>
      </p:sp>
      <p:sp>
        <p:nvSpPr>
          <p:cNvPr id="16" name="Text 1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How I'd approach this role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9436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Honest scope</a:t>
            </a:r>
            <a:endParaRPr lang="en-US" sz="2800" dirty="0"/>
          </a:p>
        </p:txBody>
      </p:sp>
      <p:sp>
        <p:nvSpPr>
          <p:cNvPr id="3" name="Text 1"/>
          <p:cNvSpPr/>
          <p:nvPr/>
        </p:nvSpPr>
        <p:spPr>
          <a:xfrm>
            <a:off x="548640" y="1005840"/>
            <a:ext cx="10972800" cy="365760"/>
          </a:xfrm>
          <a:prstGeom prst="rect">
            <a:avLst/>
          </a:prstGeom>
          <a:noFill/>
          <a:ln/>
        </p:spPr>
        <p:txBody>
          <a:bodyPr wrap="square" rtlCol="0" anchor="ctr"/>
          <a:lstStyle/>
          <a:p>
            <a:pPr indent="0" marL="0">
              <a:buNone/>
            </a:pPr>
            <a:r>
              <a:rPr lang="en-US" sz="1250" i="1" dirty="0">
                <a:solidFill>
                  <a:srgbClr val="5B6178"/>
                </a:solidFill>
                <a:latin typeface="Calibri" pitchFamily="34" charset="0"/>
                <a:ea typeface="Calibri" pitchFamily="34" charset="-122"/>
                <a:cs typeface="Calibri" pitchFamily="34" charset="-120"/>
              </a:rPr>
              <a:t>Before the demo that follows: the scope caveats specific to this project, stated up front rather than saved for the closing slide.</a:t>
            </a:r>
            <a:endParaRPr lang="en-US" sz="1250" dirty="0"/>
          </a:p>
        </p:txBody>
      </p:sp>
      <p:sp>
        <p:nvSpPr>
          <p:cNvPr id="4" name="Shape 2"/>
          <p:cNvSpPr/>
          <p:nvPr/>
        </p:nvSpPr>
        <p:spPr>
          <a:xfrm>
            <a:off x="548640" y="1636776"/>
            <a:ext cx="109728" cy="621792"/>
          </a:xfrm>
          <a:prstGeom prst="rect">
            <a:avLst/>
          </a:prstGeom>
          <a:solidFill>
            <a:srgbClr val="E8871E"/>
          </a:solidFill>
          <a:ln/>
        </p:spPr>
      </p:sp>
      <p:sp>
        <p:nvSpPr>
          <p:cNvPr id="5" name="Text 3"/>
          <p:cNvSpPr/>
          <p:nvPr/>
        </p:nvSpPr>
        <p:spPr>
          <a:xfrm>
            <a:off x="868680" y="1600200"/>
            <a:ext cx="2743200" cy="713232"/>
          </a:xfrm>
          <a:prstGeom prst="rect">
            <a:avLst/>
          </a:prstGeom>
          <a:noFill/>
          <a:ln/>
        </p:spPr>
        <p:txBody>
          <a:bodyPr wrap="square" rtlCol="0" anchor="t"/>
          <a:lstStyle/>
          <a:p>
            <a:pPr indent="0" marL="0">
              <a:lnSpc>
                <a:spcPts val="1300"/>
              </a:lnSpc>
              <a:buNone/>
            </a:pPr>
            <a:r>
              <a:rPr lang="en-US" sz="1200" b="1" dirty="0">
                <a:solidFill>
                  <a:srgbClr val="1E2761"/>
                </a:solidFill>
                <a:latin typeface="Calibri" pitchFamily="34" charset="0"/>
                <a:ea typeface="Calibri" pitchFamily="34" charset="-122"/>
                <a:cs typeface="Calibri" pitchFamily="34" charset="-120"/>
              </a:rPr>
              <a:t>Synthetic data</a:t>
            </a:r>
            <a:endParaRPr lang="en-US" sz="1200" dirty="0"/>
          </a:p>
        </p:txBody>
      </p:sp>
      <p:sp>
        <p:nvSpPr>
          <p:cNvPr id="6" name="Text 4"/>
          <p:cNvSpPr/>
          <p:nvPr/>
        </p:nvSpPr>
        <p:spPr>
          <a:xfrm>
            <a:off x="3794760" y="1600200"/>
            <a:ext cx="7863840" cy="713232"/>
          </a:xfrm>
          <a:prstGeom prst="rect">
            <a:avLst/>
          </a:prstGeom>
          <a:noFill/>
          <a:ln/>
        </p:spPr>
        <p:txBody>
          <a:bodyPr wrap="square" rtlCol="0" anchor="t"/>
          <a:lstStyle/>
          <a:p>
            <a:pPr indent="0" marL="0">
              <a:lnSpc>
                <a:spcPts val="1250"/>
              </a:lnSpc>
              <a:buNone/>
            </a:pPr>
            <a:r>
              <a:rPr lang="en-US" sz="1050" dirty="0">
                <a:solidFill>
                  <a:srgbClr val="1A1A2E"/>
                </a:solidFill>
                <a:latin typeface="Calibri" pitchFamily="34" charset="0"/>
                <a:ea typeface="Calibri" pitchFamily="34" charset="-122"/>
                <a:cs typeface="Calibri" pitchFamily="34" charset="-120"/>
              </a:rPr>
              <a:t>Every figure in this project is synthetic. The focus here is the methodology for solving the problem, not real company data or figures.</a:t>
            </a:r>
            <a:endParaRPr lang="en-US" sz="1050" dirty="0"/>
          </a:p>
        </p:txBody>
      </p:sp>
      <p:sp>
        <p:nvSpPr>
          <p:cNvPr id="7" name="Shape 5"/>
          <p:cNvSpPr/>
          <p:nvPr/>
        </p:nvSpPr>
        <p:spPr>
          <a:xfrm>
            <a:off x="548640" y="2423160"/>
            <a:ext cx="109728" cy="621792"/>
          </a:xfrm>
          <a:prstGeom prst="rect">
            <a:avLst/>
          </a:prstGeom>
          <a:solidFill>
            <a:srgbClr val="E8871E"/>
          </a:solidFill>
          <a:ln/>
        </p:spPr>
      </p:sp>
      <p:sp>
        <p:nvSpPr>
          <p:cNvPr id="8" name="Text 6"/>
          <p:cNvSpPr/>
          <p:nvPr/>
        </p:nvSpPr>
        <p:spPr>
          <a:xfrm>
            <a:off x="868680" y="2386584"/>
            <a:ext cx="2743200" cy="713232"/>
          </a:xfrm>
          <a:prstGeom prst="rect">
            <a:avLst/>
          </a:prstGeom>
          <a:noFill/>
          <a:ln/>
        </p:spPr>
        <p:txBody>
          <a:bodyPr wrap="square" rtlCol="0" anchor="t"/>
          <a:lstStyle/>
          <a:p>
            <a:pPr indent="0" marL="0">
              <a:lnSpc>
                <a:spcPts val="1300"/>
              </a:lnSpc>
              <a:buNone/>
            </a:pPr>
            <a:r>
              <a:rPr lang="en-US" sz="1200" b="1" dirty="0">
                <a:solidFill>
                  <a:srgbClr val="1E2761"/>
                </a:solidFill>
                <a:latin typeface="Calibri" pitchFamily="34" charset="0"/>
                <a:ea typeface="Calibri" pitchFamily="34" charset="-122"/>
                <a:cs typeface="Calibri" pitchFamily="34" charset="-120"/>
              </a:rPr>
              <a:t>Media-effectiveness &amp; rate-card figures</a:t>
            </a:r>
            <a:endParaRPr lang="en-US" sz="1200" dirty="0"/>
          </a:p>
        </p:txBody>
      </p:sp>
      <p:sp>
        <p:nvSpPr>
          <p:cNvPr id="9" name="Text 7"/>
          <p:cNvSpPr/>
          <p:nvPr/>
        </p:nvSpPr>
        <p:spPr>
          <a:xfrm>
            <a:off x="3794760" y="2386584"/>
            <a:ext cx="7863840" cy="713232"/>
          </a:xfrm>
          <a:prstGeom prst="rect">
            <a:avLst/>
          </a:prstGeom>
          <a:noFill/>
          <a:ln/>
        </p:spPr>
        <p:txBody>
          <a:bodyPr wrap="square" rtlCol="0" anchor="t"/>
          <a:lstStyle/>
          <a:p>
            <a:pPr indent="0" marL="0">
              <a:lnSpc>
                <a:spcPts val="1250"/>
              </a:lnSpc>
              <a:buNone/>
            </a:pPr>
            <a:r>
              <a:rPr lang="en-US" sz="1050" dirty="0">
                <a:solidFill>
                  <a:srgbClr val="1A1A2E"/>
                </a:solidFill>
                <a:latin typeface="Calibri" pitchFamily="34" charset="0"/>
                <a:ea typeface="Calibri" pitchFamily="34" charset="-122"/>
                <a:cs typeface="Calibri" pitchFamily="34" charset="-120"/>
              </a:rPr>
              <a:t>Dwell time, screen count, ad rate card, and similar parameters shown are illustrative demo values, not researched real industry benchmarks. In production: Nielsen OOH, DSP data (e.g. Vistar), or Atmosphere's own play logs and rate card.</a:t>
            </a:r>
            <a:endParaRPr lang="en-US" sz="1050" dirty="0"/>
          </a:p>
        </p:txBody>
      </p:sp>
      <p:sp>
        <p:nvSpPr>
          <p:cNvPr id="10" name="Shape 8"/>
          <p:cNvSpPr/>
          <p:nvPr/>
        </p:nvSpPr>
        <p:spPr>
          <a:xfrm>
            <a:off x="548640" y="3209544"/>
            <a:ext cx="109728" cy="621792"/>
          </a:xfrm>
          <a:prstGeom prst="rect">
            <a:avLst/>
          </a:prstGeom>
          <a:solidFill>
            <a:srgbClr val="E8871E"/>
          </a:solidFill>
          <a:ln/>
        </p:spPr>
      </p:sp>
      <p:sp>
        <p:nvSpPr>
          <p:cNvPr id="11" name="Text 9"/>
          <p:cNvSpPr/>
          <p:nvPr/>
        </p:nvSpPr>
        <p:spPr>
          <a:xfrm>
            <a:off x="868680" y="3172968"/>
            <a:ext cx="2743200" cy="713232"/>
          </a:xfrm>
          <a:prstGeom prst="rect">
            <a:avLst/>
          </a:prstGeom>
          <a:noFill/>
          <a:ln/>
        </p:spPr>
        <p:txBody>
          <a:bodyPr wrap="square" rtlCol="0" anchor="t"/>
          <a:lstStyle/>
          <a:p>
            <a:pPr indent="0" marL="0">
              <a:lnSpc>
                <a:spcPts val="1300"/>
              </a:lnSpc>
              <a:buNone/>
            </a:pPr>
            <a:r>
              <a:rPr lang="en-US" sz="1200" b="1" dirty="0">
                <a:solidFill>
                  <a:srgbClr val="1E2761"/>
                </a:solidFill>
                <a:latin typeface="Calibri" pitchFamily="34" charset="0"/>
                <a:ea typeface="Calibri" pitchFamily="34" charset="-122"/>
                <a:cs typeface="Calibri" pitchFamily="34" charset="-120"/>
              </a:rPr>
              <a:t>Multi-touch attribution — deliberately not built</a:t>
            </a:r>
            <a:endParaRPr lang="en-US" sz="1200" dirty="0"/>
          </a:p>
        </p:txBody>
      </p:sp>
      <p:sp>
        <p:nvSpPr>
          <p:cNvPr id="12" name="Text 10"/>
          <p:cNvSpPr/>
          <p:nvPr/>
        </p:nvSpPr>
        <p:spPr>
          <a:xfrm>
            <a:off x="3794760" y="3172968"/>
            <a:ext cx="7863840" cy="713232"/>
          </a:xfrm>
          <a:prstGeom prst="rect">
            <a:avLst/>
          </a:prstGeom>
          <a:noFill/>
          <a:ln/>
        </p:spPr>
        <p:txBody>
          <a:bodyPr wrap="square" rtlCol="0" anchor="t"/>
          <a:lstStyle/>
          <a:p>
            <a:pPr indent="0" marL="0">
              <a:lnSpc>
                <a:spcPts val="1250"/>
              </a:lnSpc>
              <a:buNone/>
            </a:pPr>
            <a:r>
              <a:rPr lang="en-US" sz="1050" dirty="0">
                <a:solidFill>
                  <a:srgbClr val="1A1A2E"/>
                </a:solidFill>
                <a:latin typeface="Calibri" pitchFamily="34" charset="0"/>
                <a:ea typeface="Calibri" pitchFamily="34" charset="-122"/>
                <a:cs typeface="Calibri" pitchFamily="34" charset="-120"/>
              </a:rPr>
              <a:t>Atmosphere's ambient-screen model has no individual-level, cross-venue touchpoint log by default. Building MTA would require purchased mobile location/device-matching data — a real but non-default assumption, so it's scoped out rather than forced.</a:t>
            </a:r>
            <a:endParaRPr lang="en-US" sz="1050" dirty="0"/>
          </a:p>
        </p:txBody>
      </p:sp>
      <p:sp>
        <p:nvSpPr>
          <p:cNvPr id="13" name="Shape 11"/>
          <p:cNvSpPr/>
          <p:nvPr/>
        </p:nvSpPr>
        <p:spPr>
          <a:xfrm>
            <a:off x="548640" y="3995928"/>
            <a:ext cx="109728" cy="621792"/>
          </a:xfrm>
          <a:prstGeom prst="rect">
            <a:avLst/>
          </a:prstGeom>
          <a:solidFill>
            <a:srgbClr val="E8871E"/>
          </a:solidFill>
          <a:ln/>
        </p:spPr>
      </p:sp>
      <p:sp>
        <p:nvSpPr>
          <p:cNvPr id="14" name="Text 12"/>
          <p:cNvSpPr/>
          <p:nvPr/>
        </p:nvSpPr>
        <p:spPr>
          <a:xfrm>
            <a:off x="868680" y="3959352"/>
            <a:ext cx="2743200" cy="713232"/>
          </a:xfrm>
          <a:prstGeom prst="rect">
            <a:avLst/>
          </a:prstGeom>
          <a:noFill/>
          <a:ln/>
        </p:spPr>
        <p:txBody>
          <a:bodyPr wrap="square" rtlCol="0" anchor="t"/>
          <a:lstStyle/>
          <a:p>
            <a:pPr indent="0" marL="0">
              <a:lnSpc>
                <a:spcPts val="1300"/>
              </a:lnSpc>
              <a:buNone/>
            </a:pPr>
            <a:r>
              <a:rPr lang="en-US" sz="1200" b="1" dirty="0">
                <a:solidFill>
                  <a:srgbClr val="1E2761"/>
                </a:solidFill>
                <a:latin typeface="Calibri" pitchFamily="34" charset="0"/>
                <a:ea typeface="Calibri" pitchFamily="34" charset="-122"/>
                <a:cs typeface="Calibri" pitchFamily="34" charset="-120"/>
              </a:rPr>
              <a:t>Online-purchase attribution — also out of scope</a:t>
            </a:r>
            <a:endParaRPr lang="en-US" sz="1200" dirty="0"/>
          </a:p>
        </p:txBody>
      </p:sp>
      <p:sp>
        <p:nvSpPr>
          <p:cNvPr id="15" name="Text 13"/>
          <p:cNvSpPr/>
          <p:nvPr/>
        </p:nvSpPr>
        <p:spPr>
          <a:xfrm>
            <a:off x="3794760" y="3959352"/>
            <a:ext cx="7863840" cy="713232"/>
          </a:xfrm>
          <a:prstGeom prst="rect">
            <a:avLst/>
          </a:prstGeom>
          <a:noFill/>
          <a:ln/>
        </p:spPr>
        <p:txBody>
          <a:bodyPr wrap="square" rtlCol="0" anchor="t"/>
          <a:lstStyle/>
          <a:p>
            <a:pPr indent="0" marL="0">
              <a:lnSpc>
                <a:spcPts val="1250"/>
              </a:lnSpc>
              <a:buNone/>
            </a:pPr>
            <a:r>
              <a:rPr lang="en-US" sz="1050" dirty="0">
                <a:solidFill>
                  <a:srgbClr val="1A1A2E"/>
                </a:solidFill>
                <a:latin typeface="Calibri" pitchFamily="34" charset="0"/>
                <a:ea typeface="Calibri" pitchFamily="34" charset="-122"/>
                <a:cs typeface="Calibri" pitchFamily="34" charset="-120"/>
              </a:rPr>
              <a:t>Every method here measures incremental foot traffic, not downstream online purchases. Tying exposure to e-commerce conversions needs a device-matched exposure-to-transaction panel — a further non-default assumption layered on top of MTA's.</a:t>
            </a:r>
            <a:endParaRPr lang="en-US" sz="1050" dirty="0"/>
          </a:p>
        </p:txBody>
      </p:sp>
      <p:sp>
        <p:nvSpPr>
          <p:cNvPr id="16" name="Shape 14"/>
          <p:cNvSpPr/>
          <p:nvPr/>
        </p:nvSpPr>
        <p:spPr>
          <a:xfrm>
            <a:off x="548640" y="4782312"/>
            <a:ext cx="109728" cy="621792"/>
          </a:xfrm>
          <a:prstGeom prst="rect">
            <a:avLst/>
          </a:prstGeom>
          <a:solidFill>
            <a:srgbClr val="E8871E"/>
          </a:solidFill>
          <a:ln/>
        </p:spPr>
      </p:sp>
      <p:sp>
        <p:nvSpPr>
          <p:cNvPr id="17" name="Text 15"/>
          <p:cNvSpPr/>
          <p:nvPr/>
        </p:nvSpPr>
        <p:spPr>
          <a:xfrm>
            <a:off x="868680" y="4745736"/>
            <a:ext cx="2743200" cy="713232"/>
          </a:xfrm>
          <a:prstGeom prst="rect">
            <a:avLst/>
          </a:prstGeom>
          <a:noFill/>
          <a:ln/>
        </p:spPr>
        <p:txBody>
          <a:bodyPr wrap="square" rtlCol="0" anchor="t"/>
          <a:lstStyle/>
          <a:p>
            <a:pPr indent="0" marL="0">
              <a:lnSpc>
                <a:spcPts val="1300"/>
              </a:lnSpc>
              <a:buNone/>
            </a:pPr>
            <a:r>
              <a:rPr lang="en-US" sz="1200" b="1" dirty="0">
                <a:solidFill>
                  <a:srgbClr val="1E2761"/>
                </a:solidFill>
                <a:latin typeface="Calibri" pitchFamily="34" charset="0"/>
                <a:ea typeface="Calibri" pitchFamily="34" charset="-122"/>
                <a:cs typeface="Calibri" pitchFamily="34" charset="-120"/>
              </a:rPr>
              <a:t>Cost &amp; revenue assumptions</a:t>
            </a:r>
            <a:endParaRPr lang="en-US" sz="1200" dirty="0"/>
          </a:p>
        </p:txBody>
      </p:sp>
      <p:sp>
        <p:nvSpPr>
          <p:cNvPr id="18" name="Text 16"/>
          <p:cNvSpPr/>
          <p:nvPr/>
        </p:nvSpPr>
        <p:spPr>
          <a:xfrm>
            <a:off x="3794760" y="4745736"/>
            <a:ext cx="7863840" cy="713232"/>
          </a:xfrm>
          <a:prstGeom prst="rect">
            <a:avLst/>
          </a:prstGeom>
          <a:noFill/>
          <a:ln/>
        </p:spPr>
        <p:txBody>
          <a:bodyPr wrap="square" rtlCol="0" anchor="t"/>
          <a:lstStyle/>
          <a:p>
            <a:pPr indent="0" marL="0">
              <a:lnSpc>
                <a:spcPts val="1250"/>
              </a:lnSpc>
              <a:buNone/>
            </a:pPr>
            <a:r>
              <a:rPr lang="en-US" sz="1050" dirty="0">
                <a:solidFill>
                  <a:srgbClr val="1A1A2E"/>
                </a:solidFill>
                <a:latin typeface="Calibri" pitchFamily="34" charset="0"/>
                <a:ea typeface="Calibri" pitchFamily="34" charset="-122"/>
                <a:cs typeface="Calibri" pitchFamily="34" charset="-120"/>
              </a:rPr>
              <a:t>The $/frequency-unit figures behind the budget allocator, and the ad-rate-card behind the venue-revenue model, are illustrative, editable placeholders — in production these come from Atmosphere's own rate card by venue type and daypart.</a:t>
            </a:r>
            <a:endParaRPr lang="en-US" sz="1050" dirty="0"/>
          </a:p>
        </p:txBody>
      </p:sp>
      <p:sp>
        <p:nvSpPr>
          <p:cNvPr id="19" name="Shape 17"/>
          <p:cNvSpPr/>
          <p:nvPr/>
        </p:nvSpPr>
        <p:spPr>
          <a:xfrm>
            <a:off x="548640" y="5568696"/>
            <a:ext cx="109728" cy="621792"/>
          </a:xfrm>
          <a:prstGeom prst="rect">
            <a:avLst/>
          </a:prstGeom>
          <a:solidFill>
            <a:srgbClr val="E8871E"/>
          </a:solidFill>
          <a:ln/>
        </p:spPr>
      </p:sp>
      <p:sp>
        <p:nvSpPr>
          <p:cNvPr id="20" name="Text 18"/>
          <p:cNvSpPr/>
          <p:nvPr/>
        </p:nvSpPr>
        <p:spPr>
          <a:xfrm>
            <a:off x="868680" y="5532120"/>
            <a:ext cx="2743200" cy="713232"/>
          </a:xfrm>
          <a:prstGeom prst="rect">
            <a:avLst/>
          </a:prstGeom>
          <a:noFill/>
          <a:ln/>
        </p:spPr>
        <p:txBody>
          <a:bodyPr wrap="square" rtlCol="0" anchor="t"/>
          <a:lstStyle/>
          <a:p>
            <a:pPr indent="0" marL="0">
              <a:lnSpc>
                <a:spcPts val="1300"/>
              </a:lnSpc>
              <a:buNone/>
            </a:pPr>
            <a:r>
              <a:rPr lang="en-US" sz="1200" b="1" dirty="0">
                <a:solidFill>
                  <a:srgbClr val="1E2761"/>
                </a:solidFill>
                <a:latin typeface="Calibri" pitchFamily="34" charset="0"/>
                <a:ea typeface="Calibri" pitchFamily="34" charset="-122"/>
                <a:cs typeface="Calibri" pitchFamily="34" charset="-120"/>
              </a:rPr>
              <a:t>Retention model — its own caveats</a:t>
            </a:r>
            <a:endParaRPr lang="en-US" sz="1200" dirty="0"/>
          </a:p>
        </p:txBody>
      </p:sp>
      <p:sp>
        <p:nvSpPr>
          <p:cNvPr id="21" name="Text 19"/>
          <p:cNvSpPr/>
          <p:nvPr/>
        </p:nvSpPr>
        <p:spPr>
          <a:xfrm>
            <a:off x="3794760" y="5532120"/>
            <a:ext cx="7863840" cy="713232"/>
          </a:xfrm>
          <a:prstGeom prst="rect">
            <a:avLst/>
          </a:prstGeom>
          <a:noFill/>
          <a:ln/>
        </p:spPr>
        <p:txBody>
          <a:bodyPr wrap="square" rtlCol="0" anchor="t"/>
          <a:lstStyle/>
          <a:p>
            <a:pPr indent="0" marL="0">
              <a:lnSpc>
                <a:spcPts val="1250"/>
              </a:lnSpc>
              <a:buNone/>
            </a:pPr>
            <a:r>
              <a:rPr lang="en-US" sz="1050" dirty="0">
                <a:solidFill>
                  <a:srgbClr val="1A1A2E"/>
                </a:solidFill>
                <a:latin typeface="Calibri" pitchFamily="34" charset="0"/>
                <a:ea typeface="Calibri" pitchFamily="34" charset="-122"/>
                <a:cs typeface="Calibri" pitchFamily="34" charset="-120"/>
              </a:rPr>
              <a:t>Churn-hazard, competitive-geo, and engagement-signal parameters are illustrative, not researched attrition benchmarks. geo_cluster is deliberately excluded (small-sample tradeoff); realized_ad_revenue's importance is a venue_type confound, not a causal driver; no prospect-side retention model.</a:t>
            </a:r>
            <a:endParaRPr lang="en-US" sz="1050" dirty="0"/>
          </a:p>
        </p:txBody>
      </p:sp>
      <p:sp>
        <p:nvSpPr>
          <p:cNvPr id="22" name="Text 20"/>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Honest scope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9436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Four questions this project answers</a:t>
            </a:r>
            <a:endParaRPr lang="en-US" sz="2800" dirty="0"/>
          </a:p>
        </p:txBody>
      </p:sp>
      <p:sp>
        <p:nvSpPr>
          <p:cNvPr id="3" name="Text 1"/>
          <p:cNvSpPr/>
          <p:nvPr/>
        </p:nvSpPr>
        <p:spPr>
          <a:xfrm>
            <a:off x="548640" y="987552"/>
            <a:ext cx="10972800" cy="320040"/>
          </a:xfrm>
          <a:prstGeom prst="rect">
            <a:avLst/>
          </a:prstGeom>
          <a:noFill/>
          <a:ln/>
        </p:spPr>
        <p:txBody>
          <a:bodyPr wrap="square" rtlCol="0" anchor="ctr"/>
          <a:lstStyle/>
          <a:p>
            <a:pPr indent="0" marL="0">
              <a:buNone/>
            </a:pPr>
            <a:r>
              <a:rPr lang="en-US" sz="1200" i="1" dirty="0">
                <a:solidFill>
                  <a:srgbClr val="5B6178"/>
                </a:solidFill>
                <a:latin typeface="Calibri" pitchFamily="34" charset="0"/>
                <a:ea typeface="Calibri" pitchFamily="34" charset="-122"/>
                <a:cs typeface="Calibri" pitchFamily="34" charset="-120"/>
              </a:rPr>
              <a:t>Q1–Q2 answer the advertising side (what Atmosphere sells); Q3–Q4 answer the venue-network side (what Atmosphere runs).</a:t>
            </a:r>
            <a:endParaRPr lang="en-US" sz="1200" dirty="0"/>
          </a:p>
        </p:txBody>
      </p:sp>
      <p:sp>
        <p:nvSpPr>
          <p:cNvPr id="4" name="Shape 2"/>
          <p:cNvSpPr/>
          <p:nvPr/>
        </p:nvSpPr>
        <p:spPr>
          <a:xfrm>
            <a:off x="548640" y="1463040"/>
            <a:ext cx="2606040" cy="4617720"/>
          </a:xfrm>
          <a:prstGeom prst="roundRect">
            <a:avLst>
              <a:gd name="adj" fmla="val 4211"/>
            </a:avLst>
          </a:prstGeom>
          <a:solidFill>
            <a:srgbClr val="F5F7FC"/>
          </a:solidFill>
          <a:ln/>
          <a:effectLst>
            <a:outerShdw sx="100000" sy="100000" kx="0" ky="0" algn="bl" rotWithShape="0" blurRad="76200" dist="38100" dir="5400000">
              <a:srgbClr val="888888">
                <a:alpha val="25000"/>
              </a:srgbClr>
            </a:outerShdw>
          </a:effectLst>
        </p:spPr>
      </p:sp>
      <p:sp>
        <p:nvSpPr>
          <p:cNvPr id="5" name="Shape 3"/>
          <p:cNvSpPr/>
          <p:nvPr/>
        </p:nvSpPr>
        <p:spPr>
          <a:xfrm>
            <a:off x="804672" y="1737360"/>
            <a:ext cx="502920" cy="502920"/>
          </a:xfrm>
          <a:prstGeom prst="ellipse">
            <a:avLst/>
          </a:prstGeom>
          <a:solidFill>
            <a:srgbClr val="1E2761"/>
          </a:solidFill>
          <a:ln/>
        </p:spPr>
      </p:sp>
      <p:sp>
        <p:nvSpPr>
          <p:cNvPr id="6" name="Text 4"/>
          <p:cNvSpPr/>
          <p:nvPr/>
        </p:nvSpPr>
        <p:spPr>
          <a:xfrm>
            <a:off x="804672"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804672" y="2377440"/>
            <a:ext cx="2093976" cy="1051560"/>
          </a:xfrm>
          <a:prstGeom prst="rect">
            <a:avLst/>
          </a:prstGeom>
          <a:noFill/>
          <a:ln/>
        </p:spPr>
        <p:txBody>
          <a:bodyPr wrap="square" rtlCol="0" anchor="ctr"/>
          <a:lstStyle/>
          <a:p>
            <a:pPr indent="0" marL="0">
              <a:lnSpc>
                <a:spcPts val="1600"/>
              </a:lnSpc>
              <a:buNone/>
            </a:pPr>
            <a:r>
              <a:rPr lang="en-US" sz="1350" b="1" dirty="0">
                <a:solidFill>
                  <a:srgbClr val="1E2761"/>
                </a:solidFill>
                <a:latin typeface="Cambria" pitchFamily="34" charset="0"/>
                <a:ea typeface="Cambria" pitchFamily="34" charset="-122"/>
                <a:cs typeface="Cambria" pitchFamily="34" charset="-120"/>
              </a:rPr>
              <a:t>Did the campaign actually work?</a:t>
            </a:r>
            <a:endParaRPr lang="en-US" sz="1350" dirty="0"/>
          </a:p>
        </p:txBody>
      </p:sp>
      <p:sp>
        <p:nvSpPr>
          <p:cNvPr id="8" name="Text 6"/>
          <p:cNvSpPr/>
          <p:nvPr/>
        </p:nvSpPr>
        <p:spPr>
          <a:xfrm>
            <a:off x="804672" y="3429000"/>
            <a:ext cx="2093976" cy="2423160"/>
          </a:xfrm>
          <a:prstGeom prst="rect">
            <a:avLst/>
          </a:prstGeom>
          <a:noFill/>
          <a:ln/>
        </p:spPr>
        <p:txBody>
          <a:bodyPr wrap="square" rtlCol="0" anchor="ctr"/>
          <a:lstStyle/>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Isolate the TRUE incremental foot traffic caused by ad exposure — net of seasonality, trend, and each venue's own baseline pattern.</a:t>
            </a:r>
            <a:endParaRPr lang="en-US" sz="1000" dirty="0"/>
          </a:p>
          <a:p>
            <a:pPr indent="0" marL="0">
              <a:lnSpc>
                <a:spcPts val="1350"/>
              </a:lnSpc>
              <a:buNone/>
            </a:pPr>
            <a:endParaRPr lang="en-US" sz="1000" dirty="0"/>
          </a:p>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The sell-side differentiator: measurement Atmosphere's go-to-market team can take to market and clients can trust.</a:t>
            </a:r>
            <a:endParaRPr lang="en-US" sz="1000" dirty="0"/>
          </a:p>
        </p:txBody>
      </p:sp>
      <p:sp>
        <p:nvSpPr>
          <p:cNvPr id="9" name="Shape 7"/>
          <p:cNvSpPr/>
          <p:nvPr/>
        </p:nvSpPr>
        <p:spPr>
          <a:xfrm>
            <a:off x="3355848" y="1463040"/>
            <a:ext cx="2606040" cy="4617720"/>
          </a:xfrm>
          <a:prstGeom prst="roundRect">
            <a:avLst>
              <a:gd name="adj" fmla="val 4211"/>
            </a:avLst>
          </a:prstGeom>
          <a:solidFill>
            <a:srgbClr val="F5F7FC"/>
          </a:solidFill>
          <a:ln/>
          <a:effectLst>
            <a:outerShdw sx="100000" sy="100000" kx="0" ky="0" algn="bl" rotWithShape="0" blurRad="76200" dist="38100" dir="5400000">
              <a:srgbClr val="888888">
                <a:alpha val="25000"/>
              </a:srgbClr>
            </a:outerShdw>
          </a:effectLst>
        </p:spPr>
      </p:sp>
      <p:sp>
        <p:nvSpPr>
          <p:cNvPr id="10" name="Shape 8"/>
          <p:cNvSpPr/>
          <p:nvPr/>
        </p:nvSpPr>
        <p:spPr>
          <a:xfrm>
            <a:off x="3611880" y="1737360"/>
            <a:ext cx="502920" cy="502920"/>
          </a:xfrm>
          <a:prstGeom prst="ellipse">
            <a:avLst/>
          </a:prstGeom>
          <a:solidFill>
            <a:srgbClr val="1E2761"/>
          </a:solidFill>
          <a:ln/>
        </p:spPr>
      </p:sp>
      <p:sp>
        <p:nvSpPr>
          <p:cNvPr id="11" name="Text 9"/>
          <p:cNvSpPr/>
          <p:nvPr/>
        </p:nvSpPr>
        <p:spPr>
          <a:xfrm>
            <a:off x="3611880"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3611880" y="2377440"/>
            <a:ext cx="2093976" cy="1051560"/>
          </a:xfrm>
          <a:prstGeom prst="rect">
            <a:avLst/>
          </a:prstGeom>
          <a:noFill/>
          <a:ln/>
        </p:spPr>
        <p:txBody>
          <a:bodyPr wrap="square" rtlCol="0" anchor="ctr"/>
          <a:lstStyle/>
          <a:p>
            <a:pPr indent="0" marL="0">
              <a:lnSpc>
                <a:spcPts val="1600"/>
              </a:lnSpc>
              <a:buNone/>
            </a:pPr>
            <a:r>
              <a:rPr lang="en-US" sz="1350" b="1" dirty="0">
                <a:solidFill>
                  <a:srgbClr val="1E2761"/>
                </a:solidFill>
                <a:latin typeface="Cambria" pitchFamily="34" charset="0"/>
                <a:ea typeface="Cambria" pitchFamily="34" charset="-122"/>
                <a:cs typeface="Cambria" pitchFamily="34" charset="-120"/>
              </a:rPr>
              <a:t>How should budget be spent?</a:t>
            </a:r>
            <a:endParaRPr lang="en-US" sz="1350" dirty="0"/>
          </a:p>
        </p:txBody>
      </p:sp>
      <p:sp>
        <p:nvSpPr>
          <p:cNvPr id="13" name="Text 11"/>
          <p:cNvSpPr/>
          <p:nvPr/>
        </p:nvSpPr>
        <p:spPr>
          <a:xfrm>
            <a:off x="3611880" y="3429000"/>
            <a:ext cx="2093976" cy="2423160"/>
          </a:xfrm>
          <a:prstGeom prst="rect">
            <a:avLst/>
          </a:prstGeom>
          <a:noFill/>
          <a:ln/>
        </p:spPr>
        <p:txBody>
          <a:bodyPr wrap="square" rtlCol="0" anchor="ctr"/>
          <a:lstStyle/>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Given a budget an advertiser has already committed to Atmosphere, how should it split across restaurants, gyms, bars, and waiting rooms — accounting for each venue type's own diminishing-returns curve?</a:t>
            </a:r>
            <a:endParaRPr lang="en-US" sz="1000" dirty="0"/>
          </a:p>
          <a:p>
            <a:pPr indent="0" marL="0">
              <a:lnSpc>
                <a:spcPts val="1350"/>
              </a:lnSpc>
              <a:buNone/>
            </a:pPr>
            <a:endParaRPr lang="en-US" sz="1000" dirty="0"/>
          </a:p>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An allocation Atmosphere optimizes on its own inventory and hands advertisers as part of the media plan — not a cross-channel budget call made elsewhere.</a:t>
            </a:r>
            <a:endParaRPr lang="en-US" sz="1000" dirty="0"/>
          </a:p>
        </p:txBody>
      </p:sp>
      <p:sp>
        <p:nvSpPr>
          <p:cNvPr id="14" name="Shape 12"/>
          <p:cNvSpPr/>
          <p:nvPr/>
        </p:nvSpPr>
        <p:spPr>
          <a:xfrm>
            <a:off x="6163056" y="1463040"/>
            <a:ext cx="2606040" cy="4617720"/>
          </a:xfrm>
          <a:prstGeom prst="roundRect">
            <a:avLst>
              <a:gd name="adj" fmla="val 4211"/>
            </a:avLst>
          </a:prstGeom>
          <a:solidFill>
            <a:srgbClr val="F5F7FC"/>
          </a:solidFill>
          <a:ln/>
          <a:effectLst>
            <a:outerShdw sx="100000" sy="100000" kx="0" ky="0" algn="bl" rotWithShape="0" blurRad="76200" dist="38100" dir="5400000">
              <a:srgbClr val="888888">
                <a:alpha val="25000"/>
              </a:srgbClr>
            </a:outerShdw>
          </a:effectLst>
        </p:spPr>
      </p:sp>
      <p:sp>
        <p:nvSpPr>
          <p:cNvPr id="15" name="Shape 13"/>
          <p:cNvSpPr/>
          <p:nvPr/>
        </p:nvSpPr>
        <p:spPr>
          <a:xfrm>
            <a:off x="6419088" y="1737360"/>
            <a:ext cx="502920" cy="502920"/>
          </a:xfrm>
          <a:prstGeom prst="ellipse">
            <a:avLst/>
          </a:prstGeom>
          <a:solidFill>
            <a:srgbClr val="1E2761"/>
          </a:solidFill>
          <a:ln/>
        </p:spPr>
      </p:sp>
      <p:sp>
        <p:nvSpPr>
          <p:cNvPr id="16" name="Text 14"/>
          <p:cNvSpPr/>
          <p:nvPr/>
        </p:nvSpPr>
        <p:spPr>
          <a:xfrm>
            <a:off x="6419088"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6419088" y="2377440"/>
            <a:ext cx="2093976" cy="1051560"/>
          </a:xfrm>
          <a:prstGeom prst="rect">
            <a:avLst/>
          </a:prstGeom>
          <a:noFill/>
          <a:ln/>
        </p:spPr>
        <p:txBody>
          <a:bodyPr wrap="square" rtlCol="0" anchor="ctr"/>
          <a:lstStyle/>
          <a:p>
            <a:pPr indent="0" marL="0">
              <a:lnSpc>
                <a:spcPts val="1600"/>
              </a:lnSpc>
              <a:buNone/>
            </a:pPr>
            <a:r>
              <a:rPr lang="en-US" sz="1350" b="1" dirty="0">
                <a:solidFill>
                  <a:srgbClr val="1E2761"/>
                </a:solidFill>
                <a:latin typeface="Cambria" pitchFamily="34" charset="0"/>
                <a:ea typeface="Cambria" pitchFamily="34" charset="-122"/>
                <a:cs typeface="Cambria" pitchFamily="34" charset="-120"/>
              </a:rPr>
              <a:t>Where's the revenue upside?</a:t>
            </a:r>
            <a:endParaRPr lang="en-US" sz="1350" dirty="0"/>
          </a:p>
        </p:txBody>
      </p:sp>
      <p:sp>
        <p:nvSpPr>
          <p:cNvPr id="18" name="Text 16"/>
          <p:cNvSpPr/>
          <p:nvPr/>
        </p:nvSpPr>
        <p:spPr>
          <a:xfrm>
            <a:off x="6419088" y="3429000"/>
            <a:ext cx="2093976" cy="2423160"/>
          </a:xfrm>
          <a:prstGeom prst="rect">
            <a:avLst/>
          </a:prstGeom>
          <a:noFill/>
          <a:ln/>
        </p:spPr>
        <p:txBody>
          <a:bodyPr wrap="square" rtlCol="0" anchor="ctr"/>
          <a:lstStyle/>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Which existing venues are under-monetized relative to their own traffic and quality — and which prospective venues are worth prioritizing for expansion?</a:t>
            </a:r>
            <a:endParaRPr lang="en-US" sz="1000" dirty="0"/>
          </a:p>
          <a:p>
            <a:pPr indent="0" marL="0">
              <a:lnSpc>
                <a:spcPts val="1350"/>
              </a:lnSpc>
              <a:buNone/>
            </a:pPr>
            <a:endParaRPr lang="en-US" sz="1000" dirty="0"/>
          </a:p>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Atmosphere's own buy-side value question.</a:t>
            </a:r>
            <a:endParaRPr lang="en-US" sz="1000" dirty="0"/>
          </a:p>
        </p:txBody>
      </p:sp>
      <p:sp>
        <p:nvSpPr>
          <p:cNvPr id="19" name="Shape 17"/>
          <p:cNvSpPr/>
          <p:nvPr/>
        </p:nvSpPr>
        <p:spPr>
          <a:xfrm>
            <a:off x="8970264" y="1463040"/>
            <a:ext cx="2606040" cy="4617720"/>
          </a:xfrm>
          <a:prstGeom prst="roundRect">
            <a:avLst>
              <a:gd name="adj" fmla="val 4211"/>
            </a:avLst>
          </a:prstGeom>
          <a:solidFill>
            <a:srgbClr val="F5F7FC"/>
          </a:solidFill>
          <a:ln/>
          <a:effectLst>
            <a:outerShdw sx="100000" sy="100000" kx="0" ky="0" algn="bl" rotWithShape="0" blurRad="76200" dist="38100" dir="5400000">
              <a:srgbClr val="888888">
                <a:alpha val="25000"/>
              </a:srgbClr>
            </a:outerShdw>
          </a:effectLst>
        </p:spPr>
      </p:sp>
      <p:sp>
        <p:nvSpPr>
          <p:cNvPr id="20" name="Shape 18"/>
          <p:cNvSpPr/>
          <p:nvPr/>
        </p:nvSpPr>
        <p:spPr>
          <a:xfrm>
            <a:off x="9226296" y="1737360"/>
            <a:ext cx="502920" cy="502920"/>
          </a:xfrm>
          <a:prstGeom prst="ellipse">
            <a:avLst/>
          </a:prstGeom>
          <a:solidFill>
            <a:srgbClr val="1E2761"/>
          </a:solidFill>
          <a:ln/>
        </p:spPr>
      </p:sp>
      <p:sp>
        <p:nvSpPr>
          <p:cNvPr id="21" name="Text 19"/>
          <p:cNvSpPr/>
          <p:nvPr/>
        </p:nvSpPr>
        <p:spPr>
          <a:xfrm>
            <a:off x="9226296"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9226296" y="2377440"/>
            <a:ext cx="2093976" cy="1051560"/>
          </a:xfrm>
          <a:prstGeom prst="rect">
            <a:avLst/>
          </a:prstGeom>
          <a:noFill/>
          <a:ln/>
        </p:spPr>
        <p:txBody>
          <a:bodyPr wrap="square" rtlCol="0" anchor="ctr"/>
          <a:lstStyle/>
          <a:p>
            <a:pPr indent="0" marL="0">
              <a:lnSpc>
                <a:spcPts val="1600"/>
              </a:lnSpc>
              <a:buNone/>
            </a:pPr>
            <a:r>
              <a:rPr lang="en-US" sz="1350" b="1" dirty="0">
                <a:solidFill>
                  <a:srgbClr val="1E2761"/>
                </a:solidFill>
                <a:latin typeface="Cambria" pitchFamily="34" charset="0"/>
                <a:ea typeface="Cambria" pitchFamily="34" charset="-122"/>
                <a:cs typeface="Cambria" pitchFamily="34" charset="-120"/>
              </a:rPr>
              <a:t>Which venues are at risk?</a:t>
            </a:r>
            <a:endParaRPr lang="en-US" sz="1350" dirty="0"/>
          </a:p>
        </p:txBody>
      </p:sp>
      <p:sp>
        <p:nvSpPr>
          <p:cNvPr id="23" name="Text 21"/>
          <p:cNvSpPr/>
          <p:nvPr/>
        </p:nvSpPr>
        <p:spPr>
          <a:xfrm>
            <a:off x="9226296" y="3429000"/>
            <a:ext cx="2093976" cy="2423160"/>
          </a:xfrm>
          <a:prstGeom prst="rect">
            <a:avLst/>
          </a:prstGeom>
          <a:noFill/>
          <a:ln/>
        </p:spPr>
        <p:txBody>
          <a:bodyPr wrap="square" rtlCol="0" anchor="ctr"/>
          <a:lstStyle/>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Which existing venues are likely to leave the network, and which ops-visible signals predict it — combined with Q3's revenue into one value-×-risk priority.</a:t>
            </a:r>
            <a:endParaRPr lang="en-US" sz="1000" dirty="0"/>
          </a:p>
          <a:p>
            <a:pPr indent="0" marL="0">
              <a:lnSpc>
                <a:spcPts val="1350"/>
              </a:lnSpc>
              <a:buNone/>
            </a:pPr>
            <a:endParaRPr lang="en-US" sz="1000" dirty="0"/>
          </a:p>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Atmosphere's own buy-side risk question.</a:t>
            </a:r>
            <a:endParaRPr lang="en-US" sz="1000" dirty="0"/>
          </a:p>
        </p:txBody>
      </p:sp>
      <p:sp>
        <p:nvSpPr>
          <p:cNvPr id="24" name="Text 22"/>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Business framing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155680" cy="64008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roadmap: four problems, one connected pipeline</a:t>
            </a:r>
            <a:endParaRPr lang="en-US" sz="2600" dirty="0"/>
          </a:p>
        </p:txBody>
      </p:sp>
      <p:sp>
        <p:nvSpPr>
          <p:cNvPr id="3" name="Text 1"/>
          <p:cNvSpPr/>
          <p:nvPr/>
        </p:nvSpPr>
        <p:spPr>
          <a:xfrm>
            <a:off x="548640" y="1097280"/>
            <a:ext cx="10972800" cy="365760"/>
          </a:xfrm>
          <a:prstGeom prst="rect">
            <a:avLst/>
          </a:prstGeom>
          <a:noFill/>
          <a:ln/>
        </p:spPr>
        <p:txBody>
          <a:bodyPr wrap="square"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Before the deep dive — this is the shape of what follows.</a:t>
            </a:r>
            <a:endParaRPr lang="en-US" sz="1300" dirty="0"/>
          </a:p>
        </p:txBody>
      </p:sp>
      <p:sp>
        <p:nvSpPr>
          <p:cNvPr id="4" name="Shape 2"/>
          <p:cNvSpPr/>
          <p:nvPr/>
        </p:nvSpPr>
        <p:spPr>
          <a:xfrm>
            <a:off x="502920" y="1828800"/>
            <a:ext cx="1737360" cy="2834640"/>
          </a:xfrm>
          <a:prstGeom prst="roundRect">
            <a:avLst>
              <a:gd name="adj" fmla="val 5263"/>
            </a:avLst>
          </a:prstGeom>
          <a:solidFill>
            <a:srgbClr val="1E2761"/>
          </a:solidFill>
          <a:ln/>
        </p:spPr>
      </p:sp>
      <p:sp>
        <p:nvSpPr>
          <p:cNvPr id="5" name="Shape 3"/>
          <p:cNvSpPr/>
          <p:nvPr/>
        </p:nvSpPr>
        <p:spPr>
          <a:xfrm>
            <a:off x="1728216" y="1920240"/>
            <a:ext cx="402336" cy="237744"/>
          </a:xfrm>
          <a:prstGeom prst="roundRect">
            <a:avLst>
              <a:gd name="adj" fmla="val 23077"/>
            </a:avLst>
          </a:prstGeom>
          <a:solidFill>
            <a:srgbClr val="FFFFFF"/>
          </a:solidFill>
          <a:ln w="12700">
            <a:solidFill>
              <a:srgbClr val="1E2761"/>
            </a:solidFill>
            <a:prstDash val="solid"/>
          </a:ln>
        </p:spPr>
      </p:sp>
      <p:sp>
        <p:nvSpPr>
          <p:cNvPr id="6" name="Text 4"/>
          <p:cNvSpPr/>
          <p:nvPr/>
        </p:nvSpPr>
        <p:spPr>
          <a:xfrm>
            <a:off x="1728216" y="1920240"/>
            <a:ext cx="402336" cy="237744"/>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Q1</a:t>
            </a:r>
            <a:endParaRPr lang="en-US" sz="950" dirty="0"/>
          </a:p>
        </p:txBody>
      </p:sp>
      <p:sp>
        <p:nvSpPr>
          <p:cNvPr id="7" name="Text 5"/>
          <p:cNvSpPr/>
          <p:nvPr/>
        </p:nvSpPr>
        <p:spPr>
          <a:xfrm>
            <a:off x="621792" y="1920240"/>
            <a:ext cx="4572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621792" y="2340864"/>
            <a:ext cx="1499616" cy="731520"/>
          </a:xfrm>
          <a:prstGeom prst="rect">
            <a:avLst/>
          </a:prstGeom>
          <a:noFill/>
          <a:ln/>
        </p:spPr>
        <p:txBody>
          <a:bodyPr wrap="square" rtlCol="0" anchor="ctr"/>
          <a:lstStyle/>
          <a:p>
            <a:pPr indent="0" marL="0">
              <a:lnSpc>
                <a:spcPts val="1350"/>
              </a:lnSpc>
              <a:buNone/>
            </a:pPr>
            <a:r>
              <a:rPr lang="en-US" sz="1200" b="1" dirty="0">
                <a:solidFill>
                  <a:srgbClr val="FFFFFF"/>
                </a:solidFill>
                <a:latin typeface="Cambria" pitchFamily="34" charset="0"/>
                <a:ea typeface="Cambria" pitchFamily="34" charset="-122"/>
                <a:cs typeface="Cambria" pitchFamily="34" charset="-120"/>
              </a:rPr>
              <a:t>RCT geo-holdout</a:t>
            </a:r>
            <a:endParaRPr lang="en-US" sz="1200" dirty="0"/>
          </a:p>
        </p:txBody>
      </p:sp>
      <p:sp>
        <p:nvSpPr>
          <p:cNvPr id="9" name="Text 7"/>
          <p:cNvSpPr/>
          <p:nvPr/>
        </p:nvSpPr>
        <p:spPr>
          <a:xfrm>
            <a:off x="621792" y="3108960"/>
            <a:ext cx="1499616" cy="320040"/>
          </a:xfrm>
          <a:prstGeom prst="rect">
            <a:avLst/>
          </a:prstGeom>
          <a:noFill/>
          <a:ln/>
        </p:spPr>
        <p:txBody>
          <a:bodyPr wrap="square" rtlCol="0" anchor="ctr"/>
          <a:lstStyle/>
          <a:p>
            <a:pPr indent="0" marL="0">
              <a:buNone/>
            </a:pPr>
            <a:r>
              <a:rPr lang="en-US" sz="900" b="1" i="1" dirty="0">
                <a:solidFill>
                  <a:srgbClr val="CADCFC"/>
                </a:solidFill>
                <a:latin typeface="Calibri" pitchFamily="34" charset="0"/>
                <a:ea typeface="Calibri" pitchFamily="34" charset="-122"/>
                <a:cs typeface="Calibri" pitchFamily="34" charset="-120"/>
              </a:rPr>
              <a:t>High confidence</a:t>
            </a:r>
            <a:endParaRPr lang="en-US" sz="900" dirty="0"/>
          </a:p>
        </p:txBody>
      </p:sp>
      <p:sp>
        <p:nvSpPr>
          <p:cNvPr id="10" name="Text 8"/>
          <p:cNvSpPr/>
          <p:nvPr/>
        </p:nvSpPr>
        <p:spPr>
          <a:xfrm>
            <a:off x="621792" y="3456432"/>
            <a:ext cx="1499616" cy="1069848"/>
          </a:xfrm>
          <a:prstGeom prst="rect">
            <a:avLst/>
          </a:prstGeom>
          <a:noFill/>
          <a:ln/>
        </p:spPr>
        <p:txBody>
          <a:bodyPr wrap="square" rtlCol="0" anchor="ctr"/>
          <a:lstStyle/>
          <a:p>
            <a:pPr indent="0" marL="0">
              <a:lnSpc>
                <a:spcPts val="1100"/>
              </a:lnSpc>
              <a:buNone/>
            </a:pPr>
            <a:r>
              <a:rPr lang="en-US" sz="870" dirty="0">
                <a:solidFill>
                  <a:srgbClr val="FFFFFF"/>
                </a:solidFill>
                <a:latin typeface="Calibri" pitchFamily="34" charset="0"/>
                <a:ea typeface="Calibri" pitchFamily="34" charset="-122"/>
                <a:cs typeface="Calibri" pitchFamily="34" charset="-120"/>
              </a:rPr>
              <a:t>Randomized treated/holdout venues. Balance directly verified.</a:t>
            </a:r>
            <a:endParaRPr lang="en-US" sz="870" dirty="0"/>
          </a:p>
        </p:txBody>
      </p:sp>
      <p:sp>
        <p:nvSpPr>
          <p:cNvPr id="11" name="Text 9"/>
          <p:cNvSpPr/>
          <p:nvPr/>
        </p:nvSpPr>
        <p:spPr>
          <a:xfrm>
            <a:off x="2240280" y="2971800"/>
            <a:ext cx="182880" cy="548640"/>
          </a:xfrm>
          <a:prstGeom prst="rect">
            <a:avLst/>
          </a:prstGeom>
          <a:noFill/>
          <a:ln/>
        </p:spPr>
        <p:txBody>
          <a:bodyPr wrap="square" rtlCol="0" anchor="ctr"/>
          <a:lstStyle/>
          <a:p>
            <a:pPr algn="ctr" indent="0" marL="0">
              <a:buNone/>
            </a:pPr>
            <a:r>
              <a:rPr lang="en-US" sz="1600" dirty="0">
                <a:solidFill>
                  <a:srgbClr val="1E2761"/>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423160" y="1828800"/>
            <a:ext cx="1737360" cy="2834640"/>
          </a:xfrm>
          <a:prstGeom prst="roundRect">
            <a:avLst>
              <a:gd name="adj" fmla="val 5263"/>
            </a:avLst>
          </a:prstGeom>
          <a:solidFill>
            <a:srgbClr val="E4E9F7"/>
          </a:solidFill>
          <a:ln/>
        </p:spPr>
      </p:sp>
      <p:sp>
        <p:nvSpPr>
          <p:cNvPr id="13" name="Shape 11"/>
          <p:cNvSpPr/>
          <p:nvPr/>
        </p:nvSpPr>
        <p:spPr>
          <a:xfrm>
            <a:off x="3648456" y="1920240"/>
            <a:ext cx="402336" cy="237744"/>
          </a:xfrm>
          <a:prstGeom prst="roundRect">
            <a:avLst>
              <a:gd name="adj" fmla="val 23077"/>
            </a:avLst>
          </a:prstGeom>
          <a:solidFill>
            <a:srgbClr val="FFFFFF"/>
          </a:solidFill>
          <a:ln w="12700">
            <a:solidFill>
              <a:srgbClr val="1E2761"/>
            </a:solidFill>
            <a:prstDash val="solid"/>
          </a:ln>
        </p:spPr>
      </p:sp>
      <p:sp>
        <p:nvSpPr>
          <p:cNvPr id="14" name="Text 12"/>
          <p:cNvSpPr/>
          <p:nvPr/>
        </p:nvSpPr>
        <p:spPr>
          <a:xfrm>
            <a:off x="3648456" y="1920240"/>
            <a:ext cx="402336" cy="237744"/>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Q1</a:t>
            </a:r>
            <a:endParaRPr lang="en-US" sz="950" dirty="0"/>
          </a:p>
        </p:txBody>
      </p:sp>
      <p:sp>
        <p:nvSpPr>
          <p:cNvPr id="15" name="Text 13"/>
          <p:cNvSpPr/>
          <p:nvPr/>
        </p:nvSpPr>
        <p:spPr>
          <a:xfrm>
            <a:off x="2542032" y="1920240"/>
            <a:ext cx="457200" cy="384048"/>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2542032" y="2340864"/>
            <a:ext cx="1499616" cy="731520"/>
          </a:xfrm>
          <a:prstGeom prst="rect">
            <a:avLst/>
          </a:prstGeom>
          <a:noFill/>
          <a:ln/>
        </p:spPr>
        <p:txBody>
          <a:bodyPr wrap="square" rtlCol="0" anchor="ctr"/>
          <a:lstStyle/>
          <a:p>
            <a:pPr indent="0" marL="0">
              <a:lnSpc>
                <a:spcPts val="1350"/>
              </a:lnSpc>
              <a:buNone/>
            </a:pPr>
            <a:r>
              <a:rPr lang="en-US" sz="1200" b="1" dirty="0">
                <a:solidFill>
                  <a:srgbClr val="1E2761"/>
                </a:solidFill>
                <a:latin typeface="Cambria" pitchFamily="34" charset="0"/>
                <a:ea typeface="Cambria" pitchFamily="34" charset="-122"/>
                <a:cs typeface="Cambria" pitchFamily="34" charset="-120"/>
              </a:rPr>
              <a:t>Synthetic control</a:t>
            </a:r>
            <a:endParaRPr lang="en-US" sz="1200" dirty="0"/>
          </a:p>
        </p:txBody>
      </p:sp>
      <p:sp>
        <p:nvSpPr>
          <p:cNvPr id="17" name="Text 15"/>
          <p:cNvSpPr/>
          <p:nvPr/>
        </p:nvSpPr>
        <p:spPr>
          <a:xfrm>
            <a:off x="2542032" y="3108960"/>
            <a:ext cx="1499616" cy="320040"/>
          </a:xfrm>
          <a:prstGeom prst="rect">
            <a:avLst/>
          </a:prstGeom>
          <a:noFill/>
          <a:ln/>
        </p:spPr>
        <p:txBody>
          <a:bodyPr wrap="square" rtlCol="0" anchor="ctr"/>
          <a:lstStyle/>
          <a:p>
            <a:pPr indent="0" marL="0">
              <a:buNone/>
            </a:pPr>
            <a:r>
              <a:rPr lang="en-US" sz="900" b="1" i="1" dirty="0">
                <a:solidFill>
                  <a:srgbClr val="1E2761"/>
                </a:solidFill>
                <a:latin typeface="Calibri" pitchFamily="34" charset="0"/>
                <a:ea typeface="Calibri" pitchFamily="34" charset="-122"/>
                <a:cs typeface="Calibri" pitchFamily="34" charset="-120"/>
              </a:rPr>
              <a:t>Moderate confidence</a:t>
            </a:r>
            <a:endParaRPr lang="en-US" sz="900" dirty="0"/>
          </a:p>
        </p:txBody>
      </p:sp>
      <p:sp>
        <p:nvSpPr>
          <p:cNvPr id="18" name="Text 16"/>
          <p:cNvSpPr/>
          <p:nvPr/>
        </p:nvSpPr>
        <p:spPr>
          <a:xfrm>
            <a:off x="2542032" y="3456432"/>
            <a:ext cx="1499616" cy="1069848"/>
          </a:xfrm>
          <a:prstGeom prst="rect">
            <a:avLst/>
          </a:prstGeom>
          <a:noFill/>
          <a:ln/>
        </p:spPr>
        <p:txBody>
          <a:bodyPr wrap="square" rtlCol="0" anchor="ctr"/>
          <a:lstStyle/>
          <a:p>
            <a:pPr indent="0" marL="0">
              <a:lnSpc>
                <a:spcPts val="1100"/>
              </a:lnSpc>
              <a:buNone/>
            </a:pPr>
            <a:r>
              <a:rPr lang="en-US" sz="870" dirty="0">
                <a:solidFill>
                  <a:srgbClr val="1A1A2E"/>
                </a:solidFill>
                <a:latin typeface="Calibri" pitchFamily="34" charset="0"/>
                <a:ea typeface="Calibri" pitchFamily="34" charset="-122"/>
                <a:cs typeface="Calibri" pitchFamily="34" charset="-120"/>
              </a:rPr>
              <a:t>Covers historical, non-randomized campaigns. Validated with placebo tests.</a:t>
            </a:r>
            <a:endParaRPr lang="en-US" sz="870" dirty="0"/>
          </a:p>
        </p:txBody>
      </p:sp>
      <p:sp>
        <p:nvSpPr>
          <p:cNvPr id="19" name="Text 17"/>
          <p:cNvSpPr/>
          <p:nvPr/>
        </p:nvSpPr>
        <p:spPr>
          <a:xfrm>
            <a:off x="4160520" y="2971800"/>
            <a:ext cx="182880" cy="548640"/>
          </a:xfrm>
          <a:prstGeom prst="rect">
            <a:avLst/>
          </a:prstGeom>
          <a:noFill/>
          <a:ln/>
        </p:spPr>
        <p:txBody>
          <a:bodyPr wrap="square" rtlCol="0" anchor="ctr"/>
          <a:lstStyle/>
          <a:p>
            <a:pPr algn="ctr" indent="0" marL="0">
              <a:buNone/>
            </a:pPr>
            <a:r>
              <a:rPr lang="en-US" sz="1600" dirty="0">
                <a:solidFill>
                  <a:srgbClr val="1E2761"/>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4343400" y="1828800"/>
            <a:ext cx="1737360" cy="2834640"/>
          </a:xfrm>
          <a:prstGeom prst="roundRect">
            <a:avLst>
              <a:gd name="adj" fmla="val 5263"/>
            </a:avLst>
          </a:prstGeom>
          <a:solidFill>
            <a:srgbClr val="FBE8D2"/>
          </a:solidFill>
          <a:ln/>
        </p:spPr>
      </p:sp>
      <p:sp>
        <p:nvSpPr>
          <p:cNvPr id="21" name="Shape 19"/>
          <p:cNvSpPr/>
          <p:nvPr/>
        </p:nvSpPr>
        <p:spPr>
          <a:xfrm>
            <a:off x="5568696" y="1920240"/>
            <a:ext cx="402336" cy="237744"/>
          </a:xfrm>
          <a:prstGeom prst="roundRect">
            <a:avLst>
              <a:gd name="adj" fmla="val 23077"/>
            </a:avLst>
          </a:prstGeom>
          <a:solidFill>
            <a:srgbClr val="FFFFFF"/>
          </a:solidFill>
          <a:ln w="12700">
            <a:solidFill>
              <a:srgbClr val="B8500A"/>
            </a:solidFill>
            <a:prstDash val="solid"/>
          </a:ln>
        </p:spPr>
      </p:sp>
      <p:sp>
        <p:nvSpPr>
          <p:cNvPr id="22" name="Text 20"/>
          <p:cNvSpPr/>
          <p:nvPr/>
        </p:nvSpPr>
        <p:spPr>
          <a:xfrm>
            <a:off x="5568696" y="1920240"/>
            <a:ext cx="402336" cy="237744"/>
          </a:xfrm>
          <a:prstGeom prst="rect">
            <a:avLst/>
          </a:prstGeom>
          <a:noFill/>
          <a:ln/>
        </p:spPr>
        <p:txBody>
          <a:bodyPr wrap="square" rtlCol="0" anchor="ctr"/>
          <a:lstStyle/>
          <a:p>
            <a:pPr algn="ctr" indent="0" marL="0">
              <a:buNone/>
            </a:pPr>
            <a:r>
              <a:rPr lang="en-US" sz="950" b="1" dirty="0">
                <a:solidFill>
                  <a:srgbClr val="B8500A"/>
                </a:solidFill>
                <a:latin typeface="Calibri" pitchFamily="34" charset="0"/>
                <a:ea typeface="Calibri" pitchFamily="34" charset="-122"/>
                <a:cs typeface="Calibri" pitchFamily="34" charset="-120"/>
              </a:rPr>
              <a:t>Q2</a:t>
            </a:r>
            <a:endParaRPr lang="en-US" sz="950" dirty="0"/>
          </a:p>
        </p:txBody>
      </p:sp>
      <p:sp>
        <p:nvSpPr>
          <p:cNvPr id="23" name="Text 21"/>
          <p:cNvSpPr/>
          <p:nvPr/>
        </p:nvSpPr>
        <p:spPr>
          <a:xfrm>
            <a:off x="4462272" y="1920240"/>
            <a:ext cx="457200" cy="384048"/>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24" name="Text 22"/>
          <p:cNvSpPr/>
          <p:nvPr/>
        </p:nvSpPr>
        <p:spPr>
          <a:xfrm>
            <a:off x="4462272" y="2340864"/>
            <a:ext cx="1499616" cy="731520"/>
          </a:xfrm>
          <a:prstGeom prst="rect">
            <a:avLst/>
          </a:prstGeom>
          <a:noFill/>
          <a:ln/>
        </p:spPr>
        <p:txBody>
          <a:bodyPr wrap="square" rtlCol="0" anchor="ctr"/>
          <a:lstStyle/>
          <a:p>
            <a:pPr indent="0" marL="0">
              <a:lnSpc>
                <a:spcPts val="1350"/>
              </a:lnSpc>
              <a:buNone/>
            </a:pPr>
            <a:r>
              <a:rPr lang="en-US" sz="1200" b="1" dirty="0">
                <a:solidFill>
                  <a:srgbClr val="1E2761"/>
                </a:solidFill>
                <a:latin typeface="Cambria" pitchFamily="34" charset="0"/>
                <a:ea typeface="Cambria" pitchFamily="34" charset="-122"/>
                <a:cs typeface="Cambria" pitchFamily="34" charset="-120"/>
              </a:rPr>
              <a:t>MMM, RCT-calibrated</a:t>
            </a:r>
            <a:endParaRPr lang="en-US" sz="1200" dirty="0"/>
          </a:p>
        </p:txBody>
      </p:sp>
      <p:sp>
        <p:nvSpPr>
          <p:cNvPr id="25" name="Text 23"/>
          <p:cNvSpPr/>
          <p:nvPr/>
        </p:nvSpPr>
        <p:spPr>
          <a:xfrm>
            <a:off x="4462272" y="3108960"/>
            <a:ext cx="1499616" cy="320040"/>
          </a:xfrm>
          <a:prstGeom prst="rect">
            <a:avLst/>
          </a:prstGeom>
          <a:noFill/>
          <a:ln/>
        </p:spPr>
        <p:txBody>
          <a:bodyPr wrap="square" rtlCol="0" anchor="ctr"/>
          <a:lstStyle/>
          <a:p>
            <a:pPr indent="0" marL="0">
              <a:buNone/>
            </a:pPr>
            <a:r>
              <a:rPr lang="en-US" sz="900" b="1" i="1" dirty="0">
                <a:solidFill>
                  <a:srgbClr val="B8500A"/>
                </a:solidFill>
                <a:latin typeface="Calibri" pitchFamily="34" charset="0"/>
                <a:ea typeface="Calibri" pitchFamily="34" charset="-122"/>
                <a:cs typeface="Calibri" pitchFamily="34" charset="-120"/>
              </a:rPr>
              <a:t>Shape + scale</a:t>
            </a:r>
            <a:endParaRPr lang="en-US" sz="900" dirty="0"/>
          </a:p>
        </p:txBody>
      </p:sp>
      <p:sp>
        <p:nvSpPr>
          <p:cNvPr id="26" name="Text 24"/>
          <p:cNvSpPr/>
          <p:nvPr/>
        </p:nvSpPr>
        <p:spPr>
          <a:xfrm>
            <a:off x="4462272" y="3456432"/>
            <a:ext cx="1499616" cy="1069848"/>
          </a:xfrm>
          <a:prstGeom prst="rect">
            <a:avLst/>
          </a:prstGeom>
          <a:noFill/>
          <a:ln/>
        </p:spPr>
        <p:txBody>
          <a:bodyPr wrap="square" rtlCol="0" anchor="ctr"/>
          <a:lstStyle/>
          <a:p>
            <a:pPr indent="0" marL="0">
              <a:lnSpc>
                <a:spcPts val="1100"/>
              </a:lnSpc>
              <a:buNone/>
            </a:pPr>
            <a:r>
              <a:rPr lang="en-US" sz="870" dirty="0">
                <a:solidFill>
                  <a:srgbClr val="1A1A2E"/>
                </a:solidFill>
                <a:latin typeface="Calibri" pitchFamily="34" charset="0"/>
                <a:ea typeface="Calibri" pitchFamily="34" charset="-122"/>
                <a:cs typeface="Calibri" pitchFamily="34" charset="-120"/>
              </a:rPr>
              <a:t>Adstock/saturation shape from aggregate data; scale pinned by the RCT.</a:t>
            </a:r>
            <a:endParaRPr lang="en-US" sz="870" dirty="0"/>
          </a:p>
        </p:txBody>
      </p:sp>
      <p:sp>
        <p:nvSpPr>
          <p:cNvPr id="27" name="Text 25"/>
          <p:cNvSpPr/>
          <p:nvPr/>
        </p:nvSpPr>
        <p:spPr>
          <a:xfrm>
            <a:off x="6080760" y="2971800"/>
            <a:ext cx="182880" cy="548640"/>
          </a:xfrm>
          <a:prstGeom prst="rect">
            <a:avLst/>
          </a:prstGeom>
          <a:noFill/>
          <a:ln/>
        </p:spPr>
        <p:txBody>
          <a:bodyPr wrap="square" rtlCol="0" anchor="ctr"/>
          <a:lstStyle/>
          <a:p>
            <a:pPr algn="ctr" indent="0" marL="0">
              <a:buNone/>
            </a:pPr>
            <a:r>
              <a:rPr lang="en-US" sz="1600" dirty="0">
                <a:solidFill>
                  <a:srgbClr val="1E2761"/>
                </a:solidFill>
                <a:latin typeface="Arial" pitchFamily="34" charset="0"/>
                <a:ea typeface="Arial" pitchFamily="34" charset="-122"/>
                <a:cs typeface="Arial" pitchFamily="34" charset="-120"/>
              </a:rPr>
              <a:t>→</a:t>
            </a:r>
            <a:endParaRPr lang="en-US" sz="1600" dirty="0"/>
          </a:p>
        </p:txBody>
      </p:sp>
      <p:sp>
        <p:nvSpPr>
          <p:cNvPr id="28" name="Shape 26"/>
          <p:cNvSpPr/>
          <p:nvPr/>
        </p:nvSpPr>
        <p:spPr>
          <a:xfrm>
            <a:off x="6263640" y="1828800"/>
            <a:ext cx="1737360" cy="2834640"/>
          </a:xfrm>
          <a:prstGeom prst="roundRect">
            <a:avLst>
              <a:gd name="adj" fmla="val 5263"/>
            </a:avLst>
          </a:prstGeom>
          <a:solidFill>
            <a:srgbClr val="E8871E"/>
          </a:solidFill>
          <a:ln/>
        </p:spPr>
      </p:sp>
      <p:sp>
        <p:nvSpPr>
          <p:cNvPr id="29" name="Shape 27"/>
          <p:cNvSpPr/>
          <p:nvPr/>
        </p:nvSpPr>
        <p:spPr>
          <a:xfrm>
            <a:off x="7488936" y="1920240"/>
            <a:ext cx="402336" cy="237744"/>
          </a:xfrm>
          <a:prstGeom prst="roundRect">
            <a:avLst>
              <a:gd name="adj" fmla="val 23077"/>
            </a:avLst>
          </a:prstGeom>
          <a:solidFill>
            <a:srgbClr val="FFFFFF"/>
          </a:solidFill>
          <a:ln w="12700">
            <a:solidFill>
              <a:srgbClr val="B8500A"/>
            </a:solidFill>
            <a:prstDash val="solid"/>
          </a:ln>
        </p:spPr>
      </p:sp>
      <p:sp>
        <p:nvSpPr>
          <p:cNvPr id="30" name="Text 28"/>
          <p:cNvSpPr/>
          <p:nvPr/>
        </p:nvSpPr>
        <p:spPr>
          <a:xfrm>
            <a:off x="7488936" y="1920240"/>
            <a:ext cx="402336" cy="237744"/>
          </a:xfrm>
          <a:prstGeom prst="rect">
            <a:avLst/>
          </a:prstGeom>
          <a:noFill/>
          <a:ln/>
        </p:spPr>
        <p:txBody>
          <a:bodyPr wrap="square" rtlCol="0" anchor="ctr"/>
          <a:lstStyle/>
          <a:p>
            <a:pPr algn="ctr" indent="0" marL="0">
              <a:buNone/>
            </a:pPr>
            <a:r>
              <a:rPr lang="en-US" sz="950" b="1" dirty="0">
                <a:solidFill>
                  <a:srgbClr val="B8500A"/>
                </a:solidFill>
                <a:latin typeface="Calibri" pitchFamily="34" charset="0"/>
                <a:ea typeface="Calibri" pitchFamily="34" charset="-122"/>
                <a:cs typeface="Calibri" pitchFamily="34" charset="-120"/>
              </a:rPr>
              <a:t>Q2</a:t>
            </a:r>
            <a:endParaRPr lang="en-US" sz="950" dirty="0"/>
          </a:p>
        </p:txBody>
      </p:sp>
      <p:sp>
        <p:nvSpPr>
          <p:cNvPr id="31" name="Text 29"/>
          <p:cNvSpPr/>
          <p:nvPr/>
        </p:nvSpPr>
        <p:spPr>
          <a:xfrm>
            <a:off x="6382512" y="1920240"/>
            <a:ext cx="4572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2" name="Text 30"/>
          <p:cNvSpPr/>
          <p:nvPr/>
        </p:nvSpPr>
        <p:spPr>
          <a:xfrm>
            <a:off x="6382512" y="2340864"/>
            <a:ext cx="1499616" cy="731520"/>
          </a:xfrm>
          <a:prstGeom prst="rect">
            <a:avLst/>
          </a:prstGeom>
          <a:noFill/>
          <a:ln/>
        </p:spPr>
        <p:txBody>
          <a:bodyPr wrap="square" rtlCol="0" anchor="ctr"/>
          <a:lstStyle/>
          <a:p>
            <a:pPr indent="0" marL="0">
              <a:lnSpc>
                <a:spcPts val="1350"/>
              </a:lnSpc>
              <a:buNone/>
            </a:pPr>
            <a:r>
              <a:rPr lang="en-US" sz="1200" b="1" dirty="0">
                <a:solidFill>
                  <a:srgbClr val="FFFFFF"/>
                </a:solidFill>
                <a:latin typeface="Cambria" pitchFamily="34" charset="0"/>
                <a:ea typeface="Cambria" pitchFamily="34" charset="-122"/>
                <a:cs typeface="Cambria" pitchFamily="34" charset="-120"/>
              </a:rPr>
              <a:t>Budget allocator</a:t>
            </a:r>
            <a:endParaRPr lang="en-US" sz="1200" dirty="0"/>
          </a:p>
        </p:txBody>
      </p:sp>
      <p:sp>
        <p:nvSpPr>
          <p:cNvPr id="33" name="Text 31"/>
          <p:cNvSpPr/>
          <p:nvPr/>
        </p:nvSpPr>
        <p:spPr>
          <a:xfrm>
            <a:off x="6382512" y="3108960"/>
            <a:ext cx="1499616" cy="320040"/>
          </a:xfrm>
          <a:prstGeom prst="rect">
            <a:avLst/>
          </a:prstGeom>
          <a:noFill/>
          <a:ln/>
        </p:spPr>
        <p:txBody>
          <a:bodyPr wrap="square" rtlCol="0" anchor="ctr"/>
          <a:lstStyle/>
          <a:p>
            <a:pPr indent="0" marL="0">
              <a:buNone/>
            </a:pPr>
            <a:r>
              <a:rPr lang="en-US" sz="900" b="1" i="1" dirty="0">
                <a:solidFill>
                  <a:srgbClr val="CADCFC"/>
                </a:solidFill>
                <a:latin typeface="Calibri" pitchFamily="34" charset="0"/>
                <a:ea typeface="Calibri" pitchFamily="34" charset="-122"/>
                <a:cs typeface="Calibri" pitchFamily="34" charset="-120"/>
              </a:rPr>
              <a:t>Exact DP</a:t>
            </a:r>
            <a:endParaRPr lang="en-US" sz="900" dirty="0"/>
          </a:p>
        </p:txBody>
      </p:sp>
      <p:sp>
        <p:nvSpPr>
          <p:cNvPr id="34" name="Text 32"/>
          <p:cNvSpPr/>
          <p:nvPr/>
        </p:nvSpPr>
        <p:spPr>
          <a:xfrm>
            <a:off x="6382512" y="3456432"/>
            <a:ext cx="1499616" cy="1069848"/>
          </a:xfrm>
          <a:prstGeom prst="rect">
            <a:avLst/>
          </a:prstGeom>
          <a:noFill/>
          <a:ln/>
        </p:spPr>
        <p:txBody>
          <a:bodyPr wrap="square" rtlCol="0" anchor="ctr"/>
          <a:lstStyle/>
          <a:p>
            <a:pPr indent="0" marL="0">
              <a:lnSpc>
                <a:spcPts val="1100"/>
              </a:lnSpc>
              <a:buNone/>
            </a:pPr>
            <a:r>
              <a:rPr lang="en-US" sz="870" dirty="0">
                <a:solidFill>
                  <a:srgbClr val="FFFFFF"/>
                </a:solidFill>
                <a:latin typeface="Calibri" pitchFamily="34" charset="0"/>
                <a:ea typeface="Calibri" pitchFamily="34" charset="-122"/>
                <a:cs typeface="Calibri" pitchFamily="34" charset="-120"/>
              </a:rPr>
              <a:t>Multiple-choice knapsack over calibrated response curves.</a:t>
            </a:r>
            <a:endParaRPr lang="en-US" sz="870" dirty="0"/>
          </a:p>
        </p:txBody>
      </p:sp>
      <p:sp>
        <p:nvSpPr>
          <p:cNvPr id="35" name="Text 33"/>
          <p:cNvSpPr/>
          <p:nvPr/>
        </p:nvSpPr>
        <p:spPr>
          <a:xfrm>
            <a:off x="8001000" y="2971800"/>
            <a:ext cx="182880" cy="548640"/>
          </a:xfrm>
          <a:prstGeom prst="rect">
            <a:avLst/>
          </a:prstGeom>
          <a:noFill/>
          <a:ln/>
        </p:spPr>
        <p:txBody>
          <a:bodyPr wrap="square" rtlCol="0" anchor="ctr"/>
          <a:lstStyle/>
          <a:p>
            <a:pPr algn="ctr" indent="0" marL="0">
              <a:buNone/>
            </a:pPr>
            <a:r>
              <a:rPr lang="en-US" sz="1600" dirty="0">
                <a:solidFill>
                  <a:srgbClr val="1E2761"/>
                </a:solidFill>
                <a:latin typeface="Arial" pitchFamily="34" charset="0"/>
                <a:ea typeface="Arial" pitchFamily="34" charset="-122"/>
                <a:cs typeface="Arial" pitchFamily="34" charset="-120"/>
              </a:rPr>
              <a:t>→</a:t>
            </a:r>
            <a:endParaRPr lang="en-US" sz="1600" dirty="0"/>
          </a:p>
        </p:txBody>
      </p:sp>
      <p:sp>
        <p:nvSpPr>
          <p:cNvPr id="36" name="Shape 34"/>
          <p:cNvSpPr/>
          <p:nvPr/>
        </p:nvSpPr>
        <p:spPr>
          <a:xfrm>
            <a:off x="8183880" y="1828800"/>
            <a:ext cx="1737360" cy="2834640"/>
          </a:xfrm>
          <a:prstGeom prst="roundRect">
            <a:avLst>
              <a:gd name="adj" fmla="val 5263"/>
            </a:avLst>
          </a:prstGeom>
          <a:solidFill>
            <a:srgbClr val="2C7A57"/>
          </a:solidFill>
          <a:ln/>
        </p:spPr>
      </p:sp>
      <p:sp>
        <p:nvSpPr>
          <p:cNvPr id="37" name="Shape 35"/>
          <p:cNvSpPr/>
          <p:nvPr/>
        </p:nvSpPr>
        <p:spPr>
          <a:xfrm>
            <a:off x="9409176" y="1920240"/>
            <a:ext cx="402336" cy="237744"/>
          </a:xfrm>
          <a:prstGeom prst="roundRect">
            <a:avLst>
              <a:gd name="adj" fmla="val 23077"/>
            </a:avLst>
          </a:prstGeom>
          <a:solidFill>
            <a:srgbClr val="FFFFFF"/>
          </a:solidFill>
          <a:ln w="12700">
            <a:solidFill>
              <a:srgbClr val="2C7A57"/>
            </a:solidFill>
            <a:prstDash val="solid"/>
          </a:ln>
        </p:spPr>
      </p:sp>
      <p:sp>
        <p:nvSpPr>
          <p:cNvPr id="38" name="Text 36"/>
          <p:cNvSpPr/>
          <p:nvPr/>
        </p:nvSpPr>
        <p:spPr>
          <a:xfrm>
            <a:off x="9409176" y="1920240"/>
            <a:ext cx="402336" cy="237744"/>
          </a:xfrm>
          <a:prstGeom prst="rect">
            <a:avLst/>
          </a:prstGeom>
          <a:noFill/>
          <a:ln/>
        </p:spPr>
        <p:txBody>
          <a:bodyPr wrap="square" rtlCol="0" anchor="ctr"/>
          <a:lstStyle/>
          <a:p>
            <a:pPr algn="ctr" indent="0" marL="0">
              <a:buNone/>
            </a:pPr>
            <a:r>
              <a:rPr lang="en-US" sz="950" b="1" dirty="0">
                <a:solidFill>
                  <a:srgbClr val="2C7A57"/>
                </a:solidFill>
                <a:latin typeface="Calibri" pitchFamily="34" charset="0"/>
                <a:ea typeface="Calibri" pitchFamily="34" charset="-122"/>
                <a:cs typeface="Calibri" pitchFamily="34" charset="-120"/>
              </a:rPr>
              <a:t>Q3</a:t>
            </a:r>
            <a:endParaRPr lang="en-US" sz="950" dirty="0"/>
          </a:p>
        </p:txBody>
      </p:sp>
      <p:sp>
        <p:nvSpPr>
          <p:cNvPr id="39" name="Text 37"/>
          <p:cNvSpPr/>
          <p:nvPr/>
        </p:nvSpPr>
        <p:spPr>
          <a:xfrm>
            <a:off x="8302752" y="1920240"/>
            <a:ext cx="4572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0" name="Text 38"/>
          <p:cNvSpPr/>
          <p:nvPr/>
        </p:nvSpPr>
        <p:spPr>
          <a:xfrm>
            <a:off x="8302752" y="2340864"/>
            <a:ext cx="1499616" cy="731520"/>
          </a:xfrm>
          <a:prstGeom prst="rect">
            <a:avLst/>
          </a:prstGeom>
          <a:noFill/>
          <a:ln/>
        </p:spPr>
        <p:txBody>
          <a:bodyPr wrap="square" rtlCol="0" anchor="ctr"/>
          <a:lstStyle/>
          <a:p>
            <a:pPr indent="0" marL="0">
              <a:lnSpc>
                <a:spcPts val="1350"/>
              </a:lnSpc>
              <a:buNone/>
            </a:pPr>
            <a:r>
              <a:rPr lang="en-US" sz="1200" b="1" dirty="0">
                <a:solidFill>
                  <a:srgbClr val="FFFFFF"/>
                </a:solidFill>
                <a:latin typeface="Cambria" pitchFamily="34" charset="0"/>
                <a:ea typeface="Cambria" pitchFamily="34" charset="-122"/>
                <a:cs typeface="Cambria" pitchFamily="34" charset="-120"/>
              </a:rPr>
              <a:t>Venue revenue model</a:t>
            </a:r>
            <a:endParaRPr lang="en-US" sz="1200" dirty="0"/>
          </a:p>
        </p:txBody>
      </p:sp>
      <p:sp>
        <p:nvSpPr>
          <p:cNvPr id="41" name="Text 39"/>
          <p:cNvSpPr/>
          <p:nvPr/>
        </p:nvSpPr>
        <p:spPr>
          <a:xfrm>
            <a:off x="8302752" y="3108960"/>
            <a:ext cx="1499616" cy="320040"/>
          </a:xfrm>
          <a:prstGeom prst="rect">
            <a:avLst/>
          </a:prstGeom>
          <a:noFill/>
          <a:ln/>
        </p:spPr>
        <p:txBody>
          <a:bodyPr wrap="square" rtlCol="0" anchor="ctr"/>
          <a:lstStyle/>
          <a:p>
            <a:pPr indent="0" marL="0">
              <a:buNone/>
            </a:pPr>
            <a:r>
              <a:rPr lang="en-US" sz="900" b="1" i="1" dirty="0">
                <a:solidFill>
                  <a:srgbClr val="CADCFC"/>
                </a:solidFill>
                <a:latin typeface="Calibri" pitchFamily="34" charset="0"/>
                <a:ea typeface="Calibri" pitchFamily="34" charset="-122"/>
                <a:cs typeface="Calibri" pitchFamily="34" charset="-120"/>
              </a:rPr>
              <a:t>GBT, honest OOF</a:t>
            </a:r>
            <a:endParaRPr lang="en-US" sz="900" dirty="0"/>
          </a:p>
        </p:txBody>
      </p:sp>
      <p:sp>
        <p:nvSpPr>
          <p:cNvPr id="42" name="Text 40"/>
          <p:cNvSpPr/>
          <p:nvPr/>
        </p:nvSpPr>
        <p:spPr>
          <a:xfrm>
            <a:off x="8302752" y="3456432"/>
            <a:ext cx="1499616" cy="1069848"/>
          </a:xfrm>
          <a:prstGeom prst="rect">
            <a:avLst/>
          </a:prstGeom>
          <a:noFill/>
          <a:ln/>
        </p:spPr>
        <p:txBody>
          <a:bodyPr wrap="square" rtlCol="0" anchor="ctr"/>
          <a:lstStyle/>
          <a:p>
            <a:pPr indent="0" marL="0">
              <a:lnSpc>
                <a:spcPts val="1100"/>
              </a:lnSpc>
              <a:buNone/>
            </a:pPr>
            <a:r>
              <a:rPr lang="en-US" sz="870" dirty="0">
                <a:solidFill>
                  <a:srgbClr val="FFFFFF"/>
                </a:solidFill>
                <a:latin typeface="Calibri" pitchFamily="34" charset="0"/>
                <a:ea typeface="Calibri" pitchFamily="34" charset="-122"/>
                <a:cs typeface="Calibri" pitchFamily="34" charset="-120"/>
              </a:rPr>
              <a:t>Venue characteristics + the calibrated lift (steps 1–3) as a feature. Flags under-monetized venues; ranks expansion prospects.</a:t>
            </a:r>
            <a:endParaRPr lang="en-US" sz="870" dirty="0"/>
          </a:p>
        </p:txBody>
      </p:sp>
      <p:sp>
        <p:nvSpPr>
          <p:cNvPr id="43" name="Text 41"/>
          <p:cNvSpPr/>
          <p:nvPr/>
        </p:nvSpPr>
        <p:spPr>
          <a:xfrm>
            <a:off x="9921240" y="2971800"/>
            <a:ext cx="182880" cy="548640"/>
          </a:xfrm>
          <a:prstGeom prst="rect">
            <a:avLst/>
          </a:prstGeom>
          <a:noFill/>
          <a:ln/>
        </p:spPr>
        <p:txBody>
          <a:bodyPr wrap="square" rtlCol="0" anchor="ctr"/>
          <a:lstStyle/>
          <a:p>
            <a:pPr algn="ctr" indent="0" marL="0">
              <a:buNone/>
            </a:pPr>
            <a:r>
              <a:rPr lang="en-US" sz="1600" dirty="0">
                <a:solidFill>
                  <a:srgbClr val="1E2761"/>
                </a:solidFill>
                <a:latin typeface="Arial" pitchFamily="34" charset="0"/>
                <a:ea typeface="Arial" pitchFamily="34" charset="-122"/>
                <a:cs typeface="Arial" pitchFamily="34" charset="-120"/>
              </a:rPr>
              <a:t>→</a:t>
            </a:r>
            <a:endParaRPr lang="en-US" sz="1600" dirty="0"/>
          </a:p>
        </p:txBody>
      </p:sp>
      <p:sp>
        <p:nvSpPr>
          <p:cNvPr id="44" name="Shape 42"/>
          <p:cNvSpPr/>
          <p:nvPr/>
        </p:nvSpPr>
        <p:spPr>
          <a:xfrm>
            <a:off x="10104120" y="1828800"/>
            <a:ext cx="1737360" cy="2834640"/>
          </a:xfrm>
          <a:prstGeom prst="roundRect">
            <a:avLst>
              <a:gd name="adj" fmla="val 5263"/>
            </a:avLst>
          </a:prstGeom>
          <a:solidFill>
            <a:srgbClr val="8E3B60"/>
          </a:solidFill>
          <a:ln/>
        </p:spPr>
      </p:sp>
      <p:sp>
        <p:nvSpPr>
          <p:cNvPr id="45" name="Shape 43"/>
          <p:cNvSpPr/>
          <p:nvPr/>
        </p:nvSpPr>
        <p:spPr>
          <a:xfrm>
            <a:off x="11329416" y="1920240"/>
            <a:ext cx="402336" cy="237744"/>
          </a:xfrm>
          <a:prstGeom prst="roundRect">
            <a:avLst>
              <a:gd name="adj" fmla="val 23077"/>
            </a:avLst>
          </a:prstGeom>
          <a:solidFill>
            <a:srgbClr val="FFFFFF"/>
          </a:solidFill>
          <a:ln w="12700">
            <a:solidFill>
              <a:srgbClr val="8E3B60"/>
            </a:solidFill>
            <a:prstDash val="solid"/>
          </a:ln>
        </p:spPr>
      </p:sp>
      <p:sp>
        <p:nvSpPr>
          <p:cNvPr id="46" name="Text 44"/>
          <p:cNvSpPr/>
          <p:nvPr/>
        </p:nvSpPr>
        <p:spPr>
          <a:xfrm>
            <a:off x="11329416" y="1920240"/>
            <a:ext cx="402336" cy="237744"/>
          </a:xfrm>
          <a:prstGeom prst="rect">
            <a:avLst/>
          </a:prstGeom>
          <a:noFill/>
          <a:ln/>
        </p:spPr>
        <p:txBody>
          <a:bodyPr wrap="square" rtlCol="0" anchor="ctr"/>
          <a:lstStyle/>
          <a:p>
            <a:pPr algn="ctr" indent="0" marL="0">
              <a:buNone/>
            </a:pPr>
            <a:r>
              <a:rPr lang="en-US" sz="950" b="1" dirty="0">
                <a:solidFill>
                  <a:srgbClr val="8E3B60"/>
                </a:solidFill>
                <a:latin typeface="Calibri" pitchFamily="34" charset="0"/>
                <a:ea typeface="Calibri" pitchFamily="34" charset="-122"/>
                <a:cs typeface="Calibri" pitchFamily="34" charset="-120"/>
              </a:rPr>
              <a:t>Q4</a:t>
            </a:r>
            <a:endParaRPr lang="en-US" sz="950" dirty="0"/>
          </a:p>
        </p:txBody>
      </p:sp>
      <p:sp>
        <p:nvSpPr>
          <p:cNvPr id="47" name="Text 45"/>
          <p:cNvSpPr/>
          <p:nvPr/>
        </p:nvSpPr>
        <p:spPr>
          <a:xfrm>
            <a:off x="10222992" y="1920240"/>
            <a:ext cx="4572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8" name="Text 46"/>
          <p:cNvSpPr/>
          <p:nvPr/>
        </p:nvSpPr>
        <p:spPr>
          <a:xfrm>
            <a:off x="10222992" y="2340864"/>
            <a:ext cx="1499616" cy="731520"/>
          </a:xfrm>
          <a:prstGeom prst="rect">
            <a:avLst/>
          </a:prstGeom>
          <a:noFill/>
          <a:ln/>
        </p:spPr>
        <p:txBody>
          <a:bodyPr wrap="square" rtlCol="0" anchor="ctr"/>
          <a:lstStyle/>
          <a:p>
            <a:pPr indent="0" marL="0">
              <a:lnSpc>
                <a:spcPts val="1350"/>
              </a:lnSpc>
              <a:buNone/>
            </a:pPr>
            <a:r>
              <a:rPr lang="en-US" sz="1200" b="1" dirty="0">
                <a:solidFill>
                  <a:srgbClr val="FFFFFF"/>
                </a:solidFill>
                <a:latin typeface="Cambria" pitchFamily="34" charset="0"/>
                <a:ea typeface="Cambria" pitchFamily="34" charset="-122"/>
                <a:cs typeface="Cambria" pitchFamily="34" charset="-120"/>
              </a:rPr>
              <a:t>Venue retention model</a:t>
            </a:r>
            <a:endParaRPr lang="en-US" sz="1200" dirty="0"/>
          </a:p>
        </p:txBody>
      </p:sp>
      <p:sp>
        <p:nvSpPr>
          <p:cNvPr id="49" name="Text 47"/>
          <p:cNvSpPr/>
          <p:nvPr/>
        </p:nvSpPr>
        <p:spPr>
          <a:xfrm>
            <a:off x="10222992" y="3108960"/>
            <a:ext cx="1499616" cy="320040"/>
          </a:xfrm>
          <a:prstGeom prst="rect">
            <a:avLst/>
          </a:prstGeom>
          <a:noFill/>
          <a:ln/>
        </p:spPr>
        <p:txBody>
          <a:bodyPr wrap="square" rtlCol="0" anchor="ctr"/>
          <a:lstStyle/>
          <a:p>
            <a:pPr indent="0" marL="0">
              <a:buNone/>
            </a:pPr>
            <a:r>
              <a:rPr lang="en-US" sz="900" b="1" i="1" dirty="0">
                <a:solidFill>
                  <a:srgbClr val="CADCFC"/>
                </a:solidFill>
                <a:latin typeface="Calibri" pitchFamily="34" charset="0"/>
                <a:ea typeface="Calibri" pitchFamily="34" charset="-122"/>
                <a:cs typeface="Calibri" pitchFamily="34" charset="-120"/>
              </a:rPr>
              <a:t>GBT classifier, honest OOF</a:t>
            </a:r>
            <a:endParaRPr lang="en-US" sz="900" dirty="0"/>
          </a:p>
        </p:txBody>
      </p:sp>
      <p:sp>
        <p:nvSpPr>
          <p:cNvPr id="50" name="Text 48"/>
          <p:cNvSpPr/>
          <p:nvPr/>
        </p:nvSpPr>
        <p:spPr>
          <a:xfrm>
            <a:off x="10222992" y="3456432"/>
            <a:ext cx="1499616" cy="1069848"/>
          </a:xfrm>
          <a:prstGeom prst="rect">
            <a:avLst/>
          </a:prstGeom>
          <a:noFill/>
          <a:ln/>
        </p:spPr>
        <p:txBody>
          <a:bodyPr wrap="square" rtlCol="0" anchor="ctr"/>
          <a:lstStyle/>
          <a:p>
            <a:pPr indent="0" marL="0">
              <a:lnSpc>
                <a:spcPts val="1100"/>
              </a:lnSpc>
              <a:buNone/>
            </a:pPr>
            <a:r>
              <a:rPr lang="en-US" sz="870" dirty="0">
                <a:solidFill>
                  <a:srgbClr val="FFFFFF"/>
                </a:solidFill>
                <a:latin typeface="Calibri" pitchFamily="34" charset="0"/>
                <a:ea typeface="Calibri" pitchFamily="34" charset="-122"/>
                <a:cs typeface="Calibri" pitchFamily="34" charset="-120"/>
              </a:rPr>
              <a:t>Ops-visible signals (engagement, uptime, complaints, outreach) + realized revenue. Flags at-risk venues; combines with Q3 into one value×risk priority.</a:t>
            </a:r>
            <a:endParaRPr lang="en-US" sz="870" dirty="0"/>
          </a:p>
        </p:txBody>
      </p:sp>
      <p:sp>
        <p:nvSpPr>
          <p:cNvPr id="51" name="Text 49"/>
          <p:cNvSpPr/>
          <p:nvPr/>
        </p:nvSpPr>
        <p:spPr>
          <a:xfrm>
            <a:off x="502920" y="4773168"/>
            <a:ext cx="3657600" cy="365760"/>
          </a:xfrm>
          <a:prstGeom prst="rect">
            <a:avLst/>
          </a:prstGeom>
          <a:noFill/>
          <a:ln/>
        </p:spPr>
        <p:txBody>
          <a:bodyPr wrap="square" rtlCol="0" anchor="ctr"/>
          <a:lstStyle/>
          <a:p>
            <a:pPr algn="ctr" indent="0" marL="0">
              <a:lnSpc>
                <a:spcPts val="1200"/>
              </a:lnSpc>
              <a:buNone/>
            </a:pPr>
            <a:r>
              <a:rPr lang="en-US" sz="1000" b="1" dirty="0">
                <a:solidFill>
                  <a:srgbClr val="1E2761"/>
                </a:solidFill>
                <a:latin typeface="Calibri" pitchFamily="34" charset="0"/>
                <a:ea typeface="Calibri" pitchFamily="34" charset="-122"/>
                <a:cs typeface="Calibri" pitchFamily="34" charset="-120"/>
              </a:rPr>
              <a:t>Answers Q1 — did the campaign work?</a:t>
            </a:r>
            <a:endParaRPr lang="en-US" sz="1000" dirty="0"/>
          </a:p>
        </p:txBody>
      </p:sp>
      <p:sp>
        <p:nvSpPr>
          <p:cNvPr id="52" name="Text 50"/>
          <p:cNvSpPr/>
          <p:nvPr/>
        </p:nvSpPr>
        <p:spPr>
          <a:xfrm>
            <a:off x="4343400" y="4773168"/>
            <a:ext cx="3657600" cy="365760"/>
          </a:xfrm>
          <a:prstGeom prst="rect">
            <a:avLst/>
          </a:prstGeom>
          <a:noFill/>
          <a:ln/>
        </p:spPr>
        <p:txBody>
          <a:bodyPr wrap="square" rtlCol="0" anchor="ctr"/>
          <a:lstStyle/>
          <a:p>
            <a:pPr algn="ctr" indent="0" marL="0">
              <a:lnSpc>
                <a:spcPts val="1200"/>
              </a:lnSpc>
              <a:buNone/>
            </a:pPr>
            <a:r>
              <a:rPr lang="en-US" sz="1000" b="1" dirty="0">
                <a:solidFill>
                  <a:srgbClr val="B8500A"/>
                </a:solidFill>
                <a:latin typeface="Calibri" pitchFamily="34" charset="0"/>
                <a:ea typeface="Calibri" pitchFamily="34" charset="-122"/>
                <a:cs typeface="Calibri" pitchFamily="34" charset="-120"/>
              </a:rPr>
              <a:t>Answers Q2 — how should budget be spent?</a:t>
            </a:r>
            <a:endParaRPr lang="en-US" sz="1000" dirty="0"/>
          </a:p>
        </p:txBody>
      </p:sp>
      <p:sp>
        <p:nvSpPr>
          <p:cNvPr id="53" name="Text 51"/>
          <p:cNvSpPr/>
          <p:nvPr/>
        </p:nvSpPr>
        <p:spPr>
          <a:xfrm>
            <a:off x="8183880" y="4773168"/>
            <a:ext cx="1737360" cy="365760"/>
          </a:xfrm>
          <a:prstGeom prst="rect">
            <a:avLst/>
          </a:prstGeom>
          <a:noFill/>
          <a:ln/>
        </p:spPr>
        <p:txBody>
          <a:bodyPr wrap="square" rtlCol="0" anchor="ctr"/>
          <a:lstStyle/>
          <a:p>
            <a:pPr algn="ctr" indent="0" marL="0">
              <a:lnSpc>
                <a:spcPts val="1200"/>
              </a:lnSpc>
              <a:buNone/>
            </a:pPr>
            <a:r>
              <a:rPr lang="en-US" sz="1000" b="1" dirty="0">
                <a:solidFill>
                  <a:srgbClr val="2C7A57"/>
                </a:solidFill>
                <a:latin typeface="Calibri" pitchFamily="34" charset="0"/>
                <a:ea typeface="Calibri" pitchFamily="34" charset="-122"/>
                <a:cs typeface="Calibri" pitchFamily="34" charset="-120"/>
              </a:rPr>
              <a:t>Answers Q3 — revenue upside?</a:t>
            </a:r>
            <a:endParaRPr lang="en-US" sz="1000" dirty="0"/>
          </a:p>
        </p:txBody>
      </p:sp>
      <p:sp>
        <p:nvSpPr>
          <p:cNvPr id="54" name="Text 52"/>
          <p:cNvSpPr/>
          <p:nvPr/>
        </p:nvSpPr>
        <p:spPr>
          <a:xfrm>
            <a:off x="10104120" y="4773168"/>
            <a:ext cx="1737360" cy="365760"/>
          </a:xfrm>
          <a:prstGeom prst="rect">
            <a:avLst/>
          </a:prstGeom>
          <a:noFill/>
          <a:ln/>
        </p:spPr>
        <p:txBody>
          <a:bodyPr wrap="square" rtlCol="0" anchor="ctr"/>
          <a:lstStyle/>
          <a:p>
            <a:pPr algn="ctr" indent="0" marL="0">
              <a:lnSpc>
                <a:spcPts val="1200"/>
              </a:lnSpc>
              <a:buNone/>
            </a:pPr>
            <a:r>
              <a:rPr lang="en-US" sz="1000" b="1" dirty="0">
                <a:solidFill>
                  <a:srgbClr val="8E3B60"/>
                </a:solidFill>
                <a:latin typeface="Calibri" pitchFamily="34" charset="0"/>
                <a:ea typeface="Calibri" pitchFamily="34" charset="-122"/>
                <a:cs typeface="Calibri" pitchFamily="34" charset="-120"/>
              </a:rPr>
              <a:t>Answers Q4 — retention risk?</a:t>
            </a:r>
            <a:endParaRPr lang="en-US" sz="1000" dirty="0"/>
          </a:p>
        </p:txBody>
      </p:sp>
      <p:sp>
        <p:nvSpPr>
          <p:cNvPr id="55" name="Text 53"/>
          <p:cNvSpPr/>
          <p:nvPr/>
        </p:nvSpPr>
        <p:spPr>
          <a:xfrm>
            <a:off x="640080" y="5349240"/>
            <a:ext cx="10881360" cy="685800"/>
          </a:xfrm>
          <a:prstGeom prst="rect">
            <a:avLst/>
          </a:prstGeom>
          <a:noFill/>
          <a:ln/>
        </p:spPr>
        <p:txBody>
          <a:bodyPr wrap="square" rtlCol="0" anchor="ctr"/>
          <a:lstStyle/>
          <a:p>
            <a:pPr indent="0" marL="0">
              <a:lnSpc>
                <a:spcPts val="1500"/>
              </a:lnSpc>
              <a:buNone/>
            </a:pPr>
            <a:r>
              <a:rPr lang="en-US" sz="1100" i="1" dirty="0">
                <a:solidFill>
                  <a:srgbClr val="5B6178"/>
                </a:solidFill>
                <a:latin typeface="Calibri" pitchFamily="34" charset="0"/>
                <a:ea typeface="Calibri" pitchFamily="34" charset="-122"/>
                <a:cs typeface="Calibri" pitchFamily="34" charset="-120"/>
              </a:rPr>
              <a:t>One connected system, not four separate projects: the calibrated per-exposure lift from steps 1–4 becomes a feature in the venue-revenue model (step 5), which combines with the churn model's risk score (step 6) into one value-×-risk priority list.</a:t>
            </a:r>
            <a:endParaRPr lang="en-US" sz="1100" dirty="0"/>
          </a:p>
        </p:txBody>
      </p:sp>
      <p:sp>
        <p:nvSpPr>
          <p:cNvPr id="56" name="Text 5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Roadmap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155680" cy="64008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Two data sources: a designed holdout test, and campaign history</a:t>
            </a:r>
            <a:endParaRPr lang="en-US" sz="27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5B6178"/>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5B6178"/>
                </a:solidFill>
                <a:latin typeface="Calibri" pitchFamily="34" charset="0"/>
                <a:ea typeface="Calibri" pitchFamily="34" charset="-122"/>
                <a:cs typeface="Calibri" pitchFamily="34" charset="-120"/>
              </a:rPr>
              <a:t>Foundation for Steps 1–3 · Q1–Q2</a:t>
            </a:r>
            <a:endParaRPr lang="en-US" sz="95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500" b="1" dirty="0">
                <a:solidFill>
                  <a:srgbClr val="E8871E"/>
                </a:solidFill>
                <a:latin typeface="Calibri" pitchFamily="34" charset="0"/>
                <a:ea typeface="Calibri" pitchFamily="34" charset="-122"/>
                <a:cs typeface="Calibri" pitchFamily="34" charset="-120"/>
              </a:rPr>
              <a:t>4 venue types × 100 venues each, 104 weeks (52 pre-period + 52 campaign)</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1965960"/>
                <a:gridCol w="4562856"/>
                <a:gridCol w="4562856"/>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RCT pool — 136 venues</a:t>
                      </a:r>
                      <a:endParaRPr lang="en-US" sz="11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Observational pool — 264 venues</a:t>
                      </a:r>
                      <a:endParaRPr lang="en-US" sz="11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1E2761"/>
                    </a:solidFill>
                  </a:tcPr>
                </a:tc>
              </a:tr>
              <a:tr h="777240">
                <a:tc>
                  <a:txBody>
                    <a:bodyPr/>
                    <a:lstStyle/>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0–51</a:t>
                      </a:r>
                      <a:endParaRPr lang="en-US" sz="1050" dirty="0">
                        <a:latin typeface="Calibri" charset="0"/>
                        <a:ea typeface="Calibri" charset="0"/>
                        <a:cs typeface="Calibri" charset="0"/>
                      </a:endParaRPr>
                    </a:p>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(52 wks)</a:t>
                      </a:r>
                      <a:endParaRPr lang="en-US" sz="1050" dirty="0">
                        <a:latin typeface="Calibri" charset="0"/>
                        <a:ea typeface="Calibri" charset="0"/>
                        <a:cs typeface="Calibri" charset="0"/>
                      </a:endParaRPr>
                    </a:p>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Pre-period</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FFFFF"/>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No ads for either arm — establishes each venue's own baseline.</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EDF1FB"/>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No ads yet for anyone — identical baseline period.</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DF1E3"/>
                    </a:solidFill>
                  </a:tcPr>
                </a:tc>
              </a:tr>
              <a:tr h="868680">
                <a:tc>
                  <a:txBody>
                    <a:bodyPr/>
                    <a:lstStyle/>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52–59</a:t>
                      </a:r>
                      <a:endParaRPr lang="en-US" sz="1050" dirty="0">
                        <a:latin typeface="Calibri" charset="0"/>
                        <a:ea typeface="Calibri" charset="0"/>
                        <a:cs typeface="Calibri" charset="0"/>
                      </a:endParaRPr>
                    </a:p>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(8 wks)</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7F8FC"/>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Still silent — the designed test hasn't launched yet. Unused by the current effect estimate.</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EDF1FB"/>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24 of 264 self-activate here — each advertiser's own timing, no coordination.</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DF1E3"/>
                    </a:solidFill>
                  </a:tcPr>
                </a:tc>
              </a:tr>
              <a:tr h="868680">
                <a:tc>
                  <a:txBody>
                    <a:bodyPr/>
                    <a:lstStyle/>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60–69</a:t>
                      </a:r>
                      <a:endParaRPr lang="en-US" sz="1050" dirty="0">
                        <a:latin typeface="Calibri" charset="0"/>
                        <a:ea typeface="Calibri" charset="0"/>
                        <a:cs typeface="Calibri" charset="0"/>
                      </a:endParaRPr>
                    </a:p>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(10 wks)</a:t>
                      </a:r>
                      <a:endParaRPr lang="en-US" sz="1050" dirty="0">
                        <a:latin typeface="Calibri" charset="0"/>
                        <a:ea typeface="Calibri" charset="0"/>
                        <a:cs typeface="Calibri" charset="0"/>
                      </a:endParaRPr>
                    </a:p>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RCT window</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FFFFF"/>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Treated: fixed 6 plays/wk. Holdout: still 0. The only window the RCT estimate uses.</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EDF1FB"/>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37 more self-activate here — overlap with the RCT window is coincidence, not design.</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DF1E3"/>
                    </a:solidFill>
                  </a:tcPr>
                </a:tc>
              </a:tr>
              <a:tr h="868680">
                <a:tc>
                  <a:txBody>
                    <a:bodyPr/>
                    <a:lstStyle/>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70–103</a:t>
                      </a:r>
                      <a:endParaRPr lang="en-US" sz="1050" dirty="0">
                        <a:latin typeface="Calibri" charset="0"/>
                        <a:ea typeface="Calibri" charset="0"/>
                        <a:cs typeface="Calibri" charset="0"/>
                      </a:endParaRPr>
                    </a:p>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(34 wks)</a:t>
                      </a:r>
                      <a:endParaRPr lang="en-US" sz="1050" dirty="0">
                        <a:latin typeface="Calibri" charset="0"/>
                        <a:ea typeface="Calibri" charset="0"/>
                        <a:cs typeface="Calibri" charset="0"/>
                      </a:endParaRPr>
                    </a:p>
                    <a:p>
                      <a:pPr indent="0" marL="0">
                        <a:lnSpc>
                          <a:spcPts val="1200"/>
                        </a:lnSpc>
                        <a:buNone/>
                      </a:pPr>
                      <a:r>
                        <a:rPr lang="en-US" sz="1050" b="1" dirty="0">
                          <a:solidFill>
                            <a:srgbClr val="1E2761"/>
                          </a:solidFill>
                          <a:latin typeface="Calibri" pitchFamily="34" charset="0"/>
                          <a:ea typeface="Calibri" pitchFamily="34" charset="-122"/>
                          <a:cs typeface="Calibri" pitchFamily="34" charset="-120"/>
                        </a:rPr>
                        <a:t>Post-campaign</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7F8FC"/>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Ads stop, but true lift decays out over ~8 more weeks (adstock carryover) — not yet analyzed.</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EDF1FB"/>
                    </a:solidFill>
                  </a:tcPr>
                </a:tc>
                <a:tc>
                  <a:txBody>
                    <a:bodyPr/>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69 more (the largest group) start only now — most real campaigns land late, spread thin.</a:t>
                      </a:r>
                      <a:endParaRPr lang="en-US" sz="1050" dirty="0">
                        <a:latin typeface="Calibri" charset="0"/>
                        <a:ea typeface="Calibri" charset="0"/>
                        <a:cs typeface="Calibri" charset="0"/>
                      </a:endParaRPr>
                    </a:p>
                  </a:txBody>
                  <a:tcPr marL="91440" marR="91440" marT="45720" marB="45720"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rgbClr val="FDF1E3"/>
                    </a:solidFill>
                  </a:tcPr>
                </a:tc>
              </a:tr>
            </a:tbl>
          </a:graphicData>
        </a:graphic>
      </p:graphicFrame>
      <p:sp>
        <p:nvSpPr>
          <p:cNvPr id="7" name="Text 4"/>
          <p:cNvSpPr/>
          <p:nvPr/>
        </p:nvSpPr>
        <p:spPr>
          <a:xfrm>
            <a:off x="548640" y="5623560"/>
            <a:ext cx="11091672" cy="685800"/>
          </a:xfrm>
          <a:prstGeom prst="rect">
            <a:avLst/>
          </a:prstGeom>
          <a:noFill/>
          <a:ln/>
        </p:spPr>
        <p:txBody>
          <a:bodyPr wrap="square" rtlCol="0" anchor="ctr"/>
          <a:lstStyle/>
          <a:p>
            <a:pPr indent="0" marL="0">
              <a:lnSpc>
                <a:spcPts val="1500"/>
              </a:lnSpc>
              <a:buNone/>
            </a:pPr>
            <a:r>
              <a:rPr lang="en-US" sz="1100" i="1" dirty="0">
                <a:solidFill>
                  <a:srgbClr val="5B6178"/>
                </a:solidFill>
                <a:latin typeface="Calibri" pitchFamily="34" charset="0"/>
                <a:ea typeface="Calibri" pitchFamily="34" charset="-122"/>
                <a:cs typeface="Calibri" pitchFamily="34" charset="-120"/>
              </a:rPr>
              <a:t>RCT pool: assignment is verified, not assumed — anchors high confidence. Observational pool: 134 of 264 venues never run a campaign at all, and the rest self-activate on their own schedule — exactly why synthetic control (next) reconstructs the counterfactual instead of comparing before/after directly.</a:t>
            </a:r>
            <a:endParaRPr lang="en-US" sz="1100" dirty="0"/>
          </a:p>
        </p:txBody>
      </p:sp>
      <p:sp>
        <p:nvSpPr>
          <p:cNvPr id="8" name="Text 5"/>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Data &amp; methodology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9436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The proof point: ads move real foot traffic</a:t>
            </a:r>
            <a:endParaRPr lang="en-US" sz="27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1E2761"/>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Step 1 of 6 · Answers Q1</a:t>
            </a:r>
            <a:endParaRPr lang="en-US" sz="950" dirty="0"/>
          </a:p>
        </p:txBody>
      </p:sp>
      <p:sp>
        <p:nvSpPr>
          <p:cNvPr id="5" name="Shape 3"/>
          <p:cNvSpPr/>
          <p:nvPr/>
        </p:nvSpPr>
        <p:spPr>
          <a:xfrm>
            <a:off x="9784080" y="457200"/>
            <a:ext cx="1920240" cy="502920"/>
          </a:xfrm>
          <a:prstGeom prst="roundRect">
            <a:avLst>
              <a:gd name="adj" fmla="val 14545"/>
            </a:avLst>
          </a:prstGeom>
          <a:solidFill>
            <a:srgbClr val="2C7A57"/>
          </a:solidFill>
          <a:ln/>
        </p:spPr>
      </p:sp>
      <p:sp>
        <p:nvSpPr>
          <p:cNvPr id="6" name="Text 4"/>
          <p:cNvSpPr/>
          <p:nvPr/>
        </p:nvSpPr>
        <p:spPr>
          <a:xfrm>
            <a:off x="9784080" y="457200"/>
            <a:ext cx="192024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2/16 balance tests sig.</a:t>
            </a:r>
            <a:endParaRPr lang="en-US" sz="1050" dirty="0"/>
          </a:p>
        </p:txBody>
      </p:sp>
      <p:graphicFrame>
        <p:nvGraphicFramePr>
          <p:cNvPr id="7" name="Chart 0" descr=""/>
          <p:cNvGraphicFramePr/>
          <p:nvPr/>
        </p:nvGraphicFramePr>
        <p:xfrm>
          <a:off x="548640" y="1188720"/>
          <a:ext cx="6583680" cy="37490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406640" y="1188720"/>
            <a:ext cx="4206240" cy="274320"/>
          </a:xfrm>
          <a:prstGeom prst="rect">
            <a:avLst/>
          </a:prstGeom>
          <a:noFill/>
          <a:ln/>
        </p:spPr>
        <p:txBody>
          <a:bodyPr wrap="square" rtlCol="0" anchor="ctr"/>
          <a:lstStyle/>
          <a:p>
            <a:pPr indent="0" marL="0">
              <a:buNone/>
            </a:pPr>
            <a:r>
              <a:rPr lang="en-US" sz="1000" b="1" dirty="0">
                <a:solidFill>
                  <a:srgbClr val="5B6178"/>
                </a:solidFill>
                <a:latin typeface="Courier New" pitchFamily="34" charset="0"/>
                <a:ea typeface="Courier New" pitchFamily="34" charset="-122"/>
                <a:cs typeface="Courier New" pitchFamily="34" charset="-120"/>
              </a:rPr>
              <a:t>Venue type      95% CI               p-value</a:t>
            </a:r>
            <a:endParaRPr lang="en-US" sz="1000" dirty="0"/>
          </a:p>
        </p:txBody>
      </p:sp>
      <p:sp>
        <p:nvSpPr>
          <p:cNvPr id="9" name="Text 6"/>
          <p:cNvSpPr/>
          <p:nvPr/>
        </p:nvSpPr>
        <p:spPr>
          <a:xfrm>
            <a:off x="7406640" y="1508760"/>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Restaurants    [11.1, 22.4]   &lt; 0.001</a:t>
            </a:r>
            <a:endParaRPr lang="en-US" sz="1050" dirty="0"/>
          </a:p>
        </p:txBody>
      </p:sp>
      <p:sp>
        <p:nvSpPr>
          <p:cNvPr id="10" name="Text 7"/>
          <p:cNvSpPr/>
          <p:nvPr/>
        </p:nvSpPr>
        <p:spPr>
          <a:xfrm>
            <a:off x="7406640" y="1892808"/>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Gyms           [5.2, 15.4]   &lt; 0.001</a:t>
            </a:r>
            <a:endParaRPr lang="en-US" sz="1050" dirty="0"/>
          </a:p>
        </p:txBody>
      </p:sp>
      <p:sp>
        <p:nvSpPr>
          <p:cNvPr id="11" name="Text 8"/>
          <p:cNvSpPr/>
          <p:nvPr/>
        </p:nvSpPr>
        <p:spPr>
          <a:xfrm>
            <a:off x="7406640" y="2276856"/>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Bars           [13.3, 22.5]   &lt; 0.001</a:t>
            </a:r>
            <a:endParaRPr lang="en-US" sz="1050" dirty="0"/>
          </a:p>
        </p:txBody>
      </p:sp>
      <p:sp>
        <p:nvSpPr>
          <p:cNvPr id="12" name="Text 9"/>
          <p:cNvSpPr/>
          <p:nvPr/>
        </p:nvSpPr>
        <p:spPr>
          <a:xfrm>
            <a:off x="7406640" y="2660904"/>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Waiting Rooms  [5.1, 10.2]   &lt; 0.001</a:t>
            </a:r>
            <a:endParaRPr lang="en-US" sz="1050" dirty="0"/>
          </a:p>
        </p:txBody>
      </p:sp>
      <p:sp>
        <p:nvSpPr>
          <p:cNvPr id="13" name="Text 10"/>
          <p:cNvSpPr/>
          <p:nvPr/>
        </p:nvSpPr>
        <p:spPr>
          <a:xfrm>
            <a:off x="7406640" y="3319272"/>
            <a:ext cx="4206240" cy="274320"/>
          </a:xfrm>
          <a:prstGeom prst="rect">
            <a:avLst/>
          </a:prstGeom>
          <a:noFill/>
          <a:ln/>
        </p:spPr>
        <p:txBody>
          <a:bodyPr wrap="square"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Why 2/16 isn't a red flag</a:t>
            </a:r>
            <a:endParaRPr lang="en-US" sz="1200" dirty="0"/>
          </a:p>
        </p:txBody>
      </p:sp>
      <p:sp>
        <p:nvSpPr>
          <p:cNvPr id="14" name="Text 11"/>
          <p:cNvSpPr/>
          <p:nvPr/>
        </p:nvSpPr>
        <p:spPr>
          <a:xfrm>
            <a:off x="7406640" y="3639312"/>
            <a:ext cx="4206240" cy="777240"/>
          </a:xfrm>
          <a:prstGeom prst="rect">
            <a:avLst/>
          </a:prstGeom>
          <a:noFill/>
          <a:ln/>
        </p:spPr>
        <p:txBody>
          <a:bodyPr wrap="square" rtlCol="0" anchor="ctr"/>
          <a:lstStyle/>
          <a:p>
            <a:pPr indent="0" marL="0">
              <a:lnSpc>
                <a:spcPts val="1400"/>
              </a:lnSpc>
              <a:buNone/>
            </a:pPr>
            <a:r>
              <a:rPr lang="en-US" sz="1050" dirty="0">
                <a:solidFill>
                  <a:srgbClr val="1A1A2E"/>
                </a:solidFill>
                <a:latin typeface="Calibri" pitchFamily="34" charset="0"/>
                <a:ea typeface="Calibri" pitchFamily="34" charset="-122"/>
                <a:cs typeface="Calibri" pitchFamily="34" charset="-120"/>
              </a:rPr>
              <a:t>16 tests = 4 pre-treatment covariates (baseline traffic level, dwell time, screen count, audience quality) × 4 venue types. Only 2 came back significant at p≤0.05.</a:t>
            </a:r>
            <a:endParaRPr lang="en-US" sz="1050" dirty="0"/>
          </a:p>
        </p:txBody>
      </p:sp>
      <p:sp>
        <p:nvSpPr>
          <p:cNvPr id="15" name="Text 12"/>
          <p:cNvSpPr/>
          <p:nvPr/>
        </p:nvSpPr>
        <p:spPr>
          <a:xfrm>
            <a:off x="7406640" y="4462272"/>
            <a:ext cx="4206240" cy="1371600"/>
          </a:xfrm>
          <a:prstGeom prst="rect">
            <a:avLst/>
          </a:prstGeom>
          <a:noFill/>
          <a:ln/>
        </p:spPr>
        <p:txBody>
          <a:bodyPr wrap="square" rtlCol="0" anchor="ctr"/>
          <a:lstStyle/>
          <a:p>
            <a:pPr indent="0" marL="0">
              <a:lnSpc>
                <a:spcPts val="1400"/>
              </a:lnSpc>
              <a:buNone/>
            </a:pPr>
            <a:r>
              <a:rPr lang="en-US" sz="1050" i="1" dirty="0">
                <a:solidFill>
                  <a:srgbClr val="5B6178"/>
                </a:solidFill>
                <a:latin typeface="Calibri" pitchFamily="34" charset="0"/>
                <a:ea typeface="Calibri" pitchFamily="34" charset="-122"/>
                <a:cs typeface="Calibri" pitchFamily="34" charset="-120"/>
              </a:rPr>
              <a:t>If randomization is clean, the count of false positives across 16 independent tests follows Binomial(16, 0.05): mean 0.8, P(≥2) ≈ 19%. Two sits well inside that distribution's main mass — nowhere near a red-flag tail value like 8+. Randomization worked as designed, not assumed.</a:t>
            </a:r>
            <a:endParaRPr lang="en-US" sz="1050" dirty="0"/>
          </a:p>
        </p:txBody>
      </p:sp>
      <p:sp>
        <p:nvSpPr>
          <p:cNvPr id="16" name="Text 13"/>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Causal measurement — RCT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9436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Measuring the campaigns we couldn't randomize</a:t>
            </a:r>
            <a:endParaRPr lang="en-US" sz="27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1E2761"/>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Step 2 of 6 · Answers Q1</a:t>
            </a:r>
            <a:endParaRPr lang="en-US" sz="950" dirty="0"/>
          </a:p>
        </p:txBody>
      </p:sp>
      <p:sp>
        <p:nvSpPr>
          <p:cNvPr id="5" name="Text 3"/>
          <p:cNvSpPr/>
          <p:nvPr/>
        </p:nvSpPr>
        <p:spPr>
          <a:xfrm>
            <a:off x="548640" y="1005840"/>
            <a:ext cx="10789920" cy="457200"/>
          </a:xfrm>
          <a:prstGeom prst="rect">
            <a:avLst/>
          </a:prstGeom>
          <a:noFill/>
          <a:ln/>
        </p:spPr>
        <p:txBody>
          <a:bodyPr wrap="square" rtlCol="0" anchor="ctr"/>
          <a:lstStyle/>
          <a:p>
            <a:pPr indent="0" marL="0">
              <a:buNone/>
            </a:pPr>
            <a:r>
              <a:rPr lang="en-US" sz="1250" i="1" dirty="0">
                <a:solidFill>
                  <a:srgbClr val="5B6178"/>
                </a:solidFill>
                <a:latin typeface="Calibri" pitchFamily="34" charset="0"/>
                <a:ea typeface="Calibri" pitchFamily="34" charset="-122"/>
                <a:cs typeface="Calibri" pitchFamily="34" charset="-120"/>
              </a:rPr>
              <a:t>Most advertisers' campaigns already ran, on venues they picked — not us. Synthetic control reconstructs the counterfactual anyway, with its own built-in checks.</a:t>
            </a:r>
            <a:endParaRPr lang="en-US" sz="1250" dirty="0"/>
          </a:p>
        </p:txBody>
      </p:sp>
      <p:graphicFrame>
        <p:nvGraphicFramePr>
          <p:cNvPr id="6" name="Chart 0" descr=""/>
          <p:cNvGraphicFramePr/>
          <p:nvPr/>
        </p:nvGraphicFramePr>
        <p:xfrm>
          <a:off x="548640" y="1645920"/>
          <a:ext cx="6583680" cy="3749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406640" y="1645920"/>
            <a:ext cx="4206240" cy="274320"/>
          </a:xfrm>
          <a:prstGeom prst="rect">
            <a:avLst/>
          </a:prstGeom>
          <a:noFill/>
          <a:ln/>
        </p:spPr>
        <p:txBody>
          <a:bodyPr wrap="square" rtlCol="0" anchor="ctr"/>
          <a:lstStyle/>
          <a:p>
            <a:pPr indent="0" marL="0">
              <a:buNone/>
            </a:pPr>
            <a:r>
              <a:rPr lang="en-US" sz="1000" b="1" dirty="0">
                <a:solidFill>
                  <a:srgbClr val="5B6178"/>
                </a:solidFill>
                <a:latin typeface="Courier New" pitchFamily="34" charset="0"/>
                <a:ea typeface="Courier New" pitchFamily="34" charset="-122"/>
                <a:cs typeface="Courier New" pitchFamily="34" charset="-120"/>
              </a:rPr>
              <a:t>Venue type      Placebo p    Pre-RMSPE</a:t>
            </a:r>
            <a:endParaRPr lang="en-US" sz="1000" dirty="0"/>
          </a:p>
        </p:txBody>
      </p:sp>
      <p:sp>
        <p:nvSpPr>
          <p:cNvPr id="8" name="Text 5"/>
          <p:cNvSpPr/>
          <p:nvPr/>
        </p:nvSpPr>
        <p:spPr>
          <a:xfrm>
            <a:off x="7406640" y="1965960"/>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Restaurants    0.160        26.4</a:t>
            </a:r>
            <a:endParaRPr lang="en-US" sz="1050" dirty="0"/>
          </a:p>
        </p:txBody>
      </p:sp>
      <p:sp>
        <p:nvSpPr>
          <p:cNvPr id="9" name="Text 6"/>
          <p:cNvSpPr/>
          <p:nvPr/>
        </p:nvSpPr>
        <p:spPr>
          <a:xfrm>
            <a:off x="7406640" y="2350008"/>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Gyms           0.050        14.4</a:t>
            </a:r>
            <a:endParaRPr lang="en-US" sz="1050" dirty="0"/>
          </a:p>
        </p:txBody>
      </p:sp>
      <p:sp>
        <p:nvSpPr>
          <p:cNvPr id="10" name="Text 7"/>
          <p:cNvSpPr/>
          <p:nvPr/>
        </p:nvSpPr>
        <p:spPr>
          <a:xfrm>
            <a:off x="7406640" y="2734056"/>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Bars           0.100        17.8</a:t>
            </a:r>
            <a:endParaRPr lang="en-US" sz="1050" dirty="0"/>
          </a:p>
        </p:txBody>
      </p:sp>
      <p:sp>
        <p:nvSpPr>
          <p:cNvPr id="11" name="Text 8"/>
          <p:cNvSpPr/>
          <p:nvPr/>
        </p:nvSpPr>
        <p:spPr>
          <a:xfrm>
            <a:off x="7406640" y="3118104"/>
            <a:ext cx="4206240" cy="320040"/>
          </a:xfrm>
          <a:prstGeom prst="rect">
            <a:avLst/>
          </a:prstGeom>
          <a:noFill/>
          <a:ln/>
        </p:spPr>
        <p:txBody>
          <a:bodyPr wrap="square" rtlCol="0" anchor="ctr"/>
          <a:lstStyle/>
          <a:p>
            <a:pPr indent="0" marL="0">
              <a:buNone/>
            </a:pPr>
            <a:r>
              <a:rPr lang="en-US" sz="1050" dirty="0">
                <a:solidFill>
                  <a:srgbClr val="1A1A2E"/>
                </a:solidFill>
                <a:latin typeface="Courier New" pitchFamily="34" charset="0"/>
                <a:ea typeface="Courier New" pitchFamily="34" charset="-122"/>
                <a:cs typeface="Courier New" pitchFamily="34" charset="-120"/>
              </a:rPr>
              <a:t>Waiting Rooms  0.110        8.3</a:t>
            </a:r>
            <a:endParaRPr lang="en-US" sz="1050" dirty="0"/>
          </a:p>
        </p:txBody>
      </p:sp>
      <p:sp>
        <p:nvSpPr>
          <p:cNvPr id="12" name="Text 9"/>
          <p:cNvSpPr/>
          <p:nvPr/>
        </p:nvSpPr>
        <p:spPr>
          <a:xfrm>
            <a:off x="7406640" y="3776472"/>
            <a:ext cx="4206240" cy="1554480"/>
          </a:xfrm>
          <a:prstGeom prst="rect">
            <a:avLst/>
          </a:prstGeom>
          <a:noFill/>
          <a:ln/>
        </p:spPr>
        <p:txBody>
          <a:bodyPr wrap="square" rtlCol="0" anchor="ctr"/>
          <a:lstStyle/>
          <a:p>
            <a:pPr indent="0" marL="0">
              <a:lnSpc>
                <a:spcPts val="1500"/>
              </a:lnSpc>
              <a:buNone/>
            </a:pPr>
            <a:r>
              <a:rPr lang="en-US" sz="1100" i="1" dirty="0">
                <a:solidFill>
                  <a:srgbClr val="5B6178"/>
                </a:solidFill>
                <a:latin typeface="Calibri" pitchFamily="34" charset="0"/>
                <a:ea typeface="Calibri" pitchFamily="34" charset="-122"/>
                <a:cs typeface="Calibri" pitchFamily="34" charset="-120"/>
              </a:rPr>
              <a:t>Two validation checks, since synthetic control has no closed-form standard error: pre-period fit quality (RMSPE — poor fits are flagged and excluded from the aggregate estimate) and an in-space placebo test on every donor venue.</a:t>
            </a:r>
            <a:endParaRPr lang="en-US" sz="1100" dirty="0"/>
          </a:p>
        </p:txBody>
      </p:sp>
      <p:sp>
        <p:nvSpPr>
          <p:cNvPr id="13" name="Text 10"/>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Causal measurement — Synthetic Control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247120" cy="59436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MMM: an uncalibrated model would have underpriced results</a:t>
            </a:r>
            <a:endParaRPr lang="en-US" sz="25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B8500A"/>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B8500A"/>
                </a:solidFill>
                <a:latin typeface="Calibri" pitchFamily="34" charset="0"/>
                <a:ea typeface="Calibri" pitchFamily="34" charset="-122"/>
                <a:cs typeface="Calibri" pitchFamily="34" charset="-120"/>
              </a:rPr>
              <a:t>Step 3 of 6 · Answers Q2</a:t>
            </a:r>
            <a:endParaRPr lang="en-US" sz="950" dirty="0"/>
          </a:p>
        </p:txBody>
      </p:sp>
      <p:sp>
        <p:nvSpPr>
          <p:cNvPr id="5" name="Text 3"/>
          <p:cNvSpPr/>
          <p:nvPr/>
        </p:nvSpPr>
        <p:spPr>
          <a:xfrm>
            <a:off x="548640" y="1005840"/>
            <a:ext cx="10972800" cy="365760"/>
          </a:xfrm>
          <a:prstGeom prst="rect">
            <a:avLst/>
          </a:prstGeom>
          <a:noFill/>
          <a:ln/>
        </p:spPr>
        <p:txBody>
          <a:bodyPr wrap="square" rtlCol="0" anchor="ctr"/>
          <a:lstStyle/>
          <a:p>
            <a:pPr indent="0" marL="0">
              <a:buNone/>
            </a:pPr>
            <a:r>
              <a:rPr lang="en-US" sz="1250" i="1" dirty="0">
                <a:solidFill>
                  <a:srgbClr val="5B6178"/>
                </a:solidFill>
                <a:latin typeface="Calibri" pitchFamily="34" charset="0"/>
                <a:ea typeface="Calibri" pitchFamily="34" charset="-122"/>
                <a:cs typeface="Calibri" pitchFamily="34" charset="-120"/>
              </a:rPr>
              <a:t>Adstock + saturation shape comes from the aggregate weekly series; scale is pinned by the RCT's high-confidence estimate.</a:t>
            </a:r>
            <a:endParaRPr lang="en-US" sz="1250" dirty="0"/>
          </a:p>
        </p:txBody>
      </p:sp>
      <p:graphicFrame>
        <p:nvGraphicFramePr>
          <p:cNvPr id="6" name="Chart 0" descr=""/>
          <p:cNvGraphicFramePr/>
          <p:nvPr/>
        </p:nvGraphicFramePr>
        <p:xfrm>
          <a:off x="548640" y="160020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772400" y="1737360"/>
            <a:ext cx="3840480" cy="320040"/>
          </a:xfrm>
          <a:prstGeom prst="rect">
            <a:avLst/>
          </a:prstGeom>
          <a:noFill/>
          <a:ln/>
        </p:spPr>
        <p:txBody>
          <a:bodyPr wrap="square"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Calibration adjustment</a:t>
            </a:r>
            <a:endParaRPr lang="en-US" sz="1200" dirty="0"/>
          </a:p>
        </p:txBody>
      </p:sp>
      <p:sp>
        <p:nvSpPr>
          <p:cNvPr id="8" name="Text 5"/>
          <p:cNvSpPr/>
          <p:nvPr/>
        </p:nvSpPr>
        <p:spPr>
          <a:xfrm>
            <a:off x="7772400" y="2194560"/>
            <a:ext cx="1737360" cy="50292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Restaurants</a:t>
            </a:r>
            <a:endParaRPr lang="en-US" sz="1200" dirty="0"/>
          </a:p>
        </p:txBody>
      </p:sp>
      <p:sp>
        <p:nvSpPr>
          <p:cNvPr id="9" name="Text 6"/>
          <p:cNvSpPr/>
          <p:nvPr/>
        </p:nvSpPr>
        <p:spPr>
          <a:xfrm>
            <a:off x="9509760" y="2194560"/>
            <a:ext cx="2103120" cy="502920"/>
          </a:xfrm>
          <a:prstGeom prst="rect">
            <a:avLst/>
          </a:prstGeom>
          <a:noFill/>
          <a:ln/>
        </p:spPr>
        <p:txBody>
          <a:bodyPr wrap="square" rtlCol="0" anchor="ctr"/>
          <a:lstStyle/>
          <a:p>
            <a:pPr indent="0" marL="0">
              <a:buNone/>
            </a:pPr>
            <a:r>
              <a:rPr lang="en-US" sz="1800" b="1" dirty="0">
                <a:solidFill>
                  <a:srgbClr val="B8500A"/>
                </a:solidFill>
                <a:latin typeface="Calibri" pitchFamily="34" charset="0"/>
                <a:ea typeface="Calibri" pitchFamily="34" charset="-122"/>
                <a:cs typeface="Calibri" pitchFamily="34" charset="-120"/>
              </a:rPr>
              <a:t>+134%</a:t>
            </a:r>
            <a:endParaRPr lang="en-US" sz="1800" dirty="0"/>
          </a:p>
        </p:txBody>
      </p:sp>
      <p:sp>
        <p:nvSpPr>
          <p:cNvPr id="10" name="Text 7"/>
          <p:cNvSpPr/>
          <p:nvPr/>
        </p:nvSpPr>
        <p:spPr>
          <a:xfrm>
            <a:off x="7772400" y="2788920"/>
            <a:ext cx="1737360" cy="50292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Gyms</a:t>
            </a:r>
            <a:endParaRPr lang="en-US" sz="1200" dirty="0"/>
          </a:p>
        </p:txBody>
      </p:sp>
      <p:sp>
        <p:nvSpPr>
          <p:cNvPr id="11" name="Text 8"/>
          <p:cNvSpPr/>
          <p:nvPr/>
        </p:nvSpPr>
        <p:spPr>
          <a:xfrm>
            <a:off x="9509760" y="2788920"/>
            <a:ext cx="2103120" cy="502920"/>
          </a:xfrm>
          <a:prstGeom prst="rect">
            <a:avLst/>
          </a:prstGeom>
          <a:noFill/>
          <a:ln/>
        </p:spPr>
        <p:txBody>
          <a:bodyPr wrap="square" rtlCol="0" anchor="ctr"/>
          <a:lstStyle/>
          <a:p>
            <a:pPr indent="0" marL="0">
              <a:buNone/>
            </a:pPr>
            <a:r>
              <a:rPr lang="en-US" sz="1800" b="1" dirty="0">
                <a:solidFill>
                  <a:srgbClr val="B8500A"/>
                </a:solidFill>
                <a:latin typeface="Calibri" pitchFamily="34" charset="0"/>
                <a:ea typeface="Calibri" pitchFamily="34" charset="-122"/>
                <a:cs typeface="Calibri" pitchFamily="34" charset="-120"/>
              </a:rPr>
              <a:t>+165%</a:t>
            </a:r>
            <a:endParaRPr lang="en-US" sz="1800" dirty="0"/>
          </a:p>
        </p:txBody>
      </p:sp>
      <p:sp>
        <p:nvSpPr>
          <p:cNvPr id="12" name="Text 9"/>
          <p:cNvSpPr/>
          <p:nvPr/>
        </p:nvSpPr>
        <p:spPr>
          <a:xfrm>
            <a:off x="7772400" y="3383280"/>
            <a:ext cx="1737360" cy="50292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Bars</a:t>
            </a:r>
            <a:endParaRPr lang="en-US" sz="1200" dirty="0"/>
          </a:p>
        </p:txBody>
      </p:sp>
      <p:sp>
        <p:nvSpPr>
          <p:cNvPr id="13" name="Text 10"/>
          <p:cNvSpPr/>
          <p:nvPr/>
        </p:nvSpPr>
        <p:spPr>
          <a:xfrm>
            <a:off x="9509760" y="3383280"/>
            <a:ext cx="2103120" cy="502920"/>
          </a:xfrm>
          <a:prstGeom prst="rect">
            <a:avLst/>
          </a:prstGeom>
          <a:noFill/>
          <a:ln/>
        </p:spPr>
        <p:txBody>
          <a:bodyPr wrap="square" rtlCol="0" anchor="ctr"/>
          <a:lstStyle/>
          <a:p>
            <a:pPr indent="0" marL="0">
              <a:buNone/>
            </a:pPr>
            <a:r>
              <a:rPr lang="en-US" sz="1800" b="1" dirty="0">
                <a:solidFill>
                  <a:srgbClr val="2C7A57"/>
                </a:solidFill>
                <a:latin typeface="Calibri" pitchFamily="34" charset="0"/>
                <a:ea typeface="Calibri" pitchFamily="34" charset="-122"/>
                <a:cs typeface="Calibri" pitchFamily="34" charset="-120"/>
              </a:rPr>
              <a:t>+20%</a:t>
            </a:r>
            <a:endParaRPr lang="en-US" sz="1800" dirty="0"/>
          </a:p>
        </p:txBody>
      </p:sp>
      <p:sp>
        <p:nvSpPr>
          <p:cNvPr id="14" name="Text 11"/>
          <p:cNvSpPr/>
          <p:nvPr/>
        </p:nvSpPr>
        <p:spPr>
          <a:xfrm>
            <a:off x="7772400" y="3977640"/>
            <a:ext cx="1737360" cy="50292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Waiting Rooms</a:t>
            </a:r>
            <a:endParaRPr lang="en-US" sz="1200" dirty="0"/>
          </a:p>
        </p:txBody>
      </p:sp>
      <p:sp>
        <p:nvSpPr>
          <p:cNvPr id="15" name="Text 12"/>
          <p:cNvSpPr/>
          <p:nvPr/>
        </p:nvSpPr>
        <p:spPr>
          <a:xfrm>
            <a:off x="9509760" y="3977640"/>
            <a:ext cx="2103120" cy="502920"/>
          </a:xfrm>
          <a:prstGeom prst="rect">
            <a:avLst/>
          </a:prstGeom>
          <a:noFill/>
          <a:ln/>
        </p:spPr>
        <p:txBody>
          <a:bodyPr wrap="square" rtlCol="0" anchor="ctr"/>
          <a:lstStyle/>
          <a:p>
            <a:pPr indent="0" marL="0">
              <a:buNone/>
            </a:pPr>
            <a:r>
              <a:rPr lang="en-US" sz="1800" b="1" dirty="0">
                <a:solidFill>
                  <a:srgbClr val="B8500A"/>
                </a:solidFill>
                <a:latin typeface="Calibri" pitchFamily="34" charset="0"/>
                <a:ea typeface="Calibri" pitchFamily="34" charset="-122"/>
                <a:cs typeface="Calibri" pitchFamily="34" charset="-120"/>
              </a:rPr>
              <a:t>+100%</a:t>
            </a:r>
            <a:endParaRPr lang="en-US" sz="1800" dirty="0"/>
          </a:p>
        </p:txBody>
      </p:sp>
      <p:sp>
        <p:nvSpPr>
          <p:cNvPr id="16" name="Text 13"/>
          <p:cNvSpPr/>
          <p:nvPr/>
        </p:nvSpPr>
        <p:spPr>
          <a:xfrm>
            <a:off x="7772400" y="4709160"/>
            <a:ext cx="3840480" cy="1463040"/>
          </a:xfrm>
          <a:prstGeom prst="rect">
            <a:avLst/>
          </a:prstGeom>
          <a:noFill/>
          <a:ln/>
        </p:spPr>
        <p:txBody>
          <a:bodyPr wrap="square" rtlCol="0" anchor="ctr"/>
          <a:lstStyle/>
          <a:p>
            <a:pPr indent="0" marL="0">
              <a:lnSpc>
                <a:spcPts val="1500"/>
              </a:lnSpc>
              <a:buNone/>
            </a:pPr>
            <a:r>
              <a:rPr lang="en-US" sz="1100" i="1" dirty="0">
                <a:solidFill>
                  <a:srgbClr val="5B6178"/>
                </a:solidFill>
                <a:latin typeface="Calibri" pitchFamily="34" charset="0"/>
                <a:ea typeface="Calibri" pitchFamily="34" charset="-122"/>
                <a:cs typeface="Calibri" pitchFamily="34" charset="-120"/>
              </a:rPr>
              <a:t>For 3 of 4 venue types, the naive observational fit understated the RCT-calibrated estimate by 100–165% — the kind of gap real MMM practice cites as its core identification problem, and exactly why the RCT anchor matters.</a:t>
            </a:r>
            <a:endParaRPr lang="en-US" sz="1100" dirty="0"/>
          </a:p>
        </p:txBody>
      </p:sp>
      <p:sp>
        <p:nvSpPr>
          <p:cNvPr id="17" name="Text 1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Media-mix model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247120" cy="59436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Robustness check: does competing media break this MMM?</a:t>
            </a:r>
            <a:endParaRPr lang="en-US" sz="24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B8500A"/>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B8500A"/>
                </a:solidFill>
                <a:latin typeface="Calibri" pitchFamily="34" charset="0"/>
                <a:ea typeface="Calibri" pitchFamily="34" charset="-122"/>
                <a:cs typeface="Calibri" pitchFamily="34" charset="-120"/>
              </a:rPr>
              <a:t>Step 3 robustness check · Q2</a:t>
            </a:r>
            <a:endParaRPr lang="en-US" sz="950" dirty="0"/>
          </a:p>
        </p:txBody>
      </p:sp>
      <p:sp>
        <p:nvSpPr>
          <p:cNvPr id="5" name="Text 3"/>
          <p:cNvSpPr/>
          <p:nvPr/>
        </p:nvSpPr>
        <p:spPr>
          <a:xfrm>
            <a:off x="548640" y="1005840"/>
            <a:ext cx="10972800" cy="365760"/>
          </a:xfrm>
          <a:prstGeom prst="rect">
            <a:avLst/>
          </a:prstGeom>
          <a:noFill/>
          <a:ln/>
        </p:spPr>
        <p:txBody>
          <a:bodyPr wrap="square" rtlCol="0" anchor="ctr"/>
          <a:lstStyle/>
          <a:p>
            <a:pPr indent="0" marL="0">
              <a:buNone/>
            </a:pPr>
            <a:r>
              <a:rPr lang="en-US" sz="1200" i="1" dirty="0">
                <a:solidFill>
                  <a:srgbClr val="5B6178"/>
                </a:solidFill>
                <a:latin typeface="Calibri" pitchFamily="34" charset="0"/>
                <a:ea typeface="Calibri" pitchFamily="34" charset="-122"/>
                <a:cs typeface="Calibri" pitchFamily="34" charset="-120"/>
              </a:rPr>
              <a:t>A stress-test scenario: a competing advertiser ramps up on the same venues at the same time, correlated with Atmosphere's own exposure — the kind of overlap a real MMM has to prove it's robust to.</a:t>
            </a:r>
            <a:endParaRPr lang="en-US" sz="1200" dirty="0"/>
          </a:p>
        </p:txBody>
      </p:sp>
      <p:graphicFrame>
        <p:nvGraphicFramePr>
          <p:cNvPr id="6" name="Chart 0" descr=""/>
          <p:cNvGraphicFramePr/>
          <p:nvPr/>
        </p:nvGraphicFramePr>
        <p:xfrm>
          <a:off x="548640" y="160020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772400" y="1600200"/>
            <a:ext cx="3867912" cy="1234440"/>
          </a:xfrm>
          <a:prstGeom prst="roundRect">
            <a:avLst>
              <a:gd name="adj" fmla="val 5926"/>
            </a:avLst>
          </a:prstGeom>
          <a:solidFill>
            <a:srgbClr val="F5F7FC"/>
          </a:solidFill>
          <a:ln/>
        </p:spPr>
      </p:sp>
      <p:sp>
        <p:nvSpPr>
          <p:cNvPr id="8" name="Text 5"/>
          <p:cNvSpPr/>
          <p:nvPr/>
        </p:nvSpPr>
        <p:spPr>
          <a:xfrm>
            <a:off x="7955280" y="1719072"/>
            <a:ext cx="3520440" cy="365760"/>
          </a:xfrm>
          <a:prstGeom prst="rect">
            <a:avLst/>
          </a:prstGeom>
          <a:noFill/>
          <a:ln/>
        </p:spPr>
        <p:txBody>
          <a:bodyPr wrap="square"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RCT estimate shift under the identical shock</a:t>
            </a:r>
            <a:endParaRPr lang="en-US" sz="1100" dirty="0"/>
          </a:p>
        </p:txBody>
      </p:sp>
      <p:sp>
        <p:nvSpPr>
          <p:cNvPr id="9" name="Text 6"/>
          <p:cNvSpPr/>
          <p:nvPr/>
        </p:nvSpPr>
        <p:spPr>
          <a:xfrm>
            <a:off x="7955280" y="2057400"/>
            <a:ext cx="3520440" cy="594360"/>
          </a:xfrm>
          <a:prstGeom prst="rect">
            <a:avLst/>
          </a:prstGeom>
          <a:noFill/>
          <a:ln/>
        </p:spPr>
        <p:txBody>
          <a:bodyPr wrap="square" rtlCol="0" anchor="ctr"/>
          <a:lstStyle/>
          <a:p>
            <a:pPr indent="0" marL="0">
              <a:buNone/>
            </a:pPr>
            <a:r>
              <a:rPr lang="en-US" sz="3200" b="1" dirty="0">
                <a:solidFill>
                  <a:srgbClr val="2C7A57"/>
                </a:solidFill>
                <a:latin typeface="Calibri" pitchFamily="34" charset="0"/>
                <a:ea typeface="Calibri" pitchFamily="34" charset="-122"/>
                <a:cs typeface="Calibri" pitchFamily="34" charset="-120"/>
              </a:rPr>
              <a:t>0.00</a:t>
            </a:r>
            <a:endParaRPr lang="en-US" sz="3200" dirty="0"/>
          </a:p>
        </p:txBody>
      </p:sp>
      <p:sp>
        <p:nvSpPr>
          <p:cNvPr id="10" name="Text 7"/>
          <p:cNvSpPr/>
          <p:nvPr/>
        </p:nvSpPr>
        <p:spPr>
          <a:xfrm>
            <a:off x="7955280" y="2633472"/>
            <a:ext cx="3520440" cy="182880"/>
          </a:xfrm>
          <a:prstGeom prst="rect">
            <a:avLst/>
          </a:prstGeom>
          <a:noFill/>
          <a:ln/>
        </p:spPr>
        <p:txBody>
          <a:bodyPr wrap="square" rtlCol="0" anchor="ctr"/>
          <a:lstStyle/>
          <a:p>
            <a:pPr indent="0" marL="0">
              <a:lnSpc>
                <a:spcPts val="1000"/>
              </a:lnSpc>
              <a:buNone/>
            </a:pPr>
            <a:r>
              <a:rPr lang="en-US" sz="870" i="1" dirty="0">
                <a:solidFill>
                  <a:srgbClr val="5B6178"/>
                </a:solidFill>
                <a:latin typeface="Calibri" pitchFamily="34" charset="0"/>
                <a:ea typeface="Calibri" pitchFamily="34" charset="-122"/>
                <a:cs typeface="Calibri" pitchFamily="34" charset="-120"/>
              </a:rPr>
              <a:t>every venue type — the shock hits both arms equally, so a randomized comparison is mechanically immune to it</a:t>
            </a:r>
            <a:endParaRPr lang="en-US" sz="870" dirty="0"/>
          </a:p>
        </p:txBody>
      </p:sp>
      <p:sp>
        <p:nvSpPr>
          <p:cNvPr id="11" name="Text 8"/>
          <p:cNvSpPr/>
          <p:nvPr/>
        </p:nvSpPr>
        <p:spPr>
          <a:xfrm>
            <a:off x="7772400" y="3063240"/>
            <a:ext cx="3867912" cy="1417320"/>
          </a:xfrm>
          <a:prstGeom prst="rect">
            <a:avLst/>
          </a:prstGeom>
          <a:noFill/>
          <a:ln/>
        </p:spPr>
        <p:txBody>
          <a:bodyPr wrap="square" rtlCol="0" anchor="ctr"/>
          <a:lstStyle/>
          <a:p>
            <a:pPr indent="0" marL="0">
              <a:lnSpc>
                <a:spcPts val="1350"/>
              </a:lnSpc>
              <a:buNone/>
            </a:pPr>
            <a:r>
              <a:rPr lang="en-US" sz="1000" dirty="0">
                <a:solidFill>
                  <a:srgbClr val="1A1A2E"/>
                </a:solidFill>
                <a:latin typeface="Calibri" pitchFamily="34" charset="0"/>
                <a:ea typeface="Calibri" pitchFamily="34" charset="-122"/>
                <a:cs typeface="Calibri" pitchFamily="34" charset="-120"/>
              </a:rPr>
              <a:t>Naive MMM, by contrast, swings from useful to actively misleading: for 3 of 4 venue types the confound-blind fit was off by 2–4× — even at a moderate 0.35 correlation between competing media and Atmosphere's own exposure ramp, nowhere near a worst case. Controlling for the confound (green) recovers this model's own baseline from the previous slide — the RCT-scale calibration from that same slide is what closes the rest of the gap.</a:t>
            </a:r>
            <a:endParaRPr lang="en-US" sz="1000" dirty="0"/>
          </a:p>
        </p:txBody>
      </p:sp>
      <p:sp>
        <p:nvSpPr>
          <p:cNvPr id="12" name="Shape 9"/>
          <p:cNvSpPr/>
          <p:nvPr/>
        </p:nvSpPr>
        <p:spPr>
          <a:xfrm>
            <a:off x="548640" y="5687568"/>
            <a:ext cx="11091672" cy="713232"/>
          </a:xfrm>
          <a:prstGeom prst="roundRect">
            <a:avLst>
              <a:gd name="adj" fmla="val 7692"/>
            </a:avLst>
          </a:prstGeom>
          <a:solidFill>
            <a:srgbClr val="FDF1E3"/>
          </a:solidFill>
          <a:ln/>
        </p:spPr>
      </p:sp>
      <p:sp>
        <p:nvSpPr>
          <p:cNvPr id="13" name="Text 10"/>
          <p:cNvSpPr/>
          <p:nvPr/>
        </p:nvSpPr>
        <p:spPr>
          <a:xfrm>
            <a:off x="731520" y="5779008"/>
            <a:ext cx="10744200" cy="548640"/>
          </a:xfrm>
          <a:prstGeom prst="rect">
            <a:avLst/>
          </a:prstGeom>
          <a:noFill/>
          <a:ln/>
        </p:spPr>
        <p:txBody>
          <a:bodyPr wrap="square" rtlCol="0" anchor="ctr"/>
          <a:lstStyle/>
          <a:p>
            <a:pPr indent="0" marL="0">
              <a:lnSpc>
                <a:spcPts val="1200"/>
              </a:lnSpc>
              <a:buNone/>
            </a:pPr>
            <a:r>
              <a:rPr lang="en-US" sz="950" i="1" dirty="0">
                <a:solidFill>
                  <a:srgbClr val="8A4B0A"/>
                </a:solidFill>
                <a:latin typeface="Calibri" pitchFamily="34" charset="0"/>
                <a:ea typeface="Calibri" pitchFamily="34" charset="-122"/>
                <a:cs typeface="Calibri" pitchFamily="34" charset="-120"/>
              </a:rPr>
              <a:t>Why this is scoped this way: deciding how an advertiser splits budget across Atmosphere + TV + social is the advertiser's/agency's call — Atmosphere has no visibility into competitors' channel data anyway. What Atmosphere's DS role should own is netting competing media OUT of its own causal read (the JD's own phrasing), which the RCT does by design and a single-channel MMM only does with an explicit control.</a:t>
            </a:r>
            <a:endParaRPr lang="en-US" sz="950" dirty="0"/>
          </a:p>
        </p:txBody>
      </p:sp>
      <p:sp>
        <p:nvSpPr>
          <p:cNvPr id="14" name="Text 11"/>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Media-mix model — robustness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9436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Budget allocator: exact DP, not a greedy walk</a:t>
            </a:r>
            <a:endParaRPr lang="en-US" sz="27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B8500A"/>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B8500A"/>
                </a:solidFill>
                <a:latin typeface="Calibri" pitchFamily="34" charset="0"/>
                <a:ea typeface="Calibri" pitchFamily="34" charset="-122"/>
                <a:cs typeface="Calibri" pitchFamily="34" charset="-120"/>
              </a:rPr>
              <a:t>Step 4 of 6 · Answers Q2</a:t>
            </a:r>
            <a:endParaRPr lang="en-US" sz="950" dirty="0"/>
          </a:p>
        </p:txBody>
      </p:sp>
      <p:sp>
        <p:nvSpPr>
          <p:cNvPr id="5" name="Shape 3"/>
          <p:cNvSpPr/>
          <p:nvPr/>
        </p:nvSpPr>
        <p:spPr>
          <a:xfrm>
            <a:off x="548640" y="1143000"/>
            <a:ext cx="11064240" cy="914400"/>
          </a:xfrm>
          <a:prstGeom prst="roundRect">
            <a:avLst>
              <a:gd name="adj" fmla="val 8000"/>
            </a:avLst>
          </a:prstGeom>
          <a:solidFill>
            <a:srgbClr val="FDF1E3"/>
          </a:solidFill>
          <a:ln/>
        </p:spPr>
      </p:sp>
      <p:sp>
        <p:nvSpPr>
          <p:cNvPr id="6" name="Text 4"/>
          <p:cNvSpPr/>
          <p:nvPr/>
        </p:nvSpPr>
        <p:spPr>
          <a:xfrm>
            <a:off x="777240" y="1234440"/>
            <a:ext cx="10607040" cy="777240"/>
          </a:xfrm>
          <a:prstGeom prst="rect">
            <a:avLst/>
          </a:prstGeom>
          <a:noFill/>
          <a:ln/>
        </p:spPr>
        <p:txBody>
          <a:bodyPr wrap="square" rtlCol="0" anchor="ctr"/>
          <a:lstStyle/>
          <a:p>
            <a:pPr indent="0" marL="0">
              <a:lnSpc>
                <a:spcPts val="1500"/>
              </a:lnSpc>
              <a:buNone/>
            </a:pPr>
            <a:r>
              <a:rPr lang="en-US" sz="1200" i="1" dirty="0">
                <a:solidFill>
                  <a:srgbClr val="8A4B0A"/>
                </a:solidFill>
                <a:latin typeface="Calibri" pitchFamily="34" charset="0"/>
                <a:ea typeface="Calibri" pitchFamily="34" charset="-122"/>
                <a:cs typeface="Calibri" pitchFamily="34" charset="-120"/>
              </a:rPr>
              <a:t>A Hill/S-shaped response curve is CONVEX before its inflection point — a greedy “spend the next dollar on whichever venue type currently looks best” heuristic isn't guaranteed optimal there. An earlier greedy version of this allocator actually underperformed a naive equal-split baseline; the DP formulation below has no concavity requirement and is guaranteed to find the grid-optimal allocation.</a:t>
            </a:r>
            <a:endParaRPr lang="en-US" sz="1200" dirty="0"/>
          </a:p>
        </p:txBody>
      </p:sp>
      <p:graphicFrame>
        <p:nvGraphicFramePr>
          <p:cNvPr id="7" name="Chart 0" descr=""/>
          <p:cNvGraphicFramePr/>
          <p:nvPr/>
        </p:nvGraphicFramePr>
        <p:xfrm>
          <a:off x="548640" y="228600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498080" y="2331720"/>
            <a:ext cx="411480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$100,000 weekly budget example</a:t>
            </a:r>
            <a:endParaRPr lang="en-US" sz="1300" dirty="0"/>
          </a:p>
        </p:txBody>
      </p:sp>
      <p:sp>
        <p:nvSpPr>
          <p:cNvPr id="9" name="Text 6"/>
          <p:cNvSpPr/>
          <p:nvPr/>
        </p:nvSpPr>
        <p:spPr>
          <a:xfrm>
            <a:off x="7498080" y="2788920"/>
            <a:ext cx="182880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$20,000 budget</a:t>
            </a:r>
            <a:endParaRPr lang="en-US" sz="1200" dirty="0"/>
          </a:p>
        </p:txBody>
      </p:sp>
      <p:sp>
        <p:nvSpPr>
          <p:cNvPr id="10" name="Text 7"/>
          <p:cNvSpPr/>
          <p:nvPr/>
        </p:nvSpPr>
        <p:spPr>
          <a:xfrm>
            <a:off x="9326880" y="2743200"/>
            <a:ext cx="2286000" cy="548640"/>
          </a:xfrm>
          <a:prstGeom prst="rect">
            <a:avLst/>
          </a:prstGeom>
          <a:noFill/>
          <a:ln/>
        </p:spPr>
        <p:txBody>
          <a:bodyPr wrap="square" rtlCol="0" anchor="ctr"/>
          <a:lstStyle/>
          <a:p>
            <a:pPr indent="0" marL="0">
              <a:buNone/>
            </a:pPr>
            <a:r>
              <a:rPr lang="en-US" sz="2000" b="1" dirty="0">
                <a:solidFill>
                  <a:srgbClr val="E8871E"/>
                </a:solidFill>
                <a:latin typeface="Calibri" pitchFamily="34" charset="0"/>
                <a:ea typeface="Calibri" pitchFamily="34" charset="-122"/>
                <a:cs typeface="Calibri" pitchFamily="34" charset="-120"/>
              </a:rPr>
              <a:t>+48.6%</a:t>
            </a:r>
            <a:endParaRPr lang="en-US" sz="2000" dirty="0"/>
          </a:p>
        </p:txBody>
      </p:sp>
      <p:sp>
        <p:nvSpPr>
          <p:cNvPr id="11" name="Text 8"/>
          <p:cNvSpPr/>
          <p:nvPr/>
        </p:nvSpPr>
        <p:spPr>
          <a:xfrm>
            <a:off x="7498080" y="3172968"/>
            <a:ext cx="4114800" cy="274320"/>
          </a:xfrm>
          <a:prstGeom prst="rect">
            <a:avLst/>
          </a:prstGeom>
          <a:noFill/>
          <a:ln/>
        </p:spPr>
        <p:txBody>
          <a:bodyPr wrap="square" rtlCol="0" anchor="ctr"/>
          <a:lstStyle/>
          <a:p>
            <a:pPr indent="0" marL="0">
              <a:buNone/>
            </a:pPr>
            <a:r>
              <a:rPr lang="en-US" sz="950" i="1" dirty="0">
                <a:solidFill>
                  <a:srgbClr val="5B6178"/>
                </a:solidFill>
                <a:latin typeface="Calibri" pitchFamily="34" charset="0"/>
                <a:ea typeface="Calibri" pitchFamily="34" charset="-122"/>
                <a:cs typeface="Calibri" pitchFamily="34" charset="-120"/>
              </a:rPr>
              <a:t>vs. naive equal-split</a:t>
            </a:r>
            <a:endParaRPr lang="en-US" sz="950" dirty="0"/>
          </a:p>
        </p:txBody>
      </p:sp>
      <p:sp>
        <p:nvSpPr>
          <p:cNvPr id="12" name="Text 9"/>
          <p:cNvSpPr/>
          <p:nvPr/>
        </p:nvSpPr>
        <p:spPr>
          <a:xfrm>
            <a:off x="7498080" y="3840480"/>
            <a:ext cx="182880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$50,000 budget</a:t>
            </a:r>
            <a:endParaRPr lang="en-US" sz="1200" dirty="0"/>
          </a:p>
        </p:txBody>
      </p:sp>
      <p:sp>
        <p:nvSpPr>
          <p:cNvPr id="13" name="Text 10"/>
          <p:cNvSpPr/>
          <p:nvPr/>
        </p:nvSpPr>
        <p:spPr>
          <a:xfrm>
            <a:off x="9326880" y="3794760"/>
            <a:ext cx="2286000" cy="548640"/>
          </a:xfrm>
          <a:prstGeom prst="rect">
            <a:avLst/>
          </a:prstGeom>
          <a:noFill/>
          <a:ln/>
        </p:spPr>
        <p:txBody>
          <a:bodyPr wrap="square" rtlCol="0" anchor="ctr"/>
          <a:lstStyle/>
          <a:p>
            <a:pPr indent="0" marL="0">
              <a:buNone/>
            </a:pPr>
            <a:r>
              <a:rPr lang="en-US" sz="2000" b="1" dirty="0">
                <a:solidFill>
                  <a:srgbClr val="E8871E"/>
                </a:solidFill>
                <a:latin typeface="Calibri" pitchFamily="34" charset="0"/>
                <a:ea typeface="Calibri" pitchFamily="34" charset="-122"/>
                <a:cs typeface="Calibri" pitchFamily="34" charset="-120"/>
              </a:rPr>
              <a:t>+11.1%</a:t>
            </a:r>
            <a:endParaRPr lang="en-US" sz="2000" dirty="0"/>
          </a:p>
        </p:txBody>
      </p:sp>
      <p:sp>
        <p:nvSpPr>
          <p:cNvPr id="14" name="Text 11"/>
          <p:cNvSpPr/>
          <p:nvPr/>
        </p:nvSpPr>
        <p:spPr>
          <a:xfrm>
            <a:off x="7498080" y="4224528"/>
            <a:ext cx="4114800" cy="274320"/>
          </a:xfrm>
          <a:prstGeom prst="rect">
            <a:avLst/>
          </a:prstGeom>
          <a:noFill/>
          <a:ln/>
        </p:spPr>
        <p:txBody>
          <a:bodyPr wrap="square" rtlCol="0" anchor="ctr"/>
          <a:lstStyle/>
          <a:p>
            <a:pPr indent="0" marL="0">
              <a:buNone/>
            </a:pPr>
            <a:r>
              <a:rPr lang="en-US" sz="950" i="1" dirty="0">
                <a:solidFill>
                  <a:srgbClr val="5B6178"/>
                </a:solidFill>
                <a:latin typeface="Calibri" pitchFamily="34" charset="0"/>
                <a:ea typeface="Calibri" pitchFamily="34" charset="-122"/>
                <a:cs typeface="Calibri" pitchFamily="34" charset="-120"/>
              </a:rPr>
              <a:t>vs. naive equal-split</a:t>
            </a:r>
            <a:endParaRPr lang="en-US" sz="950" dirty="0"/>
          </a:p>
        </p:txBody>
      </p:sp>
      <p:sp>
        <p:nvSpPr>
          <p:cNvPr id="15" name="Text 12"/>
          <p:cNvSpPr/>
          <p:nvPr/>
        </p:nvSpPr>
        <p:spPr>
          <a:xfrm>
            <a:off x="7498080" y="4892040"/>
            <a:ext cx="182880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$100,000 budget</a:t>
            </a:r>
            <a:endParaRPr lang="en-US" sz="1200" dirty="0"/>
          </a:p>
        </p:txBody>
      </p:sp>
      <p:sp>
        <p:nvSpPr>
          <p:cNvPr id="16" name="Text 13"/>
          <p:cNvSpPr/>
          <p:nvPr/>
        </p:nvSpPr>
        <p:spPr>
          <a:xfrm>
            <a:off x="9326880" y="4846320"/>
            <a:ext cx="2286000" cy="548640"/>
          </a:xfrm>
          <a:prstGeom prst="rect">
            <a:avLst/>
          </a:prstGeom>
          <a:noFill/>
          <a:ln/>
        </p:spPr>
        <p:txBody>
          <a:bodyPr wrap="square" rtlCol="0" anchor="ctr"/>
          <a:lstStyle/>
          <a:p>
            <a:pPr indent="0" marL="0">
              <a:buNone/>
            </a:pPr>
            <a:r>
              <a:rPr lang="en-US" sz="2000" b="1" dirty="0">
                <a:solidFill>
                  <a:srgbClr val="E8871E"/>
                </a:solidFill>
                <a:latin typeface="Calibri" pitchFamily="34" charset="0"/>
                <a:ea typeface="Calibri" pitchFamily="34" charset="-122"/>
                <a:cs typeface="Calibri" pitchFamily="34" charset="-120"/>
              </a:rPr>
              <a:t>+2.4%</a:t>
            </a:r>
            <a:endParaRPr lang="en-US" sz="2000" dirty="0"/>
          </a:p>
        </p:txBody>
      </p:sp>
      <p:sp>
        <p:nvSpPr>
          <p:cNvPr id="17" name="Text 14"/>
          <p:cNvSpPr/>
          <p:nvPr/>
        </p:nvSpPr>
        <p:spPr>
          <a:xfrm>
            <a:off x="7498080" y="5276088"/>
            <a:ext cx="4114800" cy="274320"/>
          </a:xfrm>
          <a:prstGeom prst="rect">
            <a:avLst/>
          </a:prstGeom>
          <a:noFill/>
          <a:ln/>
        </p:spPr>
        <p:txBody>
          <a:bodyPr wrap="square" rtlCol="0" anchor="ctr"/>
          <a:lstStyle/>
          <a:p>
            <a:pPr indent="0" marL="0">
              <a:buNone/>
            </a:pPr>
            <a:r>
              <a:rPr lang="en-US" sz="950" i="1" dirty="0">
                <a:solidFill>
                  <a:srgbClr val="5B6178"/>
                </a:solidFill>
                <a:latin typeface="Calibri" pitchFamily="34" charset="0"/>
                <a:ea typeface="Calibri" pitchFamily="34" charset="-122"/>
                <a:cs typeface="Calibri" pitchFamily="34" charset="-120"/>
              </a:rPr>
              <a:t>vs. naive equal-split</a:t>
            </a:r>
            <a:endParaRPr lang="en-US" sz="950" dirty="0"/>
          </a:p>
        </p:txBody>
      </p:sp>
      <p:sp>
        <p:nvSpPr>
          <p:cNvPr id="18" name="Text 15"/>
          <p:cNvSpPr/>
          <p:nvPr/>
        </p:nvSpPr>
        <p:spPr>
          <a:xfrm>
            <a:off x="7498080" y="5989320"/>
            <a:ext cx="4206240" cy="548640"/>
          </a:xfrm>
          <a:prstGeom prst="rect">
            <a:avLst/>
          </a:prstGeom>
          <a:noFill/>
          <a:ln/>
        </p:spPr>
        <p:txBody>
          <a:bodyPr wrap="square" rtlCol="0" anchor="ctr"/>
          <a:lstStyle/>
          <a:p>
            <a:pPr indent="0" marL="0">
              <a:lnSpc>
                <a:spcPts val="1400"/>
              </a:lnSpc>
              <a:buNone/>
            </a:pPr>
            <a:r>
              <a:rPr lang="en-US" sz="1050" i="1" dirty="0">
                <a:solidFill>
                  <a:srgbClr val="5B6178"/>
                </a:solidFill>
                <a:latin typeface="Calibri" pitchFamily="34" charset="0"/>
                <a:ea typeface="Calibri" pitchFamily="34" charset="-122"/>
                <a:cs typeface="Calibri" pitchFamily="34" charset="-120"/>
              </a:rPr>
              <a:t>The optimizer's edge is largest when budget is scarce — exactly when allocation decisions matter most.</a:t>
            </a:r>
            <a:endParaRPr lang="en-US" sz="1050" dirty="0"/>
          </a:p>
        </p:txBody>
      </p:sp>
      <p:sp>
        <p:nvSpPr>
          <p:cNvPr id="19" name="Text 16"/>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Productization — budget allocator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4D"/>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other side of the business</a:t>
            </a:r>
            <a:endParaRPr lang="en-US" sz="28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5B6178"/>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5B6178"/>
                </a:solidFill>
                <a:latin typeface="Calibri" pitchFamily="34" charset="0"/>
                <a:ea typeface="Calibri" pitchFamily="34" charset="-122"/>
                <a:cs typeface="Calibri" pitchFamily="34" charset="-120"/>
              </a:rPr>
              <a:t>Transition · Q1–Q2 → Q3–Q4</a:t>
            </a:r>
            <a:endParaRPr lang="en-US" sz="950" dirty="0"/>
          </a:p>
        </p:txBody>
      </p:sp>
      <p:sp>
        <p:nvSpPr>
          <p:cNvPr id="5" name="Text 3"/>
          <p:cNvSpPr/>
          <p:nvPr/>
        </p:nvSpPr>
        <p:spPr>
          <a:xfrm>
            <a:off x="548640" y="1097280"/>
            <a:ext cx="10972800" cy="411480"/>
          </a:xfrm>
          <a:prstGeom prst="rect">
            <a:avLst/>
          </a:prstGeom>
          <a:noFill/>
          <a:ln/>
        </p:spPr>
        <p:txBody>
          <a:bodyPr wrap="square"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One system answers the advertising side. The same system answers the venue-network side too.</a:t>
            </a:r>
            <a:endParaRPr lang="en-US" sz="1350" dirty="0"/>
          </a:p>
        </p:txBody>
      </p:sp>
      <p:sp>
        <p:nvSpPr>
          <p:cNvPr id="6" name="Shape 4"/>
          <p:cNvSpPr/>
          <p:nvPr/>
        </p:nvSpPr>
        <p:spPr>
          <a:xfrm>
            <a:off x="548640" y="1691640"/>
            <a:ext cx="5212080" cy="4343400"/>
          </a:xfrm>
          <a:prstGeom prst="roundRect">
            <a:avLst>
              <a:gd name="adj" fmla="val 2105"/>
            </a:avLst>
          </a:prstGeom>
          <a:solidFill>
            <a:srgbClr val="2A3480"/>
          </a:solidFill>
          <a:ln/>
        </p:spPr>
      </p:sp>
      <p:sp>
        <p:nvSpPr>
          <p:cNvPr id="7" name="Text 5"/>
          <p:cNvSpPr/>
          <p:nvPr/>
        </p:nvSpPr>
        <p:spPr>
          <a:xfrm>
            <a:off x="914400" y="1965960"/>
            <a:ext cx="448056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Advertising incrementality</a:t>
            </a:r>
            <a:endParaRPr lang="en-US" sz="1600" dirty="0"/>
          </a:p>
        </p:txBody>
      </p:sp>
      <p:sp>
        <p:nvSpPr>
          <p:cNvPr id="8" name="Text 6"/>
          <p:cNvSpPr/>
          <p:nvPr/>
        </p:nvSpPr>
        <p:spPr>
          <a:xfrm>
            <a:off x="914400" y="2697480"/>
            <a:ext cx="4480560" cy="594360"/>
          </a:xfrm>
          <a:prstGeom prst="rect">
            <a:avLst/>
          </a:prstGeom>
          <a:noFill/>
          <a:ln/>
        </p:spPr>
        <p:txBody>
          <a:bodyPr wrap="square" rtlCol="0" anchor="ctr"/>
          <a:lstStyle/>
          <a:p>
            <a:pPr indent="0" marL="0">
              <a:lnSpc>
                <a:spcPts val="1350"/>
              </a:lnSpc>
              <a:buNone/>
            </a:pPr>
            <a:r>
              <a:rPr lang="en-US" sz="1200" dirty="0">
                <a:solidFill>
                  <a:srgbClr val="FFFFFF"/>
                </a:solidFill>
                <a:latin typeface="Calibri" pitchFamily="34" charset="0"/>
                <a:ea typeface="Calibri" pitchFamily="34" charset="-122"/>
                <a:cs typeface="Calibri" pitchFamily="34" charset="-120"/>
              </a:rPr>
              <a:t>• Prove and price advertising incrementality</a:t>
            </a:r>
            <a:endParaRPr lang="en-US" sz="1200" dirty="0"/>
          </a:p>
        </p:txBody>
      </p:sp>
      <p:sp>
        <p:nvSpPr>
          <p:cNvPr id="9" name="Text 7"/>
          <p:cNvSpPr/>
          <p:nvPr/>
        </p:nvSpPr>
        <p:spPr>
          <a:xfrm>
            <a:off x="914400" y="3355848"/>
            <a:ext cx="4480560" cy="594360"/>
          </a:xfrm>
          <a:prstGeom prst="rect">
            <a:avLst/>
          </a:prstGeom>
          <a:noFill/>
          <a:ln/>
        </p:spPr>
        <p:txBody>
          <a:bodyPr wrap="square" rtlCol="0" anchor="ctr"/>
          <a:lstStyle/>
          <a:p>
            <a:pPr indent="0" marL="0">
              <a:lnSpc>
                <a:spcPts val="1350"/>
              </a:lnSpc>
              <a:buNone/>
            </a:pPr>
            <a:r>
              <a:rPr lang="en-US" sz="1200" dirty="0">
                <a:solidFill>
                  <a:srgbClr val="FFFFFF"/>
                </a:solidFill>
                <a:latin typeface="Calibri" pitchFamily="34" charset="0"/>
                <a:ea typeface="Calibri" pitchFamily="34" charset="-122"/>
                <a:cs typeface="Calibri" pitchFamily="34" charset="-120"/>
              </a:rPr>
              <a:t>• Feeds go-to-market: sell-side differentiator, client trust</a:t>
            </a:r>
            <a:endParaRPr lang="en-US" sz="1200" dirty="0"/>
          </a:p>
        </p:txBody>
      </p:sp>
      <p:sp>
        <p:nvSpPr>
          <p:cNvPr id="10" name="Text 8"/>
          <p:cNvSpPr/>
          <p:nvPr/>
        </p:nvSpPr>
        <p:spPr>
          <a:xfrm>
            <a:off x="914400" y="4014216"/>
            <a:ext cx="4480560" cy="594360"/>
          </a:xfrm>
          <a:prstGeom prst="rect">
            <a:avLst/>
          </a:prstGeom>
          <a:noFill/>
          <a:ln/>
        </p:spPr>
        <p:txBody>
          <a:bodyPr wrap="square" rtlCol="0" anchor="ctr"/>
          <a:lstStyle/>
          <a:p>
            <a:pPr indent="0" marL="0">
              <a:lnSpc>
                <a:spcPts val="1350"/>
              </a:lnSpc>
              <a:buNone/>
            </a:pPr>
            <a:r>
              <a:rPr lang="en-US" sz="1200" dirty="0">
                <a:solidFill>
                  <a:srgbClr val="FFFFFF"/>
                </a:solidFill>
                <a:latin typeface="Calibri" pitchFamily="34" charset="0"/>
                <a:ea typeface="Calibri" pitchFamily="34" charset="-122"/>
                <a:cs typeface="Calibri" pitchFamily="34" charset="-120"/>
              </a:rPr>
              <a:t>• RCT + synthetic control + calibrated MMM + budget DP</a:t>
            </a:r>
            <a:endParaRPr lang="en-US" sz="1200" dirty="0"/>
          </a:p>
        </p:txBody>
      </p:sp>
      <p:sp>
        <p:nvSpPr>
          <p:cNvPr id="11" name="Text 9"/>
          <p:cNvSpPr/>
          <p:nvPr/>
        </p:nvSpPr>
        <p:spPr>
          <a:xfrm>
            <a:off x="914400" y="5440680"/>
            <a:ext cx="4480560" cy="502920"/>
          </a:xfrm>
          <a:prstGeom prst="rect">
            <a:avLst/>
          </a:prstGeom>
          <a:noFill/>
          <a:ln/>
        </p:spPr>
        <p:txBody>
          <a:bodyPr wrap="square" rtlCol="0" anchor="ctr"/>
          <a:lstStyle/>
          <a:p>
            <a:pPr indent="0" marL="0">
              <a:lnSpc>
                <a:spcPts val="1300"/>
              </a:lnSpc>
              <a:buNone/>
            </a:pPr>
            <a:r>
              <a:rPr lang="en-US" sz="1000" i="1" dirty="0">
                <a:solidFill>
                  <a:srgbClr val="CADCFC"/>
                </a:solidFill>
                <a:latin typeface="Calibri" pitchFamily="34" charset="0"/>
                <a:ea typeface="Calibri" pitchFamily="34" charset="-122"/>
                <a:cs typeface="Calibri" pitchFamily="34" charset="-120"/>
              </a:rPr>
              <a:t>Feeds the venue-economics model as a validated causal-value input (calibrated per-exposure lift), not a separate silo.</a:t>
            </a:r>
            <a:endParaRPr lang="en-US" sz="1000" dirty="0"/>
          </a:p>
        </p:txBody>
      </p:sp>
      <p:sp>
        <p:nvSpPr>
          <p:cNvPr id="12" name="Shape 10"/>
          <p:cNvSpPr/>
          <p:nvPr/>
        </p:nvSpPr>
        <p:spPr>
          <a:xfrm>
            <a:off x="6217920" y="1691640"/>
            <a:ext cx="5212080" cy="4343400"/>
          </a:xfrm>
          <a:prstGeom prst="roundRect">
            <a:avLst>
              <a:gd name="adj" fmla="val 2105"/>
            </a:avLst>
          </a:prstGeom>
          <a:solidFill>
            <a:srgbClr val="E8871E"/>
          </a:solidFill>
          <a:ln/>
        </p:spPr>
      </p:sp>
      <p:sp>
        <p:nvSpPr>
          <p:cNvPr id="13" name="Text 11"/>
          <p:cNvSpPr/>
          <p:nvPr/>
        </p:nvSpPr>
        <p:spPr>
          <a:xfrm>
            <a:off x="6583680" y="1965960"/>
            <a:ext cx="448056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Venue network economics</a:t>
            </a:r>
            <a:endParaRPr lang="en-US" sz="1600" dirty="0"/>
          </a:p>
        </p:txBody>
      </p:sp>
      <p:sp>
        <p:nvSpPr>
          <p:cNvPr id="14" name="Text 12"/>
          <p:cNvSpPr/>
          <p:nvPr/>
        </p:nvSpPr>
        <p:spPr>
          <a:xfrm>
            <a:off x="6583680" y="2697480"/>
            <a:ext cx="4480560" cy="530352"/>
          </a:xfrm>
          <a:prstGeom prst="rect">
            <a:avLst/>
          </a:prstGeom>
          <a:noFill/>
          <a:ln/>
        </p:spPr>
        <p:txBody>
          <a:bodyPr wrap="square" rtlCol="0" anchor="ctr"/>
          <a:lstStyle/>
          <a:p>
            <a:pPr indent="0" marL="0">
              <a:lnSpc>
                <a:spcPts val="1350"/>
              </a:lnSpc>
              <a:buNone/>
            </a:pPr>
            <a:r>
              <a:rPr lang="en-US" sz="1080" dirty="0">
                <a:solidFill>
                  <a:srgbClr val="FFFFFF"/>
                </a:solidFill>
                <a:latin typeface="Calibri" pitchFamily="34" charset="0"/>
                <a:ea typeface="Calibri" pitchFamily="34" charset="-122"/>
                <a:cs typeface="Calibri" pitchFamily="34" charset="-120"/>
              </a:rPr>
              <a:t>• Predict realized ad-revenue (Q3) and 90-day churn risk (Q4) from characteristics and ops signals</a:t>
            </a:r>
            <a:endParaRPr lang="en-US" sz="1080" dirty="0"/>
          </a:p>
        </p:txBody>
      </p:sp>
      <p:sp>
        <p:nvSpPr>
          <p:cNvPr id="15" name="Text 13"/>
          <p:cNvSpPr/>
          <p:nvPr/>
        </p:nvSpPr>
        <p:spPr>
          <a:xfrm>
            <a:off x="6583680" y="3300984"/>
            <a:ext cx="4480560" cy="530352"/>
          </a:xfrm>
          <a:prstGeom prst="rect">
            <a:avLst/>
          </a:prstGeom>
          <a:noFill/>
          <a:ln/>
        </p:spPr>
        <p:txBody>
          <a:bodyPr wrap="square" rtlCol="0" anchor="ctr"/>
          <a:lstStyle/>
          <a:p>
            <a:pPr indent="0" marL="0">
              <a:lnSpc>
                <a:spcPts val="1350"/>
              </a:lnSpc>
              <a:buNone/>
            </a:pPr>
            <a:r>
              <a:rPr lang="en-US" sz="1080" dirty="0">
                <a:solidFill>
                  <a:srgbClr val="FFFFFF"/>
                </a:solidFill>
                <a:latin typeface="Calibri" pitchFamily="34" charset="0"/>
                <a:ea typeface="Calibri" pitchFamily="34" charset="-122"/>
                <a:cs typeface="Calibri" pitchFamily="34" charset="-120"/>
              </a:rPr>
              <a:t>• Flag under-monetized (Q3) and at-risk (Q4) existing venues for sales/ops follow-up</a:t>
            </a:r>
            <a:endParaRPr lang="en-US" sz="1080" dirty="0"/>
          </a:p>
        </p:txBody>
      </p:sp>
      <p:sp>
        <p:nvSpPr>
          <p:cNvPr id="16" name="Text 14"/>
          <p:cNvSpPr/>
          <p:nvPr/>
        </p:nvSpPr>
        <p:spPr>
          <a:xfrm>
            <a:off x="6583680" y="3904488"/>
            <a:ext cx="4480560" cy="530352"/>
          </a:xfrm>
          <a:prstGeom prst="rect">
            <a:avLst/>
          </a:prstGeom>
          <a:noFill/>
          <a:ln/>
        </p:spPr>
        <p:txBody>
          <a:bodyPr wrap="square" rtlCol="0" anchor="ctr"/>
          <a:lstStyle/>
          <a:p>
            <a:pPr indent="0" marL="0">
              <a:lnSpc>
                <a:spcPts val="1350"/>
              </a:lnSpc>
              <a:buNone/>
            </a:pPr>
            <a:r>
              <a:rPr lang="en-US" sz="1080" dirty="0">
                <a:solidFill>
                  <a:srgbClr val="FFFFFF"/>
                </a:solidFill>
                <a:latin typeface="Calibri" pitchFamily="34" charset="0"/>
                <a:ea typeface="Calibri" pitchFamily="34" charset="-122"/>
                <a:cs typeface="Calibri" pitchFamily="34" charset="-120"/>
              </a:rPr>
              <a:t>• Rank prospective venues for expansion priority (Q3)</a:t>
            </a:r>
            <a:endParaRPr lang="en-US" sz="1080" dirty="0"/>
          </a:p>
        </p:txBody>
      </p:sp>
      <p:sp>
        <p:nvSpPr>
          <p:cNvPr id="17" name="Text 15"/>
          <p:cNvSpPr/>
          <p:nvPr/>
        </p:nvSpPr>
        <p:spPr>
          <a:xfrm>
            <a:off x="6583680" y="4507992"/>
            <a:ext cx="4480560" cy="530352"/>
          </a:xfrm>
          <a:prstGeom prst="rect">
            <a:avLst/>
          </a:prstGeom>
          <a:noFill/>
          <a:ln/>
        </p:spPr>
        <p:txBody>
          <a:bodyPr wrap="square" rtlCol="0" anchor="ctr"/>
          <a:lstStyle/>
          <a:p>
            <a:pPr indent="0" marL="0">
              <a:lnSpc>
                <a:spcPts val="1350"/>
              </a:lnSpc>
              <a:buNone/>
            </a:pPr>
            <a:r>
              <a:rPr lang="en-US" sz="1080" dirty="0">
                <a:solidFill>
                  <a:srgbClr val="FFFFFF"/>
                </a:solidFill>
                <a:latin typeface="Calibri" pitchFamily="34" charset="0"/>
                <a:ea typeface="Calibri" pitchFamily="34" charset="-122"/>
                <a:cs typeface="Calibri" pitchFamily="34" charset="-120"/>
              </a:rPr>
              <a:t>• Combine Q3 revenue + Q4 risk into one value-×-risk priority quadrant</a:t>
            </a:r>
            <a:endParaRPr lang="en-US" sz="1080" dirty="0"/>
          </a:p>
        </p:txBody>
      </p:sp>
      <p:sp>
        <p:nvSpPr>
          <p:cNvPr id="18" name="Text 16"/>
          <p:cNvSpPr/>
          <p:nvPr/>
        </p:nvSpPr>
        <p:spPr>
          <a:xfrm>
            <a:off x="6583680" y="5111496"/>
            <a:ext cx="4480560" cy="530352"/>
          </a:xfrm>
          <a:prstGeom prst="rect">
            <a:avLst/>
          </a:prstGeom>
          <a:noFill/>
          <a:ln/>
        </p:spPr>
        <p:txBody>
          <a:bodyPr wrap="square" rtlCol="0" anchor="ctr"/>
          <a:lstStyle/>
          <a:p>
            <a:pPr indent="0" marL="0">
              <a:lnSpc>
                <a:spcPts val="1350"/>
              </a:lnSpc>
              <a:buNone/>
            </a:pPr>
            <a:r>
              <a:rPr lang="en-US" sz="1080" dirty="0">
                <a:solidFill>
                  <a:srgbClr val="FFFFFF"/>
                </a:solidFill>
                <a:latin typeface="Calibri" pitchFamily="34" charset="0"/>
                <a:ea typeface="Calibri" pitchFamily="34" charset="-122"/>
                <a:cs typeface="Calibri" pitchFamily="34" charset="-120"/>
              </a:rPr>
              <a:t>• GBT regressor + classifier, honest out-of-fold evaluation throughout</a:t>
            </a:r>
            <a:endParaRPr lang="en-US" sz="1080" dirty="0"/>
          </a:p>
        </p:txBody>
      </p:sp>
      <p:sp>
        <p:nvSpPr>
          <p:cNvPr id="19" name="Text 17"/>
          <p:cNvSpPr/>
          <p:nvPr/>
        </p:nvSpPr>
        <p:spPr>
          <a:xfrm>
            <a:off x="548640" y="6263640"/>
            <a:ext cx="10972800" cy="45720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“Smarter on both sides of the business” — the venue-side model shares its data foundation and causal-value input with the advertising side, rather than being a disconnected second project. Results on the next slide.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155680" cy="59436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Predicting venue ad-revenue, honestly</a:t>
            </a:r>
            <a:endParaRPr lang="en-US" sz="25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2C7A57"/>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2C7A57"/>
                </a:solidFill>
                <a:latin typeface="Calibri" pitchFamily="34" charset="0"/>
                <a:ea typeface="Calibri" pitchFamily="34" charset="-122"/>
                <a:cs typeface="Calibri" pitchFamily="34" charset="-120"/>
              </a:rPr>
              <a:t>Step 5 of 6 · Answers Q3</a:t>
            </a:r>
            <a:endParaRPr lang="en-US" sz="950" dirty="0"/>
          </a:p>
        </p:txBody>
      </p:sp>
      <p:sp>
        <p:nvSpPr>
          <p:cNvPr id="5" name="Text 3"/>
          <p:cNvSpPr/>
          <p:nvPr/>
        </p:nvSpPr>
        <p:spPr>
          <a:xfrm>
            <a:off x="548640" y="1005840"/>
            <a:ext cx="10972800" cy="365760"/>
          </a:xfrm>
          <a:prstGeom prst="rect">
            <a:avLst/>
          </a:prstGeom>
          <a:noFill/>
          <a:ln/>
        </p:spPr>
        <p:txBody>
          <a:bodyPr wrap="square" rtlCol="0" anchor="ctr"/>
          <a:lstStyle/>
          <a:p>
            <a:pPr indent="0" marL="0">
              <a:buNone/>
            </a:pPr>
            <a:r>
              <a:rPr lang="en-US" sz="1250" i="1" dirty="0">
                <a:solidFill>
                  <a:srgbClr val="5B6178"/>
                </a:solidFill>
                <a:latin typeface="Calibri" pitchFamily="34" charset="0"/>
                <a:ea typeface="Calibri" pitchFamily="34" charset="-122"/>
                <a:cs typeface="Calibri" pitchFamily="34" charset="-120"/>
              </a:rPr>
              <a:t>Gradient-boosted trees on observable venue characteristics + the calibrated per-exposure lift as a feature.</a:t>
            </a:r>
            <a:endParaRPr lang="en-US" sz="1250" dirty="0"/>
          </a:p>
        </p:txBody>
      </p:sp>
      <p:sp>
        <p:nvSpPr>
          <p:cNvPr id="6" name="Shape 4"/>
          <p:cNvSpPr/>
          <p:nvPr/>
        </p:nvSpPr>
        <p:spPr>
          <a:xfrm>
            <a:off x="548640" y="1508760"/>
            <a:ext cx="2651760" cy="1051560"/>
          </a:xfrm>
          <a:prstGeom prst="roundRect">
            <a:avLst>
              <a:gd name="adj" fmla="val 6957"/>
            </a:avLst>
          </a:prstGeom>
          <a:solidFill>
            <a:srgbClr val="F5F7FC"/>
          </a:solidFill>
          <a:ln/>
        </p:spPr>
      </p:sp>
      <p:sp>
        <p:nvSpPr>
          <p:cNvPr id="7" name="Text 5"/>
          <p:cNvSpPr/>
          <p:nvPr/>
        </p:nvSpPr>
        <p:spPr>
          <a:xfrm>
            <a:off x="68580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0.84</a:t>
            </a:r>
            <a:endParaRPr lang="en-US" sz="2200" dirty="0"/>
          </a:p>
        </p:txBody>
      </p:sp>
      <p:sp>
        <p:nvSpPr>
          <p:cNvPr id="8" name="Text 6"/>
          <p:cNvSpPr/>
          <p:nvPr/>
        </p:nvSpPr>
        <p:spPr>
          <a:xfrm>
            <a:off x="685800" y="2130552"/>
            <a:ext cx="2377440" cy="365760"/>
          </a:xfrm>
          <a:prstGeom prst="rect">
            <a:avLst/>
          </a:prstGeom>
          <a:noFill/>
          <a:ln/>
        </p:spPr>
        <p:txBody>
          <a:bodyPr wrap="square" rtlCol="0" anchor="ctr"/>
          <a:lstStyle/>
          <a:p>
            <a:pPr indent="0" marL="0">
              <a:buNone/>
            </a:pPr>
            <a:r>
              <a:rPr lang="en-US" sz="950" dirty="0">
                <a:solidFill>
                  <a:srgbClr val="5B6178"/>
                </a:solidFill>
                <a:latin typeface="Calibri" pitchFamily="34" charset="0"/>
                <a:ea typeface="Calibri" pitchFamily="34" charset="-122"/>
                <a:cs typeface="Calibri" pitchFamily="34" charset="-120"/>
              </a:rPr>
              <a:t>Held-out R²</a:t>
            </a:r>
            <a:endParaRPr lang="en-US" sz="950" dirty="0"/>
          </a:p>
        </p:txBody>
      </p:sp>
      <p:sp>
        <p:nvSpPr>
          <p:cNvPr id="9" name="Shape 7"/>
          <p:cNvSpPr/>
          <p:nvPr/>
        </p:nvSpPr>
        <p:spPr>
          <a:xfrm>
            <a:off x="3337560" y="1508760"/>
            <a:ext cx="2651760" cy="1051560"/>
          </a:xfrm>
          <a:prstGeom prst="roundRect">
            <a:avLst>
              <a:gd name="adj" fmla="val 6957"/>
            </a:avLst>
          </a:prstGeom>
          <a:solidFill>
            <a:srgbClr val="F5F7FC"/>
          </a:solidFill>
          <a:ln/>
        </p:spPr>
      </p:sp>
      <p:sp>
        <p:nvSpPr>
          <p:cNvPr id="10" name="Text 8"/>
          <p:cNvSpPr/>
          <p:nvPr/>
        </p:nvSpPr>
        <p:spPr>
          <a:xfrm>
            <a:off x="347472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22.1%</a:t>
            </a:r>
            <a:endParaRPr lang="en-US" sz="2200" dirty="0"/>
          </a:p>
        </p:txBody>
      </p:sp>
      <p:sp>
        <p:nvSpPr>
          <p:cNvPr id="11" name="Text 9"/>
          <p:cNvSpPr/>
          <p:nvPr/>
        </p:nvSpPr>
        <p:spPr>
          <a:xfrm>
            <a:off x="3474720" y="2130552"/>
            <a:ext cx="2377440" cy="365760"/>
          </a:xfrm>
          <a:prstGeom prst="rect">
            <a:avLst/>
          </a:prstGeom>
          <a:noFill/>
          <a:ln/>
        </p:spPr>
        <p:txBody>
          <a:bodyPr wrap="square" rtlCol="0" anchor="ctr"/>
          <a:lstStyle/>
          <a:p>
            <a:pPr indent="0" marL="0">
              <a:buNone/>
            </a:pPr>
            <a:r>
              <a:rPr lang="en-US" sz="950" dirty="0">
                <a:solidFill>
                  <a:srgbClr val="5B6178"/>
                </a:solidFill>
                <a:latin typeface="Calibri" pitchFamily="34" charset="0"/>
                <a:ea typeface="Calibri" pitchFamily="34" charset="-122"/>
                <a:cs typeface="Calibri" pitchFamily="34" charset="-120"/>
              </a:rPr>
              <a:t>Held-out MAPE</a:t>
            </a:r>
            <a:endParaRPr lang="en-US" sz="950" dirty="0"/>
          </a:p>
        </p:txBody>
      </p:sp>
      <p:sp>
        <p:nvSpPr>
          <p:cNvPr id="12" name="Shape 10"/>
          <p:cNvSpPr/>
          <p:nvPr/>
        </p:nvSpPr>
        <p:spPr>
          <a:xfrm>
            <a:off x="6126480" y="1508760"/>
            <a:ext cx="2651760" cy="1051560"/>
          </a:xfrm>
          <a:prstGeom prst="roundRect">
            <a:avLst>
              <a:gd name="adj" fmla="val 6957"/>
            </a:avLst>
          </a:prstGeom>
          <a:solidFill>
            <a:srgbClr val="F5F7FC"/>
          </a:solidFill>
          <a:ln/>
        </p:spPr>
      </p:sp>
      <p:sp>
        <p:nvSpPr>
          <p:cNvPr id="13" name="Text 11"/>
          <p:cNvSpPr/>
          <p:nvPr/>
        </p:nvSpPr>
        <p:spPr>
          <a:xfrm>
            <a:off x="626364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$45</a:t>
            </a:r>
            <a:endParaRPr lang="en-US" sz="2200" dirty="0"/>
          </a:p>
        </p:txBody>
      </p:sp>
      <p:sp>
        <p:nvSpPr>
          <p:cNvPr id="14" name="Text 12"/>
          <p:cNvSpPr/>
          <p:nvPr/>
        </p:nvSpPr>
        <p:spPr>
          <a:xfrm>
            <a:off x="6263640" y="2130552"/>
            <a:ext cx="2377440" cy="365760"/>
          </a:xfrm>
          <a:prstGeom prst="rect">
            <a:avLst/>
          </a:prstGeom>
          <a:noFill/>
          <a:ln/>
        </p:spPr>
        <p:txBody>
          <a:bodyPr wrap="square" rtlCol="0" anchor="ctr"/>
          <a:lstStyle/>
          <a:p>
            <a:pPr indent="0" marL="0">
              <a:buNone/>
            </a:pPr>
            <a:r>
              <a:rPr lang="en-US" sz="950" dirty="0">
                <a:solidFill>
                  <a:srgbClr val="5B6178"/>
                </a:solidFill>
                <a:latin typeface="Calibri" pitchFamily="34" charset="0"/>
                <a:ea typeface="Calibri" pitchFamily="34" charset="-122"/>
                <a:cs typeface="Calibri" pitchFamily="34" charset="-120"/>
              </a:rPr>
              <a:t>Held-out MAE</a:t>
            </a:r>
            <a:endParaRPr lang="en-US" sz="950" dirty="0"/>
          </a:p>
        </p:txBody>
      </p:sp>
      <p:sp>
        <p:nvSpPr>
          <p:cNvPr id="15" name="Shape 13"/>
          <p:cNvSpPr/>
          <p:nvPr/>
        </p:nvSpPr>
        <p:spPr>
          <a:xfrm>
            <a:off x="8915400" y="1508760"/>
            <a:ext cx="2651760" cy="1051560"/>
          </a:xfrm>
          <a:prstGeom prst="roundRect">
            <a:avLst>
              <a:gd name="adj" fmla="val 6957"/>
            </a:avLst>
          </a:prstGeom>
          <a:solidFill>
            <a:srgbClr val="F5F7FC"/>
          </a:solidFill>
          <a:ln/>
        </p:spPr>
      </p:sp>
      <p:sp>
        <p:nvSpPr>
          <p:cNvPr id="16" name="Text 14"/>
          <p:cNvSpPr/>
          <p:nvPr/>
        </p:nvSpPr>
        <p:spPr>
          <a:xfrm>
            <a:off x="905256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20</a:t>
            </a:r>
            <a:endParaRPr lang="en-US" sz="2200" dirty="0"/>
          </a:p>
        </p:txBody>
      </p:sp>
      <p:sp>
        <p:nvSpPr>
          <p:cNvPr id="17" name="Text 15"/>
          <p:cNvSpPr/>
          <p:nvPr/>
        </p:nvSpPr>
        <p:spPr>
          <a:xfrm>
            <a:off x="9052560" y="2130552"/>
            <a:ext cx="2377440" cy="365760"/>
          </a:xfrm>
          <a:prstGeom prst="rect">
            <a:avLst/>
          </a:prstGeom>
          <a:noFill/>
          <a:ln/>
        </p:spPr>
        <p:txBody>
          <a:bodyPr wrap="square" rtlCol="0" anchor="ctr"/>
          <a:lstStyle/>
          <a:p>
            <a:pPr indent="0" marL="0">
              <a:buNone/>
            </a:pPr>
            <a:r>
              <a:rPr lang="en-US" sz="950" dirty="0">
                <a:solidFill>
                  <a:srgbClr val="5B6178"/>
                </a:solidFill>
                <a:latin typeface="Calibri" pitchFamily="34" charset="0"/>
                <a:ea typeface="Calibri" pitchFamily="34" charset="-122"/>
                <a:cs typeface="Calibri" pitchFamily="34" charset="-120"/>
              </a:rPr>
              <a:t>Venues flagged</a:t>
            </a:r>
            <a:endParaRPr lang="en-US" sz="950" dirty="0"/>
          </a:p>
        </p:txBody>
      </p:sp>
      <p:graphicFrame>
        <p:nvGraphicFramePr>
          <p:cNvPr id="18" name="Chart 0" descr=""/>
          <p:cNvGraphicFramePr/>
          <p:nvPr/>
        </p:nvGraphicFramePr>
        <p:xfrm>
          <a:off x="548640" y="288036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6263640" y="2880360"/>
            <a:ext cx="5394960" cy="274320"/>
          </a:xfrm>
          <a:prstGeom prst="rect">
            <a:avLst/>
          </a:prstGeom>
          <a:noFill/>
          <a:ln/>
        </p:spPr>
        <p:txBody>
          <a:bodyPr wrap="square"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Top under-monetized venues (of 20 flagged)</a:t>
            </a:r>
            <a:endParaRPr lang="en-US" sz="1200" dirty="0"/>
          </a:p>
        </p:txBody>
      </p:sp>
      <p:sp>
        <p:nvSpPr>
          <p:cNvPr id="20" name="Text 17"/>
          <p:cNvSpPr/>
          <p:nvPr/>
        </p:nvSpPr>
        <p:spPr>
          <a:xfrm>
            <a:off x="6263640" y="3209544"/>
            <a:ext cx="365760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Venue #85 (Restaurants)</a:t>
            </a:r>
            <a:endParaRPr lang="en-US" sz="1000" dirty="0"/>
          </a:p>
        </p:txBody>
      </p:sp>
      <p:sp>
        <p:nvSpPr>
          <p:cNvPr id="21" name="Text 18"/>
          <p:cNvSpPr/>
          <p:nvPr/>
        </p:nvSpPr>
        <p:spPr>
          <a:xfrm>
            <a:off x="9966960" y="3209544"/>
            <a:ext cx="1691640" cy="274320"/>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-62%</a:t>
            </a:r>
            <a:endParaRPr lang="en-US" sz="1000" dirty="0"/>
          </a:p>
        </p:txBody>
      </p:sp>
      <p:sp>
        <p:nvSpPr>
          <p:cNvPr id="22" name="Text 19"/>
          <p:cNvSpPr/>
          <p:nvPr/>
        </p:nvSpPr>
        <p:spPr>
          <a:xfrm>
            <a:off x="6263640" y="3502152"/>
            <a:ext cx="365760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Venue #309 (Waiting Rooms)</a:t>
            </a:r>
            <a:endParaRPr lang="en-US" sz="1000" dirty="0"/>
          </a:p>
        </p:txBody>
      </p:sp>
      <p:sp>
        <p:nvSpPr>
          <p:cNvPr id="23" name="Text 20"/>
          <p:cNvSpPr/>
          <p:nvPr/>
        </p:nvSpPr>
        <p:spPr>
          <a:xfrm>
            <a:off x="9966960" y="3502152"/>
            <a:ext cx="1691640" cy="274320"/>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-61%</a:t>
            </a:r>
            <a:endParaRPr lang="en-US" sz="1000" dirty="0"/>
          </a:p>
        </p:txBody>
      </p:sp>
      <p:sp>
        <p:nvSpPr>
          <p:cNvPr id="24" name="Text 21"/>
          <p:cNvSpPr/>
          <p:nvPr/>
        </p:nvSpPr>
        <p:spPr>
          <a:xfrm>
            <a:off x="6263640" y="3794760"/>
            <a:ext cx="365760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Venue #53 (Restaurants)</a:t>
            </a:r>
            <a:endParaRPr lang="en-US" sz="1000" dirty="0"/>
          </a:p>
        </p:txBody>
      </p:sp>
      <p:sp>
        <p:nvSpPr>
          <p:cNvPr id="25" name="Text 22"/>
          <p:cNvSpPr/>
          <p:nvPr/>
        </p:nvSpPr>
        <p:spPr>
          <a:xfrm>
            <a:off x="9966960" y="3794760"/>
            <a:ext cx="1691640" cy="274320"/>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-61%</a:t>
            </a:r>
            <a:endParaRPr lang="en-US" sz="1000" dirty="0"/>
          </a:p>
        </p:txBody>
      </p:sp>
      <p:sp>
        <p:nvSpPr>
          <p:cNvPr id="26" name="Text 23"/>
          <p:cNvSpPr/>
          <p:nvPr/>
        </p:nvSpPr>
        <p:spPr>
          <a:xfrm>
            <a:off x="6263640" y="4087368"/>
            <a:ext cx="365760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Venue #247 (Bars)</a:t>
            </a:r>
            <a:endParaRPr lang="en-US" sz="1000" dirty="0"/>
          </a:p>
        </p:txBody>
      </p:sp>
      <p:sp>
        <p:nvSpPr>
          <p:cNvPr id="27" name="Text 24"/>
          <p:cNvSpPr/>
          <p:nvPr/>
        </p:nvSpPr>
        <p:spPr>
          <a:xfrm>
            <a:off x="9966960" y="4087368"/>
            <a:ext cx="1691640" cy="274320"/>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-60%</a:t>
            </a:r>
            <a:endParaRPr lang="en-US" sz="1000" dirty="0"/>
          </a:p>
        </p:txBody>
      </p:sp>
      <p:sp>
        <p:nvSpPr>
          <p:cNvPr id="28" name="Text 25"/>
          <p:cNvSpPr/>
          <p:nvPr/>
        </p:nvSpPr>
        <p:spPr>
          <a:xfrm>
            <a:off x="6263640" y="4562856"/>
            <a:ext cx="5394960" cy="274320"/>
          </a:xfrm>
          <a:prstGeom prst="rect">
            <a:avLst/>
          </a:prstGeom>
          <a:noFill/>
          <a:ln/>
        </p:spPr>
        <p:txBody>
          <a:bodyPr wrap="square"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Top prospect venues (expansion priority)</a:t>
            </a:r>
            <a:endParaRPr lang="en-US" sz="1200" dirty="0"/>
          </a:p>
        </p:txBody>
      </p:sp>
      <p:sp>
        <p:nvSpPr>
          <p:cNvPr id="29" name="Text 26"/>
          <p:cNvSpPr/>
          <p:nvPr/>
        </p:nvSpPr>
        <p:spPr>
          <a:xfrm>
            <a:off x="6263640" y="4892040"/>
            <a:ext cx="402336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P0018 — Bars (existing market)</a:t>
            </a:r>
            <a:endParaRPr lang="en-US" sz="1000" dirty="0"/>
          </a:p>
        </p:txBody>
      </p:sp>
      <p:sp>
        <p:nvSpPr>
          <p:cNvPr id="30" name="Text 27"/>
          <p:cNvSpPr/>
          <p:nvPr/>
        </p:nvSpPr>
        <p:spPr>
          <a:xfrm>
            <a:off x="10195560" y="4892040"/>
            <a:ext cx="1463040" cy="274320"/>
          </a:xfrm>
          <a:prstGeom prst="rect">
            <a:avLst/>
          </a:prstGeom>
          <a:noFill/>
          <a:ln/>
        </p:spPr>
        <p:txBody>
          <a:bodyPr wrap="square" rtlCol="0" anchor="ctr"/>
          <a:lstStyle/>
          <a:p>
            <a:pPr algn="r" indent="0" marL="0">
              <a:buNone/>
            </a:pPr>
            <a:r>
              <a:rPr lang="en-US" sz="1000" b="1" dirty="0">
                <a:solidFill>
                  <a:srgbClr val="2C7A57"/>
                </a:solidFill>
                <a:latin typeface="Calibri" pitchFamily="34" charset="0"/>
                <a:ea typeface="Calibri" pitchFamily="34" charset="-122"/>
                <a:cs typeface="Calibri" pitchFamily="34" charset="-120"/>
              </a:rPr>
              <a:t>$684</a:t>
            </a:r>
            <a:endParaRPr lang="en-US" sz="1000" dirty="0"/>
          </a:p>
        </p:txBody>
      </p:sp>
      <p:sp>
        <p:nvSpPr>
          <p:cNvPr id="31" name="Text 28"/>
          <p:cNvSpPr/>
          <p:nvPr/>
        </p:nvSpPr>
        <p:spPr>
          <a:xfrm>
            <a:off x="6263640" y="5184648"/>
            <a:ext cx="402336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P0055 — Restaurants (existing market)</a:t>
            </a:r>
            <a:endParaRPr lang="en-US" sz="1000" dirty="0"/>
          </a:p>
        </p:txBody>
      </p:sp>
      <p:sp>
        <p:nvSpPr>
          <p:cNvPr id="32" name="Text 29"/>
          <p:cNvSpPr/>
          <p:nvPr/>
        </p:nvSpPr>
        <p:spPr>
          <a:xfrm>
            <a:off x="10195560" y="5184648"/>
            <a:ext cx="1463040" cy="274320"/>
          </a:xfrm>
          <a:prstGeom prst="rect">
            <a:avLst/>
          </a:prstGeom>
          <a:noFill/>
          <a:ln/>
        </p:spPr>
        <p:txBody>
          <a:bodyPr wrap="square" rtlCol="0" anchor="ctr"/>
          <a:lstStyle/>
          <a:p>
            <a:pPr algn="r" indent="0" marL="0">
              <a:buNone/>
            </a:pPr>
            <a:r>
              <a:rPr lang="en-US" sz="1000" b="1" dirty="0">
                <a:solidFill>
                  <a:srgbClr val="2C7A57"/>
                </a:solidFill>
                <a:latin typeface="Calibri" pitchFamily="34" charset="0"/>
                <a:ea typeface="Calibri" pitchFamily="34" charset="-122"/>
                <a:cs typeface="Calibri" pitchFamily="34" charset="-120"/>
              </a:rPr>
              <a:t>$524</a:t>
            </a:r>
            <a:endParaRPr lang="en-US" sz="1000" dirty="0"/>
          </a:p>
        </p:txBody>
      </p:sp>
      <p:sp>
        <p:nvSpPr>
          <p:cNvPr id="33" name="Text 30"/>
          <p:cNvSpPr/>
          <p:nvPr/>
        </p:nvSpPr>
        <p:spPr>
          <a:xfrm>
            <a:off x="6263640" y="5477256"/>
            <a:ext cx="402336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P0000 — Bars (new market)</a:t>
            </a:r>
            <a:endParaRPr lang="en-US" sz="1000" dirty="0"/>
          </a:p>
        </p:txBody>
      </p:sp>
      <p:sp>
        <p:nvSpPr>
          <p:cNvPr id="34" name="Text 31"/>
          <p:cNvSpPr/>
          <p:nvPr/>
        </p:nvSpPr>
        <p:spPr>
          <a:xfrm>
            <a:off x="10195560" y="5477256"/>
            <a:ext cx="1463040" cy="274320"/>
          </a:xfrm>
          <a:prstGeom prst="rect">
            <a:avLst/>
          </a:prstGeom>
          <a:noFill/>
          <a:ln/>
        </p:spPr>
        <p:txBody>
          <a:bodyPr wrap="square" rtlCol="0" anchor="ctr"/>
          <a:lstStyle/>
          <a:p>
            <a:pPr algn="r" indent="0" marL="0">
              <a:buNone/>
            </a:pPr>
            <a:r>
              <a:rPr lang="en-US" sz="1000" b="1" dirty="0">
                <a:solidFill>
                  <a:srgbClr val="2C7A57"/>
                </a:solidFill>
                <a:latin typeface="Calibri" pitchFamily="34" charset="0"/>
                <a:ea typeface="Calibri" pitchFamily="34" charset="-122"/>
                <a:cs typeface="Calibri" pitchFamily="34" charset="-120"/>
              </a:rPr>
              <a:t>$500</a:t>
            </a:r>
            <a:endParaRPr lang="en-US" sz="1000" dirty="0"/>
          </a:p>
        </p:txBody>
      </p:sp>
      <p:sp>
        <p:nvSpPr>
          <p:cNvPr id="35" name="Text 32"/>
          <p:cNvSpPr/>
          <p:nvPr/>
        </p:nvSpPr>
        <p:spPr>
          <a:xfrm>
            <a:off x="6263640" y="5769864"/>
            <a:ext cx="4023360" cy="27432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P0001 — Bars (new market)</a:t>
            </a:r>
            <a:endParaRPr lang="en-US" sz="1000" dirty="0"/>
          </a:p>
        </p:txBody>
      </p:sp>
      <p:sp>
        <p:nvSpPr>
          <p:cNvPr id="36" name="Text 33"/>
          <p:cNvSpPr/>
          <p:nvPr/>
        </p:nvSpPr>
        <p:spPr>
          <a:xfrm>
            <a:off x="10195560" y="5769864"/>
            <a:ext cx="1463040" cy="274320"/>
          </a:xfrm>
          <a:prstGeom prst="rect">
            <a:avLst/>
          </a:prstGeom>
          <a:noFill/>
          <a:ln/>
        </p:spPr>
        <p:txBody>
          <a:bodyPr wrap="square" rtlCol="0" anchor="ctr"/>
          <a:lstStyle/>
          <a:p>
            <a:pPr algn="r" indent="0" marL="0">
              <a:buNone/>
            </a:pPr>
            <a:r>
              <a:rPr lang="en-US" sz="1000" b="1" dirty="0">
                <a:solidFill>
                  <a:srgbClr val="2C7A57"/>
                </a:solidFill>
                <a:latin typeface="Calibri" pitchFamily="34" charset="0"/>
                <a:ea typeface="Calibri" pitchFamily="34" charset="-122"/>
                <a:cs typeface="Calibri" pitchFamily="34" charset="-120"/>
              </a:rPr>
              <a:t>$496</a:t>
            </a:r>
            <a:endParaRPr lang="en-US" sz="1000" dirty="0"/>
          </a:p>
        </p:txBody>
      </p:sp>
      <p:sp>
        <p:nvSpPr>
          <p:cNvPr id="37" name="Text 34"/>
          <p:cNvSpPr/>
          <p:nvPr/>
        </p:nvSpPr>
        <p:spPr>
          <a:xfrm>
            <a:off x="548640" y="6080760"/>
            <a:ext cx="11064240" cy="411480"/>
          </a:xfrm>
          <a:prstGeom prst="rect">
            <a:avLst/>
          </a:prstGeom>
          <a:noFill/>
          <a:ln/>
        </p:spPr>
        <p:txBody>
          <a:bodyPr wrap="square" rtlCol="0" anchor="ctr"/>
          <a:lstStyle/>
          <a:p>
            <a:pPr indent="0" marL="0">
              <a:lnSpc>
                <a:spcPts val="1200"/>
              </a:lnSpc>
              <a:buNone/>
            </a:pPr>
            <a:r>
              <a:rPr lang="en-US" sz="1000" i="1" dirty="0">
                <a:solidFill>
                  <a:srgbClr val="5B6178"/>
                </a:solidFill>
                <a:latin typeface="Calibri" pitchFamily="34" charset="0"/>
                <a:ea typeface="Calibri" pitchFamily="34" charset="-122"/>
                <a:cs typeface="Calibri" pitchFamily="34" charset="-120"/>
              </a:rPr>
              <a:t>Flags come from 5-fold out-of-fold predictions, never a model scoring the venue it was trained on. The calibrated-lift feature carries near-zero importance — honest, since it's constant within venue_type once venue_type itself is a feature.</a:t>
            </a:r>
            <a:endParaRPr lang="en-US" sz="1000" dirty="0"/>
          </a:p>
        </p:txBody>
      </p:sp>
      <p:sp>
        <p:nvSpPr>
          <p:cNvPr id="38" name="Text 35"/>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Venue economics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155680" cy="59436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Predicting venue churn risk, honestly</a:t>
            </a:r>
            <a:endParaRPr lang="en-US" sz="2500" dirty="0"/>
          </a:p>
        </p:txBody>
      </p:sp>
      <p:sp>
        <p:nvSpPr>
          <p:cNvPr id="3" name="Shape 1"/>
          <p:cNvSpPr/>
          <p:nvPr/>
        </p:nvSpPr>
        <p:spPr>
          <a:xfrm>
            <a:off x="8229600" y="146304"/>
            <a:ext cx="3410712" cy="246888"/>
          </a:xfrm>
          <a:prstGeom prst="roundRect">
            <a:avLst>
              <a:gd name="adj" fmla="val 22222"/>
            </a:avLst>
          </a:prstGeom>
          <a:solidFill>
            <a:srgbClr val="FFFFFF"/>
          </a:solidFill>
          <a:ln w="15875">
            <a:solidFill>
              <a:srgbClr val="8E3B60"/>
            </a:solidFill>
            <a:prstDash val="solid"/>
          </a:ln>
        </p:spPr>
      </p:sp>
      <p:sp>
        <p:nvSpPr>
          <p:cNvPr id="4" name="Text 2"/>
          <p:cNvSpPr/>
          <p:nvPr/>
        </p:nvSpPr>
        <p:spPr>
          <a:xfrm>
            <a:off x="8229600" y="146304"/>
            <a:ext cx="3410712" cy="246888"/>
          </a:xfrm>
          <a:prstGeom prst="rect">
            <a:avLst/>
          </a:prstGeom>
          <a:noFill/>
          <a:ln/>
        </p:spPr>
        <p:txBody>
          <a:bodyPr wrap="square" rtlCol="0" anchor="ctr"/>
          <a:lstStyle/>
          <a:p>
            <a:pPr algn="ctr" indent="0" marL="0">
              <a:buNone/>
            </a:pPr>
            <a:r>
              <a:rPr lang="en-US" sz="950" b="1" dirty="0">
                <a:solidFill>
                  <a:srgbClr val="8E3B60"/>
                </a:solidFill>
                <a:latin typeface="Calibri" pitchFamily="34" charset="0"/>
                <a:ea typeface="Calibri" pitchFamily="34" charset="-122"/>
                <a:cs typeface="Calibri" pitchFamily="34" charset="-120"/>
              </a:rPr>
              <a:t>Step 6 of 6 · Answers Q4</a:t>
            </a:r>
            <a:endParaRPr lang="en-US" sz="950" dirty="0"/>
          </a:p>
        </p:txBody>
      </p:sp>
      <p:sp>
        <p:nvSpPr>
          <p:cNvPr id="5" name="Text 3"/>
          <p:cNvSpPr/>
          <p:nvPr/>
        </p:nvSpPr>
        <p:spPr>
          <a:xfrm>
            <a:off x="548640" y="1005840"/>
            <a:ext cx="10972800" cy="365760"/>
          </a:xfrm>
          <a:prstGeom prst="rect">
            <a:avLst/>
          </a:prstGeom>
          <a:noFill/>
          <a:ln/>
        </p:spPr>
        <p:txBody>
          <a:bodyPr wrap="square" rtlCol="0" anchor="ctr"/>
          <a:lstStyle/>
          <a:p>
            <a:pPr indent="0" marL="0">
              <a:buNone/>
            </a:pPr>
            <a:r>
              <a:rPr lang="en-US" sz="1200" i="1" dirty="0">
                <a:solidFill>
                  <a:srgbClr val="5B6178"/>
                </a:solidFill>
                <a:latin typeface="Calibri" pitchFamily="34" charset="0"/>
                <a:ea typeface="Calibri" pitchFamily="34" charset="-122"/>
                <a:cs typeface="Calibri" pitchFamily="34" charset="-120"/>
              </a:rPr>
              <a:t>Gradient-boosted classifier on ops-visible signals (engagement, uptime, complaints, competitor outreach) — the other half of "what makes a venue valuable and what puts it at risk."</a:t>
            </a:r>
            <a:endParaRPr lang="en-US" sz="1200" dirty="0"/>
          </a:p>
        </p:txBody>
      </p:sp>
      <p:sp>
        <p:nvSpPr>
          <p:cNvPr id="6" name="Shape 4"/>
          <p:cNvSpPr/>
          <p:nvPr/>
        </p:nvSpPr>
        <p:spPr>
          <a:xfrm>
            <a:off x="548640" y="1508760"/>
            <a:ext cx="2651760" cy="1051560"/>
          </a:xfrm>
          <a:prstGeom prst="roundRect">
            <a:avLst>
              <a:gd name="adj" fmla="val 6957"/>
            </a:avLst>
          </a:prstGeom>
          <a:solidFill>
            <a:srgbClr val="F5F7FC"/>
          </a:solidFill>
          <a:ln/>
        </p:spPr>
      </p:sp>
      <p:sp>
        <p:nvSpPr>
          <p:cNvPr id="7" name="Text 5"/>
          <p:cNvSpPr/>
          <p:nvPr/>
        </p:nvSpPr>
        <p:spPr>
          <a:xfrm>
            <a:off x="68580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0.65</a:t>
            </a:r>
            <a:endParaRPr lang="en-US" sz="2200" dirty="0"/>
          </a:p>
        </p:txBody>
      </p:sp>
      <p:sp>
        <p:nvSpPr>
          <p:cNvPr id="8" name="Text 6"/>
          <p:cNvSpPr/>
          <p:nvPr/>
        </p:nvSpPr>
        <p:spPr>
          <a:xfrm>
            <a:off x="685800" y="2130552"/>
            <a:ext cx="2377440" cy="36576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Held-out AUC</a:t>
            </a:r>
            <a:endParaRPr lang="en-US" sz="900" dirty="0"/>
          </a:p>
        </p:txBody>
      </p:sp>
      <p:sp>
        <p:nvSpPr>
          <p:cNvPr id="9" name="Shape 7"/>
          <p:cNvSpPr/>
          <p:nvPr/>
        </p:nvSpPr>
        <p:spPr>
          <a:xfrm>
            <a:off x="3337560" y="1508760"/>
            <a:ext cx="2651760" cy="1051560"/>
          </a:xfrm>
          <a:prstGeom prst="roundRect">
            <a:avLst>
              <a:gd name="adj" fmla="val 6957"/>
            </a:avLst>
          </a:prstGeom>
          <a:solidFill>
            <a:srgbClr val="F5F7FC"/>
          </a:solidFill>
          <a:ln/>
        </p:spPr>
      </p:sp>
      <p:sp>
        <p:nvSpPr>
          <p:cNvPr id="10" name="Text 8"/>
          <p:cNvSpPr/>
          <p:nvPr/>
        </p:nvSpPr>
        <p:spPr>
          <a:xfrm>
            <a:off x="347472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0.27</a:t>
            </a:r>
            <a:endParaRPr lang="en-US" sz="2200" dirty="0"/>
          </a:p>
        </p:txBody>
      </p:sp>
      <p:sp>
        <p:nvSpPr>
          <p:cNvPr id="11" name="Text 9"/>
          <p:cNvSpPr/>
          <p:nvPr/>
        </p:nvSpPr>
        <p:spPr>
          <a:xfrm>
            <a:off x="3474720" y="2130552"/>
            <a:ext cx="2377440" cy="36576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Held-out PR-AUC</a:t>
            </a:r>
            <a:endParaRPr lang="en-US" sz="900" dirty="0"/>
          </a:p>
        </p:txBody>
      </p:sp>
      <p:sp>
        <p:nvSpPr>
          <p:cNvPr id="12" name="Shape 10"/>
          <p:cNvSpPr/>
          <p:nvPr/>
        </p:nvSpPr>
        <p:spPr>
          <a:xfrm>
            <a:off x="6126480" y="1508760"/>
            <a:ext cx="2651760" cy="1051560"/>
          </a:xfrm>
          <a:prstGeom prst="roundRect">
            <a:avLst>
              <a:gd name="adj" fmla="val 6957"/>
            </a:avLst>
          </a:prstGeom>
          <a:solidFill>
            <a:srgbClr val="F5F7FC"/>
          </a:solidFill>
          <a:ln/>
        </p:spPr>
      </p:sp>
      <p:sp>
        <p:nvSpPr>
          <p:cNvPr id="13" name="Text 11"/>
          <p:cNvSpPr/>
          <p:nvPr/>
        </p:nvSpPr>
        <p:spPr>
          <a:xfrm>
            <a:off x="626364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0.13</a:t>
            </a:r>
            <a:endParaRPr lang="en-US" sz="2200" dirty="0"/>
          </a:p>
        </p:txBody>
      </p:sp>
      <p:sp>
        <p:nvSpPr>
          <p:cNvPr id="14" name="Text 12"/>
          <p:cNvSpPr/>
          <p:nvPr/>
        </p:nvSpPr>
        <p:spPr>
          <a:xfrm>
            <a:off x="6263640" y="2130552"/>
            <a:ext cx="2377440" cy="36576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Brier score</a:t>
            </a:r>
            <a:endParaRPr lang="en-US" sz="900" dirty="0"/>
          </a:p>
        </p:txBody>
      </p:sp>
      <p:sp>
        <p:nvSpPr>
          <p:cNvPr id="15" name="Shape 13"/>
          <p:cNvSpPr/>
          <p:nvPr/>
        </p:nvSpPr>
        <p:spPr>
          <a:xfrm>
            <a:off x="8915400" y="1508760"/>
            <a:ext cx="2651760" cy="1051560"/>
          </a:xfrm>
          <a:prstGeom prst="roundRect">
            <a:avLst>
              <a:gd name="adj" fmla="val 6957"/>
            </a:avLst>
          </a:prstGeom>
          <a:solidFill>
            <a:srgbClr val="F5F7FC"/>
          </a:solidFill>
          <a:ln/>
        </p:spPr>
      </p:sp>
      <p:sp>
        <p:nvSpPr>
          <p:cNvPr id="16" name="Text 14"/>
          <p:cNvSpPr/>
          <p:nvPr/>
        </p:nvSpPr>
        <p:spPr>
          <a:xfrm>
            <a:off x="9052560" y="1618488"/>
            <a:ext cx="2377440" cy="50292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20</a:t>
            </a:r>
            <a:endParaRPr lang="en-US" sz="2200" dirty="0"/>
          </a:p>
        </p:txBody>
      </p:sp>
      <p:sp>
        <p:nvSpPr>
          <p:cNvPr id="17" name="Text 15"/>
          <p:cNvSpPr/>
          <p:nvPr/>
        </p:nvSpPr>
        <p:spPr>
          <a:xfrm>
            <a:off x="9052560" y="2130552"/>
            <a:ext cx="2377440" cy="36576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Venues flagged</a:t>
            </a:r>
            <a:endParaRPr lang="en-US" sz="900" dirty="0"/>
          </a:p>
        </p:txBody>
      </p:sp>
      <p:graphicFrame>
        <p:nvGraphicFramePr>
          <p:cNvPr id="18" name="Chart 0" descr=""/>
          <p:cNvGraphicFramePr/>
          <p:nvPr/>
        </p:nvGraphicFramePr>
        <p:xfrm>
          <a:off x="548640" y="288036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6263640" y="2880360"/>
            <a:ext cx="5394960" cy="256032"/>
          </a:xfrm>
          <a:prstGeom prst="rect">
            <a:avLst/>
          </a:prstGeom>
          <a:noFill/>
          <a:ln/>
        </p:spPr>
        <p:txBody>
          <a:bodyPr wrap="square"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Top at-risk venues (of 20 flagged, by OOF risk)</a:t>
            </a:r>
            <a:endParaRPr lang="en-US" sz="1200" dirty="0"/>
          </a:p>
        </p:txBody>
      </p:sp>
      <p:sp>
        <p:nvSpPr>
          <p:cNvPr id="20" name="Text 17"/>
          <p:cNvSpPr/>
          <p:nvPr/>
        </p:nvSpPr>
        <p:spPr>
          <a:xfrm>
            <a:off x="6263640" y="3172968"/>
            <a:ext cx="3977640" cy="21945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Venue #281 (Bars)</a:t>
            </a:r>
            <a:endParaRPr lang="en-US" sz="1000" dirty="0"/>
          </a:p>
        </p:txBody>
      </p:sp>
      <p:sp>
        <p:nvSpPr>
          <p:cNvPr id="21" name="Text 18"/>
          <p:cNvSpPr/>
          <p:nvPr/>
        </p:nvSpPr>
        <p:spPr>
          <a:xfrm>
            <a:off x="10241280" y="3172968"/>
            <a:ext cx="1417320" cy="219456"/>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60%</a:t>
            </a:r>
            <a:endParaRPr lang="en-US" sz="1000" dirty="0"/>
          </a:p>
        </p:txBody>
      </p:sp>
      <p:sp>
        <p:nvSpPr>
          <p:cNvPr id="22" name="Text 19"/>
          <p:cNvSpPr/>
          <p:nvPr/>
        </p:nvSpPr>
        <p:spPr>
          <a:xfrm>
            <a:off x="6263640" y="3374136"/>
            <a:ext cx="5394960" cy="201168"/>
          </a:xfrm>
          <a:prstGeom prst="rect">
            <a:avLst/>
          </a:prstGeom>
          <a:noFill/>
          <a:ln/>
        </p:spPr>
        <p:txBody>
          <a:bodyPr wrap="square" rtlCol="0" anchor="ctr"/>
          <a:lstStyle/>
          <a:p>
            <a:pPr indent="0" marL="0">
              <a:buNone/>
            </a:pPr>
            <a:r>
              <a:rPr lang="en-US" sz="900" i="1" dirty="0">
                <a:solidFill>
                  <a:srgbClr val="8A4B0A"/>
                </a:solidFill>
                <a:latin typeface="Calibri" pitchFamily="34" charset="0"/>
                <a:ea typeface="Calibri" pitchFamily="34" charset="-122"/>
                <a:cs typeface="Calibri" pitchFamily="34" charset="-120"/>
              </a:rPr>
              <a:t>engagement declining → content/placement review</a:t>
            </a:r>
            <a:endParaRPr lang="en-US" sz="900" dirty="0"/>
          </a:p>
        </p:txBody>
      </p:sp>
      <p:sp>
        <p:nvSpPr>
          <p:cNvPr id="23" name="Text 20"/>
          <p:cNvSpPr/>
          <p:nvPr/>
        </p:nvSpPr>
        <p:spPr>
          <a:xfrm>
            <a:off x="6263640" y="3593592"/>
            <a:ext cx="3977640" cy="21945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Venue #200 (Bars)</a:t>
            </a:r>
            <a:endParaRPr lang="en-US" sz="1000" dirty="0"/>
          </a:p>
        </p:txBody>
      </p:sp>
      <p:sp>
        <p:nvSpPr>
          <p:cNvPr id="24" name="Text 21"/>
          <p:cNvSpPr/>
          <p:nvPr/>
        </p:nvSpPr>
        <p:spPr>
          <a:xfrm>
            <a:off x="10241280" y="3593592"/>
            <a:ext cx="1417320" cy="219456"/>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55%</a:t>
            </a:r>
            <a:endParaRPr lang="en-US" sz="1000" dirty="0"/>
          </a:p>
        </p:txBody>
      </p:sp>
      <p:sp>
        <p:nvSpPr>
          <p:cNvPr id="25" name="Text 22"/>
          <p:cNvSpPr/>
          <p:nvPr/>
        </p:nvSpPr>
        <p:spPr>
          <a:xfrm>
            <a:off x="6263640" y="3794760"/>
            <a:ext cx="5394960" cy="201168"/>
          </a:xfrm>
          <a:prstGeom prst="rect">
            <a:avLst/>
          </a:prstGeom>
          <a:noFill/>
          <a:ln/>
        </p:spPr>
        <p:txBody>
          <a:bodyPr wrap="square" rtlCol="0" anchor="ctr"/>
          <a:lstStyle/>
          <a:p>
            <a:pPr indent="0" marL="0">
              <a:buNone/>
            </a:pPr>
            <a:r>
              <a:rPr lang="en-US" sz="900" i="1" dirty="0">
                <a:solidFill>
                  <a:srgbClr val="8A4B0A"/>
                </a:solidFill>
                <a:latin typeface="Calibri" pitchFamily="34" charset="0"/>
                <a:ea typeface="Calibri" pitchFamily="34" charset="-122"/>
                <a:cs typeface="Calibri" pitchFamily="34" charset="-120"/>
              </a:rPr>
              <a:t>engagement declining → content/placement review</a:t>
            </a:r>
            <a:endParaRPr lang="en-US" sz="900" dirty="0"/>
          </a:p>
        </p:txBody>
      </p:sp>
      <p:sp>
        <p:nvSpPr>
          <p:cNvPr id="26" name="Text 23"/>
          <p:cNvSpPr/>
          <p:nvPr/>
        </p:nvSpPr>
        <p:spPr>
          <a:xfrm>
            <a:off x="6263640" y="4014216"/>
            <a:ext cx="3977640" cy="21945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Venue #12 (Restaurants)</a:t>
            </a:r>
            <a:endParaRPr lang="en-US" sz="1000" dirty="0"/>
          </a:p>
        </p:txBody>
      </p:sp>
      <p:sp>
        <p:nvSpPr>
          <p:cNvPr id="27" name="Text 24"/>
          <p:cNvSpPr/>
          <p:nvPr/>
        </p:nvSpPr>
        <p:spPr>
          <a:xfrm>
            <a:off x="10241280" y="4014216"/>
            <a:ext cx="1417320" cy="219456"/>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52%</a:t>
            </a:r>
            <a:endParaRPr lang="en-US" sz="1000" dirty="0"/>
          </a:p>
        </p:txBody>
      </p:sp>
      <p:sp>
        <p:nvSpPr>
          <p:cNvPr id="28" name="Text 25"/>
          <p:cNvSpPr/>
          <p:nvPr/>
        </p:nvSpPr>
        <p:spPr>
          <a:xfrm>
            <a:off x="6263640" y="4215384"/>
            <a:ext cx="5394960" cy="201168"/>
          </a:xfrm>
          <a:prstGeom prst="rect">
            <a:avLst/>
          </a:prstGeom>
          <a:noFill/>
          <a:ln/>
        </p:spPr>
        <p:txBody>
          <a:bodyPr wrap="square" rtlCol="0" anchor="ctr"/>
          <a:lstStyle/>
          <a:p>
            <a:pPr indent="0" marL="0">
              <a:buNone/>
            </a:pPr>
            <a:r>
              <a:rPr lang="en-US" sz="900" i="1" dirty="0">
                <a:solidFill>
                  <a:srgbClr val="8A4B0A"/>
                </a:solidFill>
                <a:latin typeface="Calibri" pitchFamily="34" charset="0"/>
                <a:ea typeface="Calibri" pitchFamily="34" charset="-122"/>
                <a:cs typeface="Calibri" pitchFamily="34" charset="-120"/>
              </a:rPr>
              <a:t>uptime issue → dispatch technical support</a:t>
            </a:r>
            <a:endParaRPr lang="en-US" sz="900" dirty="0"/>
          </a:p>
        </p:txBody>
      </p:sp>
      <p:sp>
        <p:nvSpPr>
          <p:cNvPr id="29" name="Text 26"/>
          <p:cNvSpPr/>
          <p:nvPr/>
        </p:nvSpPr>
        <p:spPr>
          <a:xfrm>
            <a:off x="6263640" y="4526280"/>
            <a:ext cx="5394960" cy="237744"/>
          </a:xfrm>
          <a:prstGeom prst="rect">
            <a:avLst/>
          </a:prstGeom>
          <a:noFill/>
          <a:ln/>
        </p:spPr>
        <p:txBody>
          <a:bodyPr wrap="square"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Priority quadrant (Q3 revenue × Q4 risk)</a:t>
            </a:r>
            <a:endParaRPr lang="en-US" sz="1200" dirty="0"/>
          </a:p>
        </p:txBody>
      </p:sp>
      <p:sp>
        <p:nvSpPr>
          <p:cNvPr id="30" name="Text 27"/>
          <p:cNvSpPr/>
          <p:nvPr/>
        </p:nvSpPr>
        <p:spPr>
          <a:xfrm>
            <a:off x="6263640" y="4800600"/>
            <a:ext cx="4023360" cy="237744"/>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Save now (high value, high risk)</a:t>
            </a:r>
            <a:endParaRPr lang="en-US" sz="1000" dirty="0"/>
          </a:p>
        </p:txBody>
      </p:sp>
      <p:sp>
        <p:nvSpPr>
          <p:cNvPr id="31" name="Text 28"/>
          <p:cNvSpPr/>
          <p:nvPr/>
        </p:nvSpPr>
        <p:spPr>
          <a:xfrm>
            <a:off x="10195560" y="4800600"/>
            <a:ext cx="1463040" cy="237744"/>
          </a:xfrm>
          <a:prstGeom prst="rect">
            <a:avLst/>
          </a:prstGeom>
          <a:noFill/>
          <a:ln/>
        </p:spPr>
        <p:txBody>
          <a:bodyPr wrap="square" rtlCol="0" anchor="ctr"/>
          <a:lstStyle/>
          <a:p>
            <a:pPr algn="r" indent="0" marL="0">
              <a:buNone/>
            </a:pPr>
            <a:r>
              <a:rPr lang="en-US" sz="1000" b="1" dirty="0">
                <a:solidFill>
                  <a:srgbClr val="B8500A"/>
                </a:solidFill>
                <a:latin typeface="Calibri" pitchFamily="34" charset="0"/>
                <a:ea typeface="Calibri" pitchFamily="34" charset="-122"/>
                <a:cs typeface="Calibri" pitchFamily="34" charset="-120"/>
              </a:rPr>
              <a:t>136</a:t>
            </a:r>
            <a:endParaRPr lang="en-US" sz="1000" dirty="0"/>
          </a:p>
        </p:txBody>
      </p:sp>
      <p:sp>
        <p:nvSpPr>
          <p:cNvPr id="32" name="Text 29"/>
          <p:cNvSpPr/>
          <p:nvPr/>
        </p:nvSpPr>
        <p:spPr>
          <a:xfrm>
            <a:off x="6263640" y="5047488"/>
            <a:ext cx="4023360" cy="237744"/>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Monitor (low value, low risk)</a:t>
            </a:r>
            <a:endParaRPr lang="en-US" sz="1000" dirty="0"/>
          </a:p>
        </p:txBody>
      </p:sp>
      <p:sp>
        <p:nvSpPr>
          <p:cNvPr id="33" name="Text 30"/>
          <p:cNvSpPr/>
          <p:nvPr/>
        </p:nvSpPr>
        <p:spPr>
          <a:xfrm>
            <a:off x="10195560" y="5047488"/>
            <a:ext cx="1463040" cy="237744"/>
          </a:xfrm>
          <a:prstGeom prst="rect">
            <a:avLst/>
          </a:prstGeom>
          <a:noFill/>
          <a:ln/>
        </p:spPr>
        <p:txBody>
          <a:bodyPr wrap="square" rtlCol="0" anchor="ctr"/>
          <a:lstStyle/>
          <a:p>
            <a:pPr algn="r" indent="0" marL="0">
              <a:buNone/>
            </a:pPr>
            <a:r>
              <a:rPr lang="en-US" sz="1000" b="1" dirty="0">
                <a:solidFill>
                  <a:srgbClr val="5B6178"/>
                </a:solidFill>
                <a:latin typeface="Calibri" pitchFamily="34" charset="0"/>
                <a:ea typeface="Calibri" pitchFamily="34" charset="-122"/>
                <a:cs typeface="Calibri" pitchFamily="34" charset="-120"/>
              </a:rPr>
              <a:t>136</a:t>
            </a:r>
            <a:endParaRPr lang="en-US" sz="1000" dirty="0"/>
          </a:p>
        </p:txBody>
      </p:sp>
      <p:sp>
        <p:nvSpPr>
          <p:cNvPr id="34" name="Text 31"/>
          <p:cNvSpPr/>
          <p:nvPr/>
        </p:nvSpPr>
        <p:spPr>
          <a:xfrm>
            <a:off x="6263640" y="5294376"/>
            <a:ext cx="4023360" cy="237744"/>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Protect (high value, low risk)</a:t>
            </a:r>
            <a:endParaRPr lang="en-US" sz="1000" dirty="0"/>
          </a:p>
        </p:txBody>
      </p:sp>
      <p:sp>
        <p:nvSpPr>
          <p:cNvPr id="35" name="Text 32"/>
          <p:cNvSpPr/>
          <p:nvPr/>
        </p:nvSpPr>
        <p:spPr>
          <a:xfrm>
            <a:off x="10195560" y="5294376"/>
            <a:ext cx="1463040" cy="237744"/>
          </a:xfrm>
          <a:prstGeom prst="rect">
            <a:avLst/>
          </a:prstGeom>
          <a:noFill/>
          <a:ln/>
        </p:spPr>
        <p:txBody>
          <a:bodyPr wrap="square" rtlCol="0" anchor="ctr"/>
          <a:lstStyle/>
          <a:p>
            <a:pPr algn="r" indent="0" marL="0">
              <a:buNone/>
            </a:pPr>
            <a:r>
              <a:rPr lang="en-US" sz="1000" b="1" dirty="0">
                <a:solidFill>
                  <a:srgbClr val="2C7A57"/>
                </a:solidFill>
                <a:latin typeface="Calibri" pitchFamily="34" charset="0"/>
                <a:ea typeface="Calibri" pitchFamily="34" charset="-122"/>
                <a:cs typeface="Calibri" pitchFamily="34" charset="-120"/>
              </a:rPr>
              <a:t>64</a:t>
            </a:r>
            <a:endParaRPr lang="en-US" sz="1000" dirty="0"/>
          </a:p>
        </p:txBody>
      </p:sp>
      <p:sp>
        <p:nvSpPr>
          <p:cNvPr id="36" name="Text 33"/>
          <p:cNvSpPr/>
          <p:nvPr/>
        </p:nvSpPr>
        <p:spPr>
          <a:xfrm>
            <a:off x="6263640" y="5541264"/>
            <a:ext cx="4023360" cy="237744"/>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Low priority (low value, high risk)</a:t>
            </a:r>
            <a:endParaRPr lang="en-US" sz="1000" dirty="0"/>
          </a:p>
        </p:txBody>
      </p:sp>
      <p:sp>
        <p:nvSpPr>
          <p:cNvPr id="37" name="Text 34"/>
          <p:cNvSpPr/>
          <p:nvPr/>
        </p:nvSpPr>
        <p:spPr>
          <a:xfrm>
            <a:off x="10195560" y="5541264"/>
            <a:ext cx="1463040" cy="237744"/>
          </a:xfrm>
          <a:prstGeom prst="rect">
            <a:avLst/>
          </a:prstGeom>
          <a:noFill/>
          <a:ln/>
        </p:spPr>
        <p:txBody>
          <a:bodyPr wrap="square" rtlCol="0" anchor="ctr"/>
          <a:lstStyle/>
          <a:p>
            <a:pPr algn="r" indent="0" marL="0">
              <a:buNone/>
            </a:pPr>
            <a:r>
              <a:rPr lang="en-US" sz="1000" b="1" dirty="0">
                <a:solidFill>
                  <a:srgbClr val="5B6178"/>
                </a:solidFill>
                <a:latin typeface="Calibri" pitchFamily="34" charset="0"/>
                <a:ea typeface="Calibri" pitchFamily="34" charset="-122"/>
                <a:cs typeface="Calibri" pitchFamily="34" charset="-120"/>
              </a:rPr>
              <a:t>64</a:t>
            </a:r>
            <a:endParaRPr lang="en-US" sz="1000" dirty="0"/>
          </a:p>
        </p:txBody>
      </p:sp>
      <p:sp>
        <p:nvSpPr>
          <p:cNvPr id="38" name="Text 35"/>
          <p:cNvSpPr/>
          <p:nvPr/>
        </p:nvSpPr>
        <p:spPr>
          <a:xfrm>
            <a:off x="548640" y="6016752"/>
            <a:ext cx="11064240" cy="548640"/>
          </a:xfrm>
          <a:prstGeom prst="rect">
            <a:avLst/>
          </a:prstGeom>
          <a:noFill/>
          <a:ln/>
        </p:spPr>
        <p:txBody>
          <a:bodyPr wrap="square" rtlCol="0" anchor="ctr"/>
          <a:lstStyle/>
          <a:p>
            <a:pPr indent="0" marL="0">
              <a:lnSpc>
                <a:spcPts val="1050"/>
              </a:lnSpc>
              <a:buNone/>
            </a:pPr>
            <a:r>
              <a:rPr lang="en-US" sz="870" i="1" dirty="0">
                <a:solidFill>
                  <a:srgbClr val="5B6178"/>
                </a:solidFill>
                <a:latin typeface="Calibri" pitchFamily="34" charset="0"/>
                <a:ea typeface="Calibri" pitchFamily="34" charset="-122"/>
                <a:cs typeface="Calibri" pitchFamily="34" charset="-120"/>
              </a:rPr>
              <a:t>Flags come from 5-fold OOF predictions; AUC/PR-AUC read modest next to the revenue model's R² because churn is a rarer, noisier event to call than revenue — typical for a churn classifier, not a modeling miss. realized_ad_revenue's importance is a venue_type confound, not a causal driver. Each "Save now" / flagged venue also carries a SHAP top driver (from the fold model that never saw it) mapped to a concrete action — technical dispatch, AM retention call, content review — not a generic "reach out."</a:t>
            </a:r>
            <a:endParaRPr lang="en-US" sz="870" dirty="0"/>
          </a:p>
        </p:txBody>
      </p:sp>
      <p:sp>
        <p:nvSpPr>
          <p:cNvPr id="39" name="Text 36"/>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178"/>
                </a:solidFill>
                <a:latin typeface="Calibri" pitchFamily="34" charset="0"/>
                <a:ea typeface="Calibri" pitchFamily="34" charset="-122"/>
                <a:cs typeface="Calibri" pitchFamily="34" charset="-120"/>
              </a:rPr>
              <a:t>Venue retention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640080"/>
            <a:ext cx="914400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Takeaways</a:t>
            </a:r>
            <a:endParaRPr lang="en-US" sz="3400" dirty="0"/>
          </a:p>
        </p:txBody>
      </p:sp>
      <p:sp>
        <p:nvSpPr>
          <p:cNvPr id="3" name="Shape 1"/>
          <p:cNvSpPr/>
          <p:nvPr/>
        </p:nvSpPr>
        <p:spPr>
          <a:xfrm>
            <a:off x="822960" y="1783080"/>
            <a:ext cx="365760" cy="365760"/>
          </a:xfrm>
          <a:prstGeom prst="ellipse">
            <a:avLst/>
          </a:prstGeom>
          <a:solidFill>
            <a:srgbClr val="E8871E"/>
          </a:solidFill>
          <a:ln/>
        </p:spPr>
      </p:sp>
      <p:sp>
        <p:nvSpPr>
          <p:cNvPr id="4" name="Text 2"/>
          <p:cNvSpPr/>
          <p:nvPr/>
        </p:nvSpPr>
        <p:spPr>
          <a:xfrm>
            <a:off x="822960" y="1783080"/>
            <a:ext cx="365760" cy="365760"/>
          </a:xfrm>
          <a:prstGeom prst="rect">
            <a:avLst/>
          </a:prstGeom>
          <a:noFill/>
          <a:ln/>
        </p:spPr>
        <p:txBody>
          <a:bodyPr wrap="square"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417320" y="1691640"/>
            <a:ext cx="10058400" cy="822960"/>
          </a:xfrm>
          <a:prstGeom prst="rect">
            <a:avLst/>
          </a:prstGeom>
          <a:noFill/>
          <a:ln/>
        </p:spPr>
        <p:txBody>
          <a:bodyPr wrap="square"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Match the method to the assignment mechanism — RCT where randomization is designed, synthetic control where it isn't, each with its own validation check.</a:t>
            </a:r>
            <a:endParaRPr lang="en-US" sz="1450" dirty="0"/>
          </a:p>
        </p:txBody>
      </p:sp>
      <p:sp>
        <p:nvSpPr>
          <p:cNvPr id="6" name="Shape 4"/>
          <p:cNvSpPr/>
          <p:nvPr/>
        </p:nvSpPr>
        <p:spPr>
          <a:xfrm>
            <a:off x="822960" y="2834640"/>
            <a:ext cx="365760" cy="365760"/>
          </a:xfrm>
          <a:prstGeom prst="ellipse">
            <a:avLst/>
          </a:prstGeom>
          <a:solidFill>
            <a:srgbClr val="E8871E"/>
          </a:solidFill>
          <a:ln/>
        </p:spPr>
      </p:sp>
      <p:sp>
        <p:nvSpPr>
          <p:cNvPr id="7" name="Text 5"/>
          <p:cNvSpPr/>
          <p:nvPr/>
        </p:nvSpPr>
        <p:spPr>
          <a:xfrm>
            <a:off x="822960" y="2834640"/>
            <a:ext cx="365760" cy="365760"/>
          </a:xfrm>
          <a:prstGeom prst="rect">
            <a:avLst/>
          </a:prstGeom>
          <a:noFill/>
          <a:ln/>
        </p:spPr>
        <p:txBody>
          <a:bodyPr wrap="square"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1417320" y="2743200"/>
            <a:ext cx="10058400" cy="822960"/>
          </a:xfrm>
          <a:prstGeom prst="rect">
            <a:avLst/>
          </a:prstGeom>
          <a:noFill/>
          <a:ln/>
        </p:spPr>
        <p:txBody>
          <a:bodyPr wrap="square"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An uncalibrated MMM understated the RCT-calibrated estimate by up to 165% here — experiment calibration isn't optional polish, it's the identification fix.</a:t>
            </a:r>
            <a:endParaRPr lang="en-US" sz="1450" dirty="0"/>
          </a:p>
        </p:txBody>
      </p:sp>
      <p:sp>
        <p:nvSpPr>
          <p:cNvPr id="9" name="Shape 7"/>
          <p:cNvSpPr/>
          <p:nvPr/>
        </p:nvSpPr>
        <p:spPr>
          <a:xfrm>
            <a:off x="822960" y="3886200"/>
            <a:ext cx="365760" cy="365760"/>
          </a:xfrm>
          <a:prstGeom prst="ellipse">
            <a:avLst/>
          </a:prstGeom>
          <a:solidFill>
            <a:srgbClr val="E8871E"/>
          </a:solidFill>
          <a:ln/>
        </p:spPr>
      </p:sp>
      <p:sp>
        <p:nvSpPr>
          <p:cNvPr id="10" name="Text 8"/>
          <p:cNvSpPr/>
          <p:nvPr/>
        </p:nvSpPr>
        <p:spPr>
          <a:xfrm>
            <a:off x="822960" y="3886200"/>
            <a:ext cx="365760" cy="365760"/>
          </a:xfrm>
          <a:prstGeom prst="rect">
            <a:avLst/>
          </a:prstGeom>
          <a:noFill/>
          <a:ln/>
        </p:spPr>
        <p:txBody>
          <a:bodyPr wrap="square"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3</a:t>
            </a:r>
            <a:endParaRPr lang="en-US" sz="1400" dirty="0"/>
          </a:p>
        </p:txBody>
      </p:sp>
      <p:sp>
        <p:nvSpPr>
          <p:cNvPr id="11" name="Text 9"/>
          <p:cNvSpPr/>
          <p:nvPr/>
        </p:nvSpPr>
        <p:spPr>
          <a:xfrm>
            <a:off x="1417320" y="3794760"/>
            <a:ext cx="10058400" cy="822960"/>
          </a:xfrm>
          <a:prstGeom prst="rect">
            <a:avLst/>
          </a:prstGeom>
          <a:noFill/>
          <a:ln/>
        </p:spPr>
        <p:txBody>
          <a:bodyPr wrap="square"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Optimization needs the right algorithm for the curve's shape — a greedy heuristic silently lost to a naive baseline on non-concave response curves; the exact DP formulation doesn't.</a:t>
            </a:r>
            <a:endParaRPr lang="en-US" sz="1450" dirty="0"/>
          </a:p>
        </p:txBody>
      </p:sp>
      <p:sp>
        <p:nvSpPr>
          <p:cNvPr id="12" name="Shape 10"/>
          <p:cNvSpPr/>
          <p:nvPr/>
        </p:nvSpPr>
        <p:spPr>
          <a:xfrm>
            <a:off x="822960" y="4937760"/>
            <a:ext cx="365760" cy="365760"/>
          </a:xfrm>
          <a:prstGeom prst="ellipse">
            <a:avLst/>
          </a:prstGeom>
          <a:solidFill>
            <a:srgbClr val="E8871E"/>
          </a:solidFill>
          <a:ln/>
        </p:spPr>
      </p:sp>
      <p:sp>
        <p:nvSpPr>
          <p:cNvPr id="13" name="Text 11"/>
          <p:cNvSpPr/>
          <p:nvPr/>
        </p:nvSpPr>
        <p:spPr>
          <a:xfrm>
            <a:off x="822960" y="4937760"/>
            <a:ext cx="365760" cy="365760"/>
          </a:xfrm>
          <a:prstGeom prst="rect">
            <a:avLst/>
          </a:prstGeom>
          <a:noFill/>
          <a:ln/>
        </p:spPr>
        <p:txBody>
          <a:bodyPr wrap="square"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1417320" y="4846320"/>
            <a:ext cx="10058400" cy="822960"/>
          </a:xfrm>
          <a:prstGeom prst="rect">
            <a:avLst/>
          </a:prstGeom>
          <a:noFill/>
          <a:ln/>
        </p:spPr>
        <p:txBody>
          <a:bodyPr wrap="square"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One connected system, not four separate projects: the venue-revenue model reuses the causal pipeline's per-exposure value as an input; the retention model then combines its own churn-risk score with that revenue prediction into one value-×-risk priority quadrant — both models are evaluated honestly out-of-fold, never scored on a venue they were trained on, before either is trusted.</a:t>
            </a:r>
            <a:endParaRPr lang="en-US" sz="1450" dirty="0"/>
          </a:p>
        </p:txBody>
      </p:sp>
      <p:sp>
        <p:nvSpPr>
          <p:cNvPr id="15" name="Text 13"/>
          <p:cNvSpPr/>
          <p:nvPr/>
        </p:nvSpPr>
        <p:spPr>
          <a:xfrm>
            <a:off x="822960" y="6080760"/>
            <a:ext cx="5486400" cy="457200"/>
          </a:xfrm>
          <a:prstGeom prst="rect">
            <a:avLst/>
          </a:prstGeom>
          <a:noFill/>
          <a:ln/>
        </p:spPr>
        <p:txBody>
          <a:bodyPr wrap="square" rtlCol="0" anchor="ctr"/>
          <a:lstStyle/>
          <a:p>
            <a:pPr indent="0" marL="0">
              <a:buNone/>
            </a:pPr>
            <a:r>
              <a:rPr lang="en-US" sz="1600" i="1" dirty="0">
                <a:solidFill>
                  <a:srgbClr val="CADCFC"/>
                </a:solidFill>
                <a:latin typeface="Cambria" pitchFamily="34" charset="0"/>
                <a:ea typeface="Cambria" pitchFamily="34" charset="-122"/>
                <a:cs typeface="Cambria"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2026-09-08T13:12:22Z</dcterms:created>
  <dcterms:modified xsi:type="dcterms:W3CDTF">2026-09-08T13:12:22Z</dcterms:modified>
</cp:coreProperties>
</file>