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16.79</c:v>
                </c:pt>
                <c:pt idx="1">
                  <c:v>10.32</c:v>
                </c:pt>
                <c:pt idx="2">
                  <c:v>17.88</c:v>
                </c:pt>
                <c:pt idx="3">
                  <c:v>7.63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lift (network-pooled)</c:v>
                </c:pt>
              </c:strCache>
            </c:strRef>
          </c:tx>
          <c:spPr>
            <a:solidFill>
              <a:srgbClr val="1E2761"/>
            </a:solidFill>
            <a:effectLst/>
          </c:spPr>
          <c:invertIfNegative val="0"/>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dPt>
            <c:idx val="0"/>
            <c:invertIfNegative val="0"/>
            <c:bubble3D val="0"/>
            <c:spPr>
              <a:solidFill>
                <a:srgbClr val="1E2761"/>
              </a:solidFill>
              <a:effectLst/>
            </c:spPr>
          </c:dPt>
          <c:dPt>
            <c:idx val="1"/>
            <c:invertIfNegative val="0"/>
            <c:bubble3D val="0"/>
            <c:spPr>
              <a:solidFill>
                <a:srgbClr val="E8871E"/>
              </a:solidFill>
              <a:effectLst/>
            </c:spPr>
          </c:dPt>
          <c:dPt>
            <c:idx val="2"/>
            <c:invertIfNegative val="0"/>
            <c:bubble3D val="0"/>
            <c:spPr>
              <a:solidFill>
                <a:srgbClr val="B7BCCB"/>
              </a:solidFill>
              <a:effectLst/>
            </c:spPr>
          </c:dPt>
          <c:dPt>
            <c:idx val="3"/>
            <c:invertIfNegative val="0"/>
            <c:bubble3D val="0"/>
            <c:spPr>
              <a:solidFill>
                <a:srgbClr val="B7BCCB"/>
              </a:solidFill>
              <a:effectLst/>
            </c:spPr>
          </c:dPt>
          <c:cat>
            <c:multiLvlStrRef>
              <c:f>Sheet1!$A$2:$A$5</c:f>
              <c:multiLvlStrCache>
                <c:ptCount val="4"/>
                <c:lvl>
                  <c:pt idx="0">
                    <c:v>During campaign</c:v>
                  </c:pt>
                  <c:pt idx="1">
                    <c:v>0–10 wks after</c:v>
                  </c:pt>
                  <c:pt idx="2">
                    <c:v>10–20 wks after</c:v>
                  </c:pt>
                  <c:pt idx="3">
                    <c:v>Full post-campaign</c:v>
                  </c:pt>
                </c:lvl>
              </c:multiLvlStrCache>
            </c:multiLvlStrRef>
          </c:cat>
          <c:val>
            <c:numRef>
              <c:f>Sheet1!$B$2:$B$5</c:f>
              <c:numCache>
                <c:formatCode>General</c:formatCode>
                <c:ptCount val="4"/>
                <c:pt idx="0">
                  <c:v>13.26</c:v>
                </c:pt>
                <c:pt idx="1">
                  <c:v>2.52</c:v>
                </c:pt>
                <c:pt idx="2">
                  <c:v>-1.43</c:v>
                </c:pt>
                <c:pt idx="3">
                  <c:v>0.05</c:v>
                </c:pt>
              </c:numCache>
            </c:numRef>
          </c:val>
        </c:ser>
        <c:dLbls>
          <c:numFmt formatCode="+0.0;-0.0;0.0" sourceLinked="0"/>
          <c:txPr>
            <a:bodyPr/>
            <a:lstStyle/>
            <a:p>
              <a:pPr>
                <a:defRPr b="0" i="0" strike="noStrike" sz="10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Measured lift</c:v>
                </c:pt>
              </c:strCache>
            </c:strRef>
          </c:tx>
          <c:spPr>
            <a:solidFill>
              <a:srgbClr val="1E2761"/>
            </a:solidFill>
            <a:effectLst/>
          </c:spPr>
          <c:invertIfNegative val="0"/>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15.46</c:v>
                </c:pt>
                <c:pt idx="1">
                  <c:v>9.92</c:v>
                </c:pt>
                <c:pt idx="2">
                  <c:v>17.96</c:v>
                </c:pt>
                <c:pt idx="3">
                  <c:v>6.53</c:v>
                </c:pt>
              </c:numCache>
            </c:numRef>
          </c:val>
        </c:ser>
        <c:dLbls>
          <c:numFmt formatCode="#,##0" sourceLinked="0"/>
          <c:txPr>
            <a:bodyPr/>
            <a:lstStyle/>
            <a:p>
              <a:pPr>
                <a:defRPr b="0" i="0" strike="noStrike" sz="90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Weekly incremental foot traffic</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(uncalibrated)</c:v>
                </c:pt>
              </c:strCache>
            </c:strRef>
          </c:tx>
          <c:spPr>
            <a:solidFill>
              <a:srgbClr val="A9AFC7"/>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7.97</c:v>
                </c:pt>
                <c:pt idx="1">
                  <c:v>4.93</c:v>
                </c:pt>
                <c:pt idx="2">
                  <c:v>16.25</c:v>
                </c:pt>
                <c:pt idx="3">
                  <c:v>4.09</c:v>
                </c:pt>
              </c:numCache>
            </c:numRef>
          </c:val>
        </c:ser>
        <c:ser>
          <c:idx val="1"/>
          <c:order val="1"/>
          <c:tx>
            <c:strRef>
              <c:f>Sheet1!$C$1</c:f>
              <c:strCache>
                <c:ptCount val="1"/>
                <c:pt idx="0">
                  <c:v>RCT-calibrated MMM</c:v>
                </c:pt>
              </c:strCache>
            </c:strRef>
          </c:tx>
          <c:spPr>
            <a:solidFill>
              <a:srgbClr val="1E2761"/>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18.69</c:v>
                </c:pt>
                <c:pt idx="1">
                  <c:v>13.05</c:v>
                </c:pt>
                <c:pt idx="2">
                  <c:v>19.57</c:v>
                </c:pt>
                <c:pt idx="3">
                  <c:v>8.19</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Naive MMM (blind to competing media)</c:v>
                </c:pt>
              </c:strCache>
            </c:strRef>
          </c:tx>
          <c:spPr>
            <a:solidFill>
              <a:srgbClr val="C44E52"/>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17.47</c:v>
                </c:pt>
                <c:pt idx="1">
                  <c:v>14.01</c:v>
                </c:pt>
                <c:pt idx="2">
                  <c:v>20.63</c:v>
                </c:pt>
                <c:pt idx="3">
                  <c:v>17.94</c:v>
                </c:pt>
              </c:numCache>
            </c:numRef>
          </c:val>
        </c:ser>
        <c:ser>
          <c:idx val="1"/>
          <c:order val="1"/>
          <c:tx>
            <c:strRef>
              <c:f>Sheet1!$C$1</c:f>
              <c:strCache>
                <c:ptCount val="1"/>
                <c:pt idx="0">
                  <c:v>Confound-aware MMM (controls for it)</c:v>
                </c:pt>
              </c:strCache>
            </c:strRef>
          </c:tx>
          <c:spPr>
            <a:solidFill>
              <a:srgbClr val="55A868"/>
            </a:solidFill>
            <a:effectLst/>
          </c:spPr>
          <c:invertIfNegative val="0"/>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Sheet1!$C$2:$C$5</c:f>
              <c:numCache>
                <c:formatCode>General</c:formatCode>
                <c:ptCount val="4"/>
                <c:pt idx="0">
                  <c:v>7.98</c:v>
                </c:pt>
                <c:pt idx="1">
                  <c:v>5</c:v>
                </c:pt>
                <c:pt idx="2">
                  <c:v>15.1</c:v>
                </c:pt>
                <c:pt idx="3">
                  <c:v>3.76</c:v>
                </c:pt>
              </c:numCache>
            </c:numRef>
          </c:val>
        </c:ser>
        <c:dLbls>
          <c:numFmt formatCode="#,##0" sourceLinked="0"/>
          <c:txPr>
            <a:bodyPr/>
            <a:lstStyle/>
            <a:p>
              <a:pPr>
                <a:defRPr b="0" i="0" strike="noStrike" sz="8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Max lift at saturation</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The next dollar's return rises, THEN falls — not monotonic</a:t>
            </a:r>
          </a:p>
        </c:rich>
      </c:tx>
      <c:layout/>
      <c:overlay val="0"/>
    </c:title>
    <c:autoTitleDeleted val="0"/>
    <c:plotArea>
      <c:layout/>
      <c:lineChart>
        <c:varyColors val="0"/>
        <c:ser>
          <c:idx val="0"/>
          <c:order val="0"/>
          <c:tx>
            <c:strRef>
              <c:f>Sheet1!$B$1</c:f>
              <c:strCache>
                <c:ptCount val="1"/>
                <c:pt idx="0">
                  <c:v>Restaurant: incremental lift per $1,000 spent</c:v>
                </c:pt>
              </c:strCache>
            </c:strRef>
          </c:tx>
          <c:spPr>
            <a:solidFill>
              <a:srgbClr val="1E2761"/>
            </a:solidFill>
            <a:ln w="31750" cap="flat">
              <a:solidFill>
                <a:srgbClr val="1E2761"/>
              </a:solidFill>
              <a:prstDash val="solid"/>
              <a:round/>
            </a:ln>
            <a:effectLst/>
          </c:spPr>
          <c:invertIfNegative val="0"/>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c:symbol val="circle"/>
            <c:size val="6"/>
            <c:spPr>
              <a:solidFill>
                <a:srgbClr val="1E2761"/>
              </a:solidFill>
              <a:ln w="9525" cap="flat">
                <a:solidFill>
                  <a:srgbClr val="1E2761"/>
                </a:solidFill>
                <a:prstDash val="solid"/>
                <a:round/>
              </a:ln>
              <a:effectLst/>
            </c:spPr>
          </c:marker>
          <c:cat>
            <c:multiLvlStrRef>
              <c:f>Sheet1!$A$2:$A$7</c:f>
              <c:multiLvlStrCache>
                <c:ptCount val="6"/>
                <c:lvl>
                  <c:pt idx="0">
                    <c:v>.25</c:v>
                  </c:pt>
                  <c:pt idx="1">
                    <c:v>.5</c:v>
                  </c:pt>
                  <c:pt idx="2">
                    <c:v>.75</c:v>
                  </c:pt>
                  <c:pt idx="3">
                    <c:v>1.0</c:v>
                  </c:pt>
                  <c:pt idx="4">
                    <c:v>1.5</c:v>
                  </c:pt>
                  <c:pt idx="5">
                    <c:v>2.0</c:v>
                  </c:pt>
                </c:lvl>
              </c:multiLvlStrCache>
            </c:multiLvlStrRef>
          </c:cat>
          <c:val>
            <c:numRef>
              <c:f>Sheet1!$B$2:$B$7</c:f>
              <c:numCache>
                <c:formatCode>General</c:formatCode>
                <c:ptCount val="6"/>
                <c:pt idx="0">
                  <c:v>5</c:v>
                </c:pt>
                <c:pt idx="1">
                  <c:v>34.2</c:v>
                </c:pt>
                <c:pt idx="2">
                  <c:v>86.9</c:v>
                </c:pt>
                <c:pt idx="3">
                  <c:v>147.5</c:v>
                </c:pt>
                <c:pt idx="4">
                  <c:v>205.8</c:v>
                </c:pt>
                <c:pt idx="5">
                  <c:v>198</c:v>
                </c:pt>
              </c:numCache>
            </c:numRef>
          </c:val>
          <c:smooth val="0"/>
        </c:ser>
        <c:dLbls>
          <c:numFmt formatCode="0.0" sourceLinked="0"/>
          <c:txPr>
            <a:bodyPr/>
            <a:lstStyle/>
            <a:p>
              <a:pPr>
                <a:defRPr b="0" i="0" strike="noStrike" sz="900" u="none">
                  <a:solidFill>
                    <a:srgbClr val="1A1A2E"/>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50" b="0" i="0" u="none" strike="noStrike">
                    <a:solidFill>
                      <a:srgbClr val="000000"/>
                    </a:solidFill>
                    <a:latin typeface="Arial"/>
                  </a:defRPr>
                </a:pPr>
                <a:r>
                  <a:rPr sz="950" b="0" i="0" u="none" strike="noStrike">
                    <a:solidFill>
                      <a:srgbClr val="000000"/>
                    </a:solidFill>
                    <a:latin typeface="Arial"/>
                  </a:rPr>
                  <a:t>Frequency (plays/venue/wk)</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title>
          <c:tx>
            <c:rich>
              <a:bodyPr/>
              <a:lstStyle/>
              <a:p>
                <a:pPr>
                  <a:defRPr sz="1000" b="0" i="0" u="none" strike="noStrike">
                    <a:solidFill>
                      <a:srgbClr val="000000"/>
                    </a:solidFill>
                    <a:latin typeface="Arial"/>
                  </a:defRPr>
                </a:pPr>
                <a:r>
                  <a:rPr sz="1000" b="0" i="0" u="none" strike="noStrike">
                    <a:solidFill>
                      <a:srgbClr val="000000"/>
                    </a:solidFill>
                    <a:latin typeface="Arial"/>
                  </a:rPr>
                  <a:t>Incremental lift per $1,000</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E2761"/>
                </a:solidFill>
                <a:latin typeface="Arial"/>
              </a:defRPr>
            </a:pPr>
            <a:r>
              <a:rPr sz="1050" b="0" i="0" u="none" strike="noStrike">
                <a:solidFill>
                  <a:srgbClr val="1E2761"/>
                </a:solidFill>
                <a:latin typeface="Arial"/>
              </a:rPr>
              <a:t>$100,000 weekly budget — DP-optimal allocation</a:t>
            </a:r>
          </a:p>
        </c:rich>
      </c:tx>
      <c:layout/>
      <c:overlay val="0"/>
    </c:title>
    <c:autoTitleDeleted val="0"/>
    <c:plotArea>
      <c:layout/>
      <c:barChart>
        <c:barDir val="col"/>
        <c:grouping val="clustered"/>
        <c:varyColors val="0"/>
        <c:ser>
          <c:idx val="0"/>
          <c:order val="0"/>
          <c:tx>
            <c:strRef>
              <c:f>Sheet1!$B$1</c:f>
              <c:strCache>
                <c:ptCount val="1"/>
                <c:pt idx="0">
                  <c:v>Allocated weekly budget ($)</c:v>
                </c:pt>
              </c:strCache>
            </c:strRef>
          </c:tx>
          <c:spPr>
            <a:solidFill>
              <a:srgbClr val="1E2761"/>
            </a:solidFill>
            <a:effectLst/>
          </c:spPr>
          <c:invertIfNegative val="0"/>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cat>
            <c:multiLvlStrRef>
              <c:f>Sheet1!$A$2:$A$5</c:f>
              <c:multiLvlStrCache>
                <c:ptCount val="4"/>
                <c:lvl>
                  <c:pt idx="0">
                    <c:v>Restaurants</c:v>
                  </c:pt>
                  <c:pt idx="1">
                    <c:v>Gyms</c:v>
                  </c:pt>
                  <c:pt idx="2">
                    <c:v>Bars</c:v>
                  </c:pt>
                  <c:pt idx="3">
                    <c:v>Waiting Rooms</c:v>
                  </c:pt>
                </c:lvl>
              </c:multiLvlStrCache>
            </c:multiLvlStrRef>
          </c:cat>
          <c:val>
            <c:numRef>
              <c:f>Sheet1!$B$2:$B$5</c:f>
              <c:numCache>
                <c:formatCode>General</c:formatCode>
                <c:ptCount val="4"/>
                <c:pt idx="0">
                  <c:v>26000</c:v>
                </c:pt>
                <c:pt idx="1">
                  <c:v>25500</c:v>
                </c:pt>
                <c:pt idx="2">
                  <c:v>38250</c:v>
                </c:pt>
                <c:pt idx="3">
                  <c:v>10350</c:v>
                </c:pt>
              </c:numCache>
            </c:numRef>
          </c:val>
        </c:ser>
        <c:dLbls>
          <c:numFmt formatCode="$#,##0" sourceLinked="0"/>
          <c:txPr>
            <a:bodyPr/>
            <a:lstStyle/>
            <a:p>
              <a:pPr>
                <a:defRPr b="0" i="0" strike="noStrike" sz="950" u="none">
                  <a:solidFill>
                    <a:srgbClr val="1A1A2E"/>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5E5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50" b="0" i="0" u="none" strike="noStrike">
                <a:solidFill>
                  <a:srgbClr val="1E2761"/>
                </a:solidFill>
                <a:latin typeface="Arial"/>
              </a:defRPr>
            </a:pPr>
            <a:r>
              <a:rPr sz="1150" b="0" i="0" u="none" strike="noStrike">
                <a:solidFill>
                  <a:srgbClr val="1E2761"/>
                </a:solidFill>
                <a:latin typeface="Arial"/>
              </a:rPr>
              <a:t>Feature importance (permutation, test set)</a:t>
            </a:r>
          </a:p>
        </c:rich>
      </c:tx>
      <c:layout/>
      <c:overlay val="0"/>
    </c:title>
    <c:autoTitleDeleted val="0"/>
    <c:plotArea>
      <c:layout/>
      <c:barChart>
        <c:barDir val="bar"/>
        <c:grouping val="clustered"/>
        <c:varyColors val="0"/>
        <c:ser>
          <c:idx val="0"/>
          <c:order val="0"/>
          <c:tx>
            <c:strRef>
              <c:f>Sheet1!$B$1</c:f>
              <c:strCache>
                <c:ptCount val="1"/>
                <c:pt idx="0">
                  <c:v>Importance (mean R² drop)</c:v>
                </c:pt>
              </c:strCache>
            </c:strRef>
          </c:tx>
          <c:spPr>
            <a:solidFill>
              <a:srgbClr val="55A868"/>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dwell time min</c:v>
                  </c:pt>
                  <c:pt idx="1">
                    <c:v>audience quality</c:v>
                  </c:pt>
                  <c:pt idx="2">
                    <c:v>geo cluster</c:v>
                  </c:pt>
                  <c:pt idx="3">
                    <c:v>baseline level</c:v>
                  </c:pt>
                </c:lvl>
              </c:multiLvlStrCache>
            </c:multiLvlStrRef>
          </c:cat>
          <c:val>
            <c:numRef>
              <c:f>Sheet1!$B$2:$B$5</c:f>
              <c:numCache>
                <c:formatCode>General</c:formatCode>
                <c:ptCount val="4"/>
                <c:pt idx="0">
                  <c:v>0.075</c:v>
                </c:pt>
                <c:pt idx="1">
                  <c:v>0.142</c:v>
                </c:pt>
                <c:pt idx="2">
                  <c:v>0.269</c:v>
                </c:pt>
                <c:pt idx="3">
                  <c:v>0.813</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E2761"/>
                </a:solidFill>
                <a:latin typeface="Arial"/>
              </a:defRPr>
            </a:pPr>
            <a:r>
              <a:rPr sz="1100" b="0" i="0" u="none" strike="noStrike">
                <a:solidFill>
                  <a:srgbClr val="1E2761"/>
                </a:solidFill>
                <a:latin typeface="Arial"/>
              </a:rPr>
              <a:t>Feature importance (permutation, test set) — leading indicators</a:t>
            </a:r>
          </a:p>
        </c:rich>
      </c:tx>
      <c:layout/>
      <c:overlay val="0"/>
    </c:title>
    <c:autoTitleDeleted val="0"/>
    <c:plotArea>
      <c:layout/>
      <c:barChart>
        <c:barDir val="bar"/>
        <c:grouping val="clustered"/>
        <c:varyColors val="0"/>
        <c:ser>
          <c:idx val="0"/>
          <c:order val="0"/>
          <c:tx>
            <c:strRef>
              <c:f>Sheet1!$B$1</c:f>
              <c:strCache>
                <c:ptCount val="1"/>
                <c:pt idx="0">
                  <c:v>Importance (mean AUC drop)</c:v>
                </c:pt>
              </c:strCache>
            </c:strRef>
          </c:tx>
          <c:spPr>
            <a:solidFill>
              <a:srgbClr val="C44E52"/>
            </a:solidFill>
            <a:effectLst/>
          </c:spPr>
          <c:invertIfNegative val="0"/>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competitor outreach flag</c:v>
                  </c:pt>
                  <c:pt idx="1">
                    <c:v>engagement trend 90d</c:v>
                  </c:pt>
                  <c:pt idx="2">
                    <c:v>realized ad revenue</c:v>
                  </c:pt>
                  <c:pt idx="3">
                    <c:v>screen uptime pct</c:v>
                  </c:pt>
                </c:lvl>
              </c:multiLvlStrCache>
            </c:multiLvlStrRef>
          </c:cat>
          <c:val>
            <c:numRef>
              <c:f>Sheet1!$B$2:$B$5</c:f>
              <c:numCache>
                <c:formatCode>General</c:formatCode>
                <c:ptCount val="4"/>
                <c:pt idx="0">
                  <c:v>0.0089</c:v>
                </c:pt>
                <c:pt idx="1">
                  <c:v>0.0116</c:v>
                </c:pt>
                <c:pt idx="2">
                  <c:v>0.0387</c:v>
                </c:pt>
                <c:pt idx="3">
                  <c:v>0.0792</c:v>
                </c:pt>
              </c:numCache>
            </c:numRef>
          </c:val>
        </c:ser>
        <c:dLbls>
          <c:numFmt formatCode="0.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1A1A2E"/>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E5E5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50" b="0" i="0" u="none" strike="noStrike">
                <a:solidFill>
                  <a:srgbClr val="5B6178"/>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E2761"/>
          </a:solidFill>
          <a:ln/>
        </p:spPr>
      </p:sp>
      <p:sp>
        <p:nvSpPr>
          <p:cNvPr id="3" name="Text 1"/>
          <p:cNvSpPr/>
          <p:nvPr/>
        </p:nvSpPr>
        <p:spPr>
          <a:xfrm>
            <a:off x="822960" y="1965960"/>
            <a:ext cx="10515600" cy="640080"/>
          </a:xfrm>
          <a:prstGeom prst="rect">
            <a:avLst/>
          </a:prstGeom>
          <a:noFill/>
          <a:ln/>
        </p:spPr>
        <p:txBody>
          <a:bodyPr wrap="square" rtlCol="0" anchor="ctr"/>
          <a:lstStyle/>
          <a:p>
            <a:pPr indent="0" marL="0">
              <a:buNone/>
            </a:pPr>
            <a:r>
              <a:rPr lang="en-US" sz="2200" b="1" spc="200" kern="0" dirty="0">
                <a:solidFill>
                  <a:srgbClr val="CADCFC"/>
                </a:solidFill>
                <a:latin typeface="Calibri" pitchFamily="34" charset="0"/>
                <a:ea typeface="Calibri" pitchFamily="34" charset="-122"/>
                <a:cs typeface="Calibri" pitchFamily="34" charset="-120"/>
              </a:rPr>
              <a:t>Atmosphere TV</a:t>
            </a:r>
            <a:endParaRPr lang="en-US" sz="2200" dirty="0"/>
          </a:p>
        </p:txBody>
      </p:sp>
      <p:sp>
        <p:nvSpPr>
          <p:cNvPr id="4" name="Text 2"/>
          <p:cNvSpPr/>
          <p:nvPr/>
        </p:nvSpPr>
        <p:spPr>
          <a:xfrm>
            <a:off x="822960" y="2514600"/>
            <a:ext cx="10515600" cy="1737360"/>
          </a:xfrm>
          <a:prstGeom prst="rect">
            <a:avLst/>
          </a:prstGeom>
          <a:noFill/>
          <a:ln/>
        </p:spPr>
        <p:txBody>
          <a:bodyPr wrap="square"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DOOH Venue Incrementality &amp;</a:t>
            </a:r>
            <a:endParaRPr lang="en-US" sz="4000" dirty="0"/>
          </a:p>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Media-Mix Measurement</a:t>
            </a:r>
            <a:endParaRPr lang="en-US" sz="4000" dirty="0"/>
          </a:p>
        </p:txBody>
      </p:sp>
      <p:sp>
        <p:nvSpPr>
          <p:cNvPr id="5" name="Text 3"/>
          <p:cNvSpPr/>
          <p:nvPr/>
        </p:nvSpPr>
        <p:spPr>
          <a:xfrm>
            <a:off x="822960" y="4343400"/>
            <a:ext cx="8961120" cy="822960"/>
          </a:xfrm>
          <a:prstGeom prst="rect">
            <a:avLst/>
          </a:prstGeom>
          <a:noFill/>
          <a:ln/>
        </p:spPr>
        <p:txBody>
          <a:bodyPr wrap="square" rtlCol="0" anchor="ctr"/>
          <a:lstStyle/>
          <a:p>
            <a:pPr indent="0" marL="0">
              <a:buNone/>
            </a:pPr>
            <a:r>
              <a:rPr lang="en-US" sz="1500" i="1" dirty="0">
                <a:solidFill>
                  <a:srgbClr val="CADCFC"/>
                </a:solidFill>
                <a:latin typeface="Calibri" pitchFamily="34" charset="0"/>
                <a:ea typeface="Calibri" pitchFamily="34" charset="-122"/>
                <a:cs typeface="Calibri" pitchFamily="34" charset="-120"/>
              </a:rPr>
              <a:t>A causal measurement framework, calibrated media-mix model, budget optimizer, and venue revenue + retention models — built to answer the questions Atmosphere's advertising business and its own network economics run on.</a:t>
            </a:r>
            <a:endParaRPr lang="en-US" sz="1500" dirty="0"/>
          </a:p>
        </p:txBody>
      </p:sp>
      <p:sp>
        <p:nvSpPr>
          <p:cNvPr id="6" name="Text 4"/>
          <p:cNvSpPr/>
          <p:nvPr/>
        </p:nvSpPr>
        <p:spPr>
          <a:xfrm>
            <a:off x="822960" y="5989320"/>
            <a:ext cx="3657600" cy="320040"/>
          </a:xfrm>
          <a:prstGeom prst="rect">
            <a:avLst/>
          </a:prstGeom>
          <a:noFill/>
          <a:ln/>
        </p:spPr>
        <p:txBody>
          <a:bodyPr wrap="square" rtlCol="0" anchor="ctr"/>
          <a:lstStyle/>
          <a:p>
            <a:pPr indent="0" marL="0">
              <a:buNone/>
            </a:pPr>
            <a:r>
              <a:rPr lang="en-US" sz="1200" dirty="0">
                <a:solidFill>
                  <a:srgbClr val="CADCFC"/>
                </a:solidFill>
                <a:latin typeface="Calibri" pitchFamily="34" charset="0"/>
                <a:ea typeface="Calibri" pitchFamily="34" charset="-122"/>
                <a:cs typeface="Calibri" pitchFamily="34" charset="-120"/>
              </a:rPr>
              <a:t>Yidan Hu</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How I'd approach this role</a:t>
            </a:r>
            <a:endParaRPr lang="en-US" sz="2800" dirty="0"/>
          </a:p>
        </p:txBody>
      </p:sp>
      <p:sp>
        <p:nvSpPr>
          <p:cNvPr id="3" name="Text 1"/>
          <p:cNvSpPr/>
          <p:nvPr/>
        </p:nvSpPr>
        <p:spPr>
          <a:xfrm>
            <a:off x="548640" y="1024128"/>
            <a:ext cx="11064240" cy="411480"/>
          </a:xfrm>
          <a:prstGeom prst="rect">
            <a:avLst/>
          </a:prstGeom>
          <a:noFill/>
          <a:ln/>
        </p:spPr>
        <p:txBody>
          <a:bodyPr wrap="square" rtlCol="0" anchor="ctr"/>
          <a:lstStyle/>
          <a:p>
            <a:pPr indent="0" marL="0">
              <a:lnSpc>
                <a:spcPts val="1500"/>
              </a:lnSpc>
              <a:buNone/>
            </a:pPr>
            <a:r>
              <a:rPr lang="en-US" sz="1250" i="1" dirty="0">
                <a:solidFill>
                  <a:srgbClr val="5B6178"/>
                </a:solidFill>
                <a:latin typeface="Calibri" pitchFamily="34" charset="0"/>
                <a:ea typeface="Calibri" pitchFamily="34" charset="-122"/>
                <a:cs typeface="Calibri" pitchFamily="34" charset="-120"/>
              </a:rPr>
              <a:t>Before the demo — the operating thesis behind it: what this role should do for Atmosphere, and how I'd prioritize the first few months as its first data scientist.</a:t>
            </a:r>
            <a:endParaRPr lang="en-US" sz="1250" dirty="0"/>
          </a:p>
        </p:txBody>
      </p:sp>
      <p:sp>
        <p:nvSpPr>
          <p:cNvPr id="4" name="Shape 2"/>
          <p:cNvSpPr/>
          <p:nvPr/>
        </p:nvSpPr>
        <p:spPr>
          <a:xfrm>
            <a:off x="548640" y="1600200"/>
            <a:ext cx="5349240" cy="1554480"/>
          </a:xfrm>
          <a:prstGeom prst="roundRect">
            <a:avLst>
              <a:gd name="adj" fmla="val 5882"/>
            </a:avLst>
          </a:prstGeom>
          <a:solidFill>
            <a:srgbClr val="F5F7FC"/>
          </a:solidFill>
          <a:ln/>
        </p:spPr>
      </p:sp>
      <p:sp>
        <p:nvSpPr>
          <p:cNvPr id="5" name="Text 3"/>
          <p:cNvSpPr/>
          <p:nvPr/>
        </p:nvSpPr>
        <p:spPr>
          <a:xfrm>
            <a:off x="86868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Advertising-side measurement</a:t>
            </a:r>
            <a:endParaRPr lang="en-US" sz="1550" dirty="0"/>
          </a:p>
        </p:txBody>
      </p:sp>
      <p:sp>
        <p:nvSpPr>
          <p:cNvPr id="6" name="Text 4"/>
          <p:cNvSpPr/>
          <p:nvPr/>
        </p:nvSpPr>
        <p:spPr>
          <a:xfrm>
            <a:off x="86868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Prove Atmosphere's own incremental foot traffic with methods advertisers can trust — the sell-side differentiator this business runs on. (Answers Q1–Q2.)</a:t>
            </a:r>
            <a:endParaRPr lang="en-US" sz="1100" dirty="0"/>
          </a:p>
        </p:txBody>
      </p:sp>
      <p:sp>
        <p:nvSpPr>
          <p:cNvPr id="7" name="Shape 5"/>
          <p:cNvSpPr/>
          <p:nvPr/>
        </p:nvSpPr>
        <p:spPr>
          <a:xfrm>
            <a:off x="6172200" y="1600200"/>
            <a:ext cx="5349240" cy="1554480"/>
          </a:xfrm>
          <a:prstGeom prst="roundRect">
            <a:avLst>
              <a:gd name="adj" fmla="val 5882"/>
            </a:avLst>
          </a:prstGeom>
          <a:solidFill>
            <a:srgbClr val="F5F7FC"/>
          </a:solidFill>
          <a:ln/>
        </p:spPr>
      </p:sp>
      <p:sp>
        <p:nvSpPr>
          <p:cNvPr id="8" name="Text 6"/>
          <p:cNvSpPr/>
          <p:nvPr/>
        </p:nvSpPr>
        <p:spPr>
          <a:xfrm>
            <a:off x="6492240" y="1856232"/>
            <a:ext cx="4709160" cy="502920"/>
          </a:xfrm>
          <a:prstGeom prst="rect">
            <a:avLst/>
          </a:prstGeom>
          <a:noFill/>
          <a:ln/>
        </p:spPr>
        <p:txBody>
          <a:bodyPr wrap="square" rtlCol="0" anchor="ctr"/>
          <a:lstStyle/>
          <a:p>
            <a:pPr indent="0" marL="0">
              <a:lnSpc>
                <a:spcPts val="1800"/>
              </a:lnSpc>
              <a:buNone/>
            </a:pPr>
            <a:r>
              <a:rPr lang="en-US" sz="1550" b="1" dirty="0">
                <a:solidFill>
                  <a:srgbClr val="1E2761"/>
                </a:solidFill>
                <a:latin typeface="Cambria" pitchFamily="34" charset="0"/>
                <a:ea typeface="Cambria" pitchFamily="34" charset="-122"/>
                <a:cs typeface="Cambria" pitchFamily="34" charset="-120"/>
              </a:rPr>
              <a:t>Venue-network health</a:t>
            </a:r>
            <a:endParaRPr lang="en-US" sz="1550" dirty="0"/>
          </a:p>
        </p:txBody>
      </p:sp>
      <p:sp>
        <p:nvSpPr>
          <p:cNvPr id="9" name="Text 7"/>
          <p:cNvSpPr/>
          <p:nvPr/>
        </p:nvSpPr>
        <p:spPr>
          <a:xfrm>
            <a:off x="6492240" y="2386584"/>
            <a:ext cx="4709160" cy="68580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Know which venues are generating less ad revenue than their audience is worth, and which are at risk of leaving — protect and grow the inventory Atmosphere actually sells. (Answers Q3–Q4.)</a:t>
            </a:r>
            <a:endParaRPr lang="en-US" sz="1100" dirty="0"/>
          </a:p>
        </p:txBody>
      </p:sp>
      <p:sp>
        <p:nvSpPr>
          <p:cNvPr id="10" name="Shape 8"/>
          <p:cNvSpPr/>
          <p:nvPr/>
        </p:nvSpPr>
        <p:spPr>
          <a:xfrm>
            <a:off x="548640" y="3429000"/>
            <a:ext cx="11064240" cy="1417320"/>
          </a:xfrm>
          <a:prstGeom prst="roundRect">
            <a:avLst>
              <a:gd name="adj" fmla="val 5161"/>
            </a:avLst>
          </a:prstGeom>
          <a:solidFill>
            <a:srgbClr val="FDF1E3"/>
          </a:solidFill>
          <a:ln/>
        </p:spPr>
      </p:sp>
      <p:sp>
        <p:nvSpPr>
          <p:cNvPr id="11" name="Text 9"/>
          <p:cNvSpPr/>
          <p:nvPr/>
        </p:nvSpPr>
        <p:spPr>
          <a:xfrm>
            <a:off x="777240" y="3538728"/>
            <a:ext cx="10607040" cy="365760"/>
          </a:xfrm>
          <a:prstGeom prst="rect">
            <a:avLst/>
          </a:prstGeom>
          <a:noFill/>
          <a:ln/>
        </p:spPr>
        <p:txBody>
          <a:bodyPr wrap="square" rtlCol="0" anchor="ctr"/>
          <a:lstStyle/>
          <a:p>
            <a:pPr indent="0" marL="0">
              <a:buNone/>
            </a:pPr>
            <a:r>
              <a:rPr lang="en-US" sz="1350" b="1" dirty="0">
                <a:solidFill>
                  <a:srgbClr val="8A4B0A"/>
                </a:solidFill>
                <a:latin typeface="Cambria" pitchFamily="34" charset="0"/>
                <a:ea typeface="Cambria" pitchFamily="34" charset="-122"/>
                <a:cs typeface="Cambria" pitchFamily="34" charset="-120"/>
              </a:rPr>
              <a:t>Not a “quick win vs. foundation” tradeoff — do both in one move</a:t>
            </a:r>
            <a:endParaRPr lang="en-US" sz="1350" dirty="0"/>
          </a:p>
        </p:txBody>
      </p:sp>
      <p:sp>
        <p:nvSpPr>
          <p:cNvPr id="12" name="Text 10"/>
          <p:cNvSpPr/>
          <p:nvPr/>
        </p:nvSpPr>
        <p:spPr>
          <a:xfrm>
            <a:off x="777240" y="3904488"/>
            <a:ext cx="10607040" cy="868680"/>
          </a:xfrm>
          <a:prstGeom prst="rect">
            <a:avLst/>
          </a:prstGeom>
          <a:noFill/>
          <a:ln/>
        </p:spPr>
        <p:txBody>
          <a:bodyPr wrap="square" rtlCol="0" anchor="ctr"/>
          <a:lstStyle/>
          <a:p>
            <a:pPr indent="0" marL="0">
              <a:lnSpc>
                <a:spcPts val="1450"/>
              </a:lnSpc>
              <a:buNone/>
            </a:pPr>
            <a:r>
              <a:rPr lang="en-US" sz="1100" i="1" dirty="0">
                <a:solidFill>
                  <a:srgbClr val="8A4B0A"/>
                </a:solidFill>
                <a:latin typeface="Calibri" pitchFamily="34" charset="0"/>
                <a:ea typeface="Calibri" pitchFamily="34" charset="-122"/>
                <a:cs typeface="Calibri" pitchFamily="34" charset="-120"/>
              </a:rPr>
              <a:t>A stratified RCT geo-holdout is the fastest trustworthy result available — and it doubles as the calibration anchor every other method here relies on: synthetic control's placebo check, the MMM's scale, and the venue models' causal-value feature. Ship it first and the “quick win” and the “foundation” are the same deliverable. The venue-network data pipeline (economics + retention features) doesn't have to wait on it — it builds in parallel.</a:t>
            </a:r>
            <a:endParaRPr lang="en-US" sz="1100" dirty="0"/>
          </a:p>
        </p:txBody>
      </p:sp>
      <p:sp>
        <p:nvSpPr>
          <p:cNvPr id="13" name="Text 11"/>
          <p:cNvSpPr/>
          <p:nvPr/>
        </p:nvSpPr>
        <p:spPr>
          <a:xfrm>
            <a:off x="548640" y="5047488"/>
            <a:ext cx="11064240" cy="292608"/>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What “done” means</a:t>
            </a:r>
            <a:endParaRPr lang="en-US" sz="1250" dirty="0"/>
          </a:p>
        </p:txBody>
      </p:sp>
      <p:sp>
        <p:nvSpPr>
          <p:cNvPr id="14" name="Text 12"/>
          <p:cNvSpPr/>
          <p:nvPr/>
        </p:nvSpPr>
        <p:spPr>
          <a:xfrm>
            <a:off x="548640" y="5358384"/>
            <a:ext cx="11064240" cy="502920"/>
          </a:xfrm>
          <a:prstGeom prst="rect">
            <a:avLst/>
          </a:prstGeom>
          <a:noFill/>
          <a:ln/>
        </p:spPr>
        <p:txBody>
          <a:bodyPr wrap="square" rtlCol="0" anchor="ctr"/>
          <a:lstStyle/>
          <a:p>
            <a:pPr indent="0" marL="0">
              <a:lnSpc>
                <a:spcPts val="1450"/>
              </a:lnSpc>
              <a:buNone/>
            </a:pPr>
            <a:r>
              <a:rPr lang="en-US" sz="1100" dirty="0">
                <a:solidFill>
                  <a:srgbClr val="1A1A2E"/>
                </a:solidFill>
                <a:latin typeface="Calibri" pitchFamily="34" charset="0"/>
                <a:ea typeface="Calibri" pitchFamily="34" charset="-122"/>
                <a:cs typeface="Calibri" pitchFamily="34" charset="-120"/>
              </a:rPr>
              <a:t>Sales and account teams making different decisions with it: a trusted lift number in a client pitch, a budget conversation anchored to a real response curve, an outreach list ranked by value × risk instead of instinct — not just a model with a good accuracy number.</a:t>
            </a:r>
            <a:endParaRPr lang="en-US" sz="1100" dirty="0"/>
          </a:p>
        </p:txBody>
      </p:sp>
      <p:sp>
        <p:nvSpPr>
          <p:cNvPr id="15" name="Text 13"/>
          <p:cNvSpPr/>
          <p:nvPr/>
        </p:nvSpPr>
        <p:spPr>
          <a:xfrm>
            <a:off x="548640" y="6108192"/>
            <a:ext cx="11064240" cy="365760"/>
          </a:xfrm>
          <a:prstGeom prst="rect">
            <a:avLst/>
          </a:prstGeom>
          <a:noFill/>
          <a:ln/>
        </p:spPr>
        <p:txBody>
          <a:bodyPr wrap="square" rtlCol="0" anchor="ctr"/>
          <a:lstStyle/>
          <a:p>
            <a:pPr indent="0" marL="0">
              <a:buNone/>
            </a:pPr>
            <a:r>
              <a:rPr lang="en-US" sz="1150" i="1" dirty="0">
                <a:solidFill>
                  <a:srgbClr val="E8871E"/>
                </a:solidFill>
                <a:latin typeface="Calibri" pitchFamily="34" charset="0"/>
                <a:ea typeface="Calibri" pitchFamily="34" charset="-122"/>
                <a:cs typeface="Calibri" pitchFamily="34" charset="-120"/>
              </a:rPr>
              <a:t>What follows is one concrete example of applying this approach — a synthetic demo.</a:t>
            </a:r>
            <a:endParaRPr lang="en-US" sz="1150" dirty="0"/>
          </a:p>
        </p:txBody>
      </p:sp>
      <p:sp>
        <p:nvSpPr>
          <p:cNvPr id="16" name="Text 1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How I'd approach this role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73152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Honest scope</a:t>
            </a:r>
            <a:endParaRPr lang="en-US" sz="2800" dirty="0"/>
          </a:p>
        </p:txBody>
      </p:sp>
      <p:sp>
        <p:nvSpPr>
          <p:cNvPr id="3" name="Text 1"/>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Before the demo that follows: the scope caveats specific to this project, stated up front rather than saved for the closing slide.</a:t>
            </a:r>
            <a:endParaRPr lang="en-US" sz="1250" dirty="0"/>
          </a:p>
        </p:txBody>
      </p:sp>
      <p:sp>
        <p:nvSpPr>
          <p:cNvPr id="4" name="Shape 2"/>
          <p:cNvSpPr/>
          <p:nvPr/>
        </p:nvSpPr>
        <p:spPr>
          <a:xfrm>
            <a:off x="548640" y="1636776"/>
            <a:ext cx="109728" cy="621792"/>
          </a:xfrm>
          <a:prstGeom prst="rect">
            <a:avLst/>
          </a:prstGeom>
          <a:solidFill>
            <a:srgbClr val="E8871E"/>
          </a:solidFill>
          <a:ln/>
        </p:spPr>
      </p:sp>
      <p:sp>
        <p:nvSpPr>
          <p:cNvPr id="5" name="Text 3"/>
          <p:cNvSpPr/>
          <p:nvPr/>
        </p:nvSpPr>
        <p:spPr>
          <a:xfrm>
            <a:off x="868680" y="160020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Synthetic data</a:t>
            </a:r>
            <a:endParaRPr lang="en-US" sz="1200" dirty="0"/>
          </a:p>
        </p:txBody>
      </p:sp>
      <p:sp>
        <p:nvSpPr>
          <p:cNvPr id="6" name="Text 4"/>
          <p:cNvSpPr/>
          <p:nvPr/>
        </p:nvSpPr>
        <p:spPr>
          <a:xfrm>
            <a:off x="3794760" y="160020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figure in this project is synthetic. The focus here is the methodology for solving the problem, not real company data or figures.</a:t>
            </a:r>
            <a:endParaRPr lang="en-US" sz="1050" dirty="0"/>
          </a:p>
        </p:txBody>
      </p:sp>
      <p:sp>
        <p:nvSpPr>
          <p:cNvPr id="7" name="Shape 5"/>
          <p:cNvSpPr/>
          <p:nvPr/>
        </p:nvSpPr>
        <p:spPr>
          <a:xfrm>
            <a:off x="548640" y="2423160"/>
            <a:ext cx="109728" cy="621792"/>
          </a:xfrm>
          <a:prstGeom prst="rect">
            <a:avLst/>
          </a:prstGeom>
          <a:solidFill>
            <a:srgbClr val="E8871E"/>
          </a:solidFill>
          <a:ln/>
        </p:spPr>
      </p:sp>
      <p:sp>
        <p:nvSpPr>
          <p:cNvPr id="8" name="Text 6"/>
          <p:cNvSpPr/>
          <p:nvPr/>
        </p:nvSpPr>
        <p:spPr>
          <a:xfrm>
            <a:off x="868680" y="2386584"/>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Media-effectiveness &amp; rate-card figures</a:t>
            </a:r>
            <a:endParaRPr lang="en-US" sz="1200" dirty="0"/>
          </a:p>
        </p:txBody>
      </p:sp>
      <p:sp>
        <p:nvSpPr>
          <p:cNvPr id="9" name="Text 7"/>
          <p:cNvSpPr/>
          <p:nvPr/>
        </p:nvSpPr>
        <p:spPr>
          <a:xfrm>
            <a:off x="3794760" y="2386584"/>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Dwell time, screen count, ad rate card, and similar parameters shown are illustrative demo values, not researched real industry benchmarks. In production: Nielsen OOH, DSP data (e.g. Vistar), or Atmosphere's own play logs and rate card.</a:t>
            </a:r>
            <a:endParaRPr lang="en-US" sz="1050" dirty="0"/>
          </a:p>
        </p:txBody>
      </p:sp>
      <p:sp>
        <p:nvSpPr>
          <p:cNvPr id="10" name="Shape 8"/>
          <p:cNvSpPr/>
          <p:nvPr/>
        </p:nvSpPr>
        <p:spPr>
          <a:xfrm>
            <a:off x="548640" y="3209544"/>
            <a:ext cx="109728" cy="621792"/>
          </a:xfrm>
          <a:prstGeom prst="rect">
            <a:avLst/>
          </a:prstGeom>
          <a:solidFill>
            <a:srgbClr val="E8871E"/>
          </a:solidFill>
          <a:ln/>
        </p:spPr>
      </p:sp>
      <p:sp>
        <p:nvSpPr>
          <p:cNvPr id="11" name="Text 9"/>
          <p:cNvSpPr/>
          <p:nvPr/>
        </p:nvSpPr>
        <p:spPr>
          <a:xfrm>
            <a:off x="868680" y="3172968"/>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Multi-touch attribution — deliberately not built</a:t>
            </a:r>
            <a:endParaRPr lang="en-US" sz="1200" dirty="0"/>
          </a:p>
        </p:txBody>
      </p:sp>
      <p:sp>
        <p:nvSpPr>
          <p:cNvPr id="12" name="Text 10"/>
          <p:cNvSpPr/>
          <p:nvPr/>
        </p:nvSpPr>
        <p:spPr>
          <a:xfrm>
            <a:off x="3794760" y="3172968"/>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Atmosphere's ambient-screen model has no individual-level, cross-venue touchpoint log by default. Building MTA would require purchased mobile location/device-matching data — a real but non-default assumption, so it's scoped out rather than forced.</a:t>
            </a:r>
            <a:endParaRPr lang="en-US" sz="1050" dirty="0"/>
          </a:p>
        </p:txBody>
      </p:sp>
      <p:sp>
        <p:nvSpPr>
          <p:cNvPr id="13" name="Shape 11"/>
          <p:cNvSpPr/>
          <p:nvPr/>
        </p:nvSpPr>
        <p:spPr>
          <a:xfrm>
            <a:off x="548640" y="3995928"/>
            <a:ext cx="109728" cy="621792"/>
          </a:xfrm>
          <a:prstGeom prst="rect">
            <a:avLst/>
          </a:prstGeom>
          <a:solidFill>
            <a:srgbClr val="E8871E"/>
          </a:solidFill>
          <a:ln/>
        </p:spPr>
      </p:sp>
      <p:sp>
        <p:nvSpPr>
          <p:cNvPr id="14" name="Text 12"/>
          <p:cNvSpPr/>
          <p:nvPr/>
        </p:nvSpPr>
        <p:spPr>
          <a:xfrm>
            <a:off x="868680" y="3959352"/>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Online-purchase attribution — also out of scope</a:t>
            </a:r>
            <a:endParaRPr lang="en-US" sz="1200" dirty="0"/>
          </a:p>
        </p:txBody>
      </p:sp>
      <p:sp>
        <p:nvSpPr>
          <p:cNvPr id="15" name="Text 13"/>
          <p:cNvSpPr/>
          <p:nvPr/>
        </p:nvSpPr>
        <p:spPr>
          <a:xfrm>
            <a:off x="3794760" y="3959352"/>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Every method here measures incremental foot traffic, not downstream online purchases. Tying exposure to e-commerce conversions needs a device-matched exposure-to-transaction panel — a further non-default assumption layered on top of MTA's.</a:t>
            </a:r>
            <a:endParaRPr lang="en-US" sz="1050" dirty="0"/>
          </a:p>
        </p:txBody>
      </p:sp>
      <p:sp>
        <p:nvSpPr>
          <p:cNvPr id="16" name="Shape 14"/>
          <p:cNvSpPr/>
          <p:nvPr/>
        </p:nvSpPr>
        <p:spPr>
          <a:xfrm>
            <a:off x="548640" y="4782312"/>
            <a:ext cx="109728" cy="621792"/>
          </a:xfrm>
          <a:prstGeom prst="rect">
            <a:avLst/>
          </a:prstGeom>
          <a:solidFill>
            <a:srgbClr val="E8871E"/>
          </a:solidFill>
          <a:ln/>
        </p:spPr>
      </p:sp>
      <p:sp>
        <p:nvSpPr>
          <p:cNvPr id="17" name="Text 15"/>
          <p:cNvSpPr/>
          <p:nvPr/>
        </p:nvSpPr>
        <p:spPr>
          <a:xfrm>
            <a:off x="868680" y="4745736"/>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Cost &amp; revenue assumptions</a:t>
            </a:r>
            <a:endParaRPr lang="en-US" sz="1200" dirty="0"/>
          </a:p>
        </p:txBody>
      </p:sp>
      <p:sp>
        <p:nvSpPr>
          <p:cNvPr id="18" name="Text 16"/>
          <p:cNvSpPr/>
          <p:nvPr/>
        </p:nvSpPr>
        <p:spPr>
          <a:xfrm>
            <a:off x="3794760" y="4745736"/>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The $/frequency-unit figures behind the budget allocator, and the ad-rate-card behind the venue-revenue model, are illustrative, editable placeholders — in production these come from Atmosphere's own rate card by venue type and daypart.</a:t>
            </a:r>
            <a:endParaRPr lang="en-US" sz="1050" dirty="0"/>
          </a:p>
        </p:txBody>
      </p:sp>
      <p:sp>
        <p:nvSpPr>
          <p:cNvPr id="19" name="Shape 17"/>
          <p:cNvSpPr/>
          <p:nvPr/>
        </p:nvSpPr>
        <p:spPr>
          <a:xfrm>
            <a:off x="548640" y="5568696"/>
            <a:ext cx="109728" cy="621792"/>
          </a:xfrm>
          <a:prstGeom prst="rect">
            <a:avLst/>
          </a:prstGeom>
          <a:solidFill>
            <a:srgbClr val="E8871E"/>
          </a:solidFill>
          <a:ln/>
        </p:spPr>
      </p:sp>
      <p:sp>
        <p:nvSpPr>
          <p:cNvPr id="20" name="Text 18"/>
          <p:cNvSpPr/>
          <p:nvPr/>
        </p:nvSpPr>
        <p:spPr>
          <a:xfrm>
            <a:off x="868680" y="5532120"/>
            <a:ext cx="2743200" cy="713232"/>
          </a:xfrm>
          <a:prstGeom prst="rect">
            <a:avLst/>
          </a:prstGeom>
          <a:noFill/>
          <a:ln/>
        </p:spPr>
        <p:txBody>
          <a:bodyPr wrap="square" rtlCol="0" anchor="t"/>
          <a:lstStyle/>
          <a:p>
            <a:pPr indent="0" marL="0">
              <a:lnSpc>
                <a:spcPts val="1300"/>
              </a:lnSpc>
              <a:buNone/>
            </a:pPr>
            <a:r>
              <a:rPr lang="en-US" sz="1200" b="1" dirty="0">
                <a:solidFill>
                  <a:srgbClr val="1E2761"/>
                </a:solidFill>
                <a:latin typeface="Calibri" pitchFamily="34" charset="0"/>
                <a:ea typeface="Calibri" pitchFamily="34" charset="-122"/>
                <a:cs typeface="Calibri" pitchFamily="34" charset="-120"/>
              </a:rPr>
              <a:t>Retention model — its own caveats</a:t>
            </a:r>
            <a:endParaRPr lang="en-US" sz="1200" dirty="0"/>
          </a:p>
        </p:txBody>
      </p:sp>
      <p:sp>
        <p:nvSpPr>
          <p:cNvPr id="21" name="Text 19"/>
          <p:cNvSpPr/>
          <p:nvPr/>
        </p:nvSpPr>
        <p:spPr>
          <a:xfrm>
            <a:off x="3794760" y="5532120"/>
            <a:ext cx="7863840" cy="713232"/>
          </a:xfrm>
          <a:prstGeom prst="rect">
            <a:avLst/>
          </a:prstGeom>
          <a:noFill/>
          <a:ln/>
        </p:spPr>
        <p:txBody>
          <a:bodyPr wrap="square" rtlCol="0" anchor="t"/>
          <a:lstStyle/>
          <a:p>
            <a:pPr indent="0" marL="0">
              <a:lnSpc>
                <a:spcPts val="1250"/>
              </a:lnSpc>
              <a:buNone/>
            </a:pPr>
            <a:r>
              <a:rPr lang="en-US" sz="1050" dirty="0">
                <a:solidFill>
                  <a:srgbClr val="1A1A2E"/>
                </a:solidFill>
                <a:latin typeface="Calibri" pitchFamily="34" charset="0"/>
                <a:ea typeface="Calibri" pitchFamily="34" charset="-122"/>
                <a:cs typeface="Calibri" pitchFamily="34" charset="-120"/>
              </a:rPr>
              <a:t>Churn-hazard, competitive-geo, and engagement-signal parameters are illustrative, not researched attrition benchmarks. geo_cluster is deliberately excluded (small-sample tradeoff); realized_ad_revenue's importance is a venue_type confound, not a causal driver; no prospect-side retention model.</a:t>
            </a:r>
            <a:endParaRPr lang="en-US" sz="1050" dirty="0"/>
          </a:p>
        </p:txBody>
      </p:sp>
      <p:sp>
        <p:nvSpPr>
          <p:cNvPr id="22" name="Text 2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Honest scope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972800" cy="594360"/>
          </a:xfrm>
          <a:prstGeom prst="rect">
            <a:avLst/>
          </a:prstGeom>
          <a:noFill/>
          <a:ln/>
        </p:spPr>
        <p:txBody>
          <a:bodyPr wrap="square" rtlCol="0" anchor="ctr"/>
          <a:lstStyle/>
          <a:p>
            <a:pPr indent="0" marL="0">
              <a:buNone/>
            </a:pPr>
            <a:r>
              <a:rPr lang="en-US" sz="2800" b="1" dirty="0">
                <a:solidFill>
                  <a:srgbClr val="1E2761"/>
                </a:solidFill>
                <a:latin typeface="Cambria" pitchFamily="34" charset="0"/>
                <a:ea typeface="Cambria" pitchFamily="34" charset="-122"/>
                <a:cs typeface="Cambria" pitchFamily="34" charset="-120"/>
              </a:rPr>
              <a:t>Four questions this project answers</a:t>
            </a:r>
            <a:endParaRPr lang="en-US" sz="2800" dirty="0"/>
          </a:p>
        </p:txBody>
      </p:sp>
      <p:sp>
        <p:nvSpPr>
          <p:cNvPr id="3" name="Text 1"/>
          <p:cNvSpPr/>
          <p:nvPr/>
        </p:nvSpPr>
        <p:spPr>
          <a:xfrm>
            <a:off x="548640" y="987552"/>
            <a:ext cx="10972800" cy="32004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Q1–Q2 answer the advertising side (what Atmosphere sells); Q3–Q4 answer the venue-network side (what Atmosphere runs).</a:t>
            </a:r>
            <a:endParaRPr lang="en-US" sz="1200" dirty="0"/>
          </a:p>
        </p:txBody>
      </p:sp>
      <p:sp>
        <p:nvSpPr>
          <p:cNvPr id="4" name="Shape 2"/>
          <p:cNvSpPr/>
          <p:nvPr/>
        </p:nvSpPr>
        <p:spPr>
          <a:xfrm>
            <a:off x="548640"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5" name="Shape 3"/>
          <p:cNvSpPr/>
          <p:nvPr/>
        </p:nvSpPr>
        <p:spPr>
          <a:xfrm>
            <a:off x="804672" y="1737360"/>
            <a:ext cx="502920" cy="502920"/>
          </a:xfrm>
          <a:prstGeom prst="ellipse">
            <a:avLst/>
          </a:prstGeom>
          <a:solidFill>
            <a:srgbClr val="1E2761"/>
          </a:solidFill>
          <a:ln/>
        </p:spPr>
      </p:sp>
      <p:sp>
        <p:nvSpPr>
          <p:cNvPr id="6" name="Text 4"/>
          <p:cNvSpPr/>
          <p:nvPr/>
        </p:nvSpPr>
        <p:spPr>
          <a:xfrm>
            <a:off x="804672"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804672"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Did the campaign actually work?</a:t>
            </a:r>
            <a:endParaRPr lang="en-US" sz="1350" dirty="0"/>
          </a:p>
        </p:txBody>
      </p:sp>
      <p:sp>
        <p:nvSpPr>
          <p:cNvPr id="8" name="Text 6"/>
          <p:cNvSpPr/>
          <p:nvPr/>
        </p:nvSpPr>
        <p:spPr>
          <a:xfrm>
            <a:off x="804672"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Isolate the TRUE incremental foot traffic caused by ad exposure — net of seasonality, trend, and each venue's own baseline pattern.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The sell-side differentiator: measurement Atmosphere's go-to-market team can take to market and clients can trust.</a:t>
            </a:r>
            <a:endParaRPr lang="en-US" sz="1000" dirty="0"/>
          </a:p>
        </p:txBody>
      </p:sp>
      <p:sp>
        <p:nvSpPr>
          <p:cNvPr id="9" name="Shape 7"/>
          <p:cNvSpPr/>
          <p:nvPr/>
        </p:nvSpPr>
        <p:spPr>
          <a:xfrm>
            <a:off x="3355848"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0" name="Shape 8"/>
          <p:cNvSpPr/>
          <p:nvPr/>
        </p:nvSpPr>
        <p:spPr>
          <a:xfrm>
            <a:off x="3611880" y="1737360"/>
            <a:ext cx="502920" cy="502920"/>
          </a:xfrm>
          <a:prstGeom prst="ellipse">
            <a:avLst/>
          </a:prstGeom>
          <a:solidFill>
            <a:srgbClr val="1E2761"/>
          </a:solidFill>
          <a:ln/>
        </p:spPr>
      </p:sp>
      <p:sp>
        <p:nvSpPr>
          <p:cNvPr id="11" name="Text 9"/>
          <p:cNvSpPr/>
          <p:nvPr/>
        </p:nvSpPr>
        <p:spPr>
          <a:xfrm>
            <a:off x="3611880"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3611880"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How should budget be spent?</a:t>
            </a:r>
            <a:endParaRPr lang="en-US" sz="1350" dirty="0"/>
          </a:p>
        </p:txBody>
      </p:sp>
      <p:sp>
        <p:nvSpPr>
          <p:cNvPr id="13" name="Text 11"/>
          <p:cNvSpPr/>
          <p:nvPr/>
        </p:nvSpPr>
        <p:spPr>
          <a:xfrm>
            <a:off x="3611880"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Given a budget an advertiser has already committed to Atmosphere, how should it split across restaurants, gyms, bars, and waiting rooms — accounting for each venue type's own diminishing-returns curve?</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An allocation Atmosphere optimizes on its own inventory and hands advertisers as part of the media plan — not a cross-channel budget call made elsewhere.</a:t>
            </a:r>
            <a:endParaRPr lang="en-US" sz="1000" dirty="0"/>
          </a:p>
        </p:txBody>
      </p:sp>
      <p:sp>
        <p:nvSpPr>
          <p:cNvPr id="14" name="Shape 12"/>
          <p:cNvSpPr/>
          <p:nvPr/>
        </p:nvSpPr>
        <p:spPr>
          <a:xfrm>
            <a:off x="6163056"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15" name="Shape 13"/>
          <p:cNvSpPr/>
          <p:nvPr/>
        </p:nvSpPr>
        <p:spPr>
          <a:xfrm>
            <a:off x="6419088" y="1737360"/>
            <a:ext cx="502920" cy="502920"/>
          </a:xfrm>
          <a:prstGeom prst="ellipse">
            <a:avLst/>
          </a:prstGeom>
          <a:solidFill>
            <a:srgbClr val="1E2761"/>
          </a:solidFill>
          <a:ln/>
        </p:spPr>
      </p:sp>
      <p:sp>
        <p:nvSpPr>
          <p:cNvPr id="16" name="Text 14"/>
          <p:cNvSpPr/>
          <p:nvPr/>
        </p:nvSpPr>
        <p:spPr>
          <a:xfrm>
            <a:off x="6419088"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6419088"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Where's the revenue upside?</a:t>
            </a:r>
            <a:endParaRPr lang="en-US" sz="1350" dirty="0"/>
          </a:p>
        </p:txBody>
      </p:sp>
      <p:sp>
        <p:nvSpPr>
          <p:cNvPr id="18" name="Text 16"/>
          <p:cNvSpPr/>
          <p:nvPr/>
        </p:nvSpPr>
        <p:spPr>
          <a:xfrm>
            <a:off x="6419088"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under-monetized relative to their own traffic and quality — and which prospective venues are worth prioritizing for expansion?</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value question.</a:t>
            </a:r>
            <a:endParaRPr lang="en-US" sz="1000" dirty="0"/>
          </a:p>
        </p:txBody>
      </p:sp>
      <p:sp>
        <p:nvSpPr>
          <p:cNvPr id="19" name="Shape 17"/>
          <p:cNvSpPr/>
          <p:nvPr/>
        </p:nvSpPr>
        <p:spPr>
          <a:xfrm>
            <a:off x="8970264" y="1463040"/>
            <a:ext cx="2606040" cy="4617720"/>
          </a:xfrm>
          <a:prstGeom prst="roundRect">
            <a:avLst>
              <a:gd name="adj" fmla="val 4211"/>
            </a:avLst>
          </a:prstGeom>
          <a:solidFill>
            <a:srgbClr val="F5F7FC"/>
          </a:solidFill>
          <a:ln/>
          <a:effectLst>
            <a:outerShdw sx="100000" sy="100000" kx="0" ky="0" algn="bl" rotWithShape="0" blurRad="76200" dist="38100" dir="5400000">
              <a:srgbClr val="888888">
                <a:alpha val="25000"/>
              </a:srgbClr>
            </a:outerShdw>
          </a:effectLst>
        </p:spPr>
      </p:sp>
      <p:sp>
        <p:nvSpPr>
          <p:cNvPr id="20" name="Shape 18"/>
          <p:cNvSpPr/>
          <p:nvPr/>
        </p:nvSpPr>
        <p:spPr>
          <a:xfrm>
            <a:off x="9226296" y="1737360"/>
            <a:ext cx="502920" cy="502920"/>
          </a:xfrm>
          <a:prstGeom prst="ellipse">
            <a:avLst/>
          </a:prstGeom>
          <a:solidFill>
            <a:srgbClr val="1E2761"/>
          </a:solidFill>
          <a:ln/>
        </p:spPr>
      </p:sp>
      <p:sp>
        <p:nvSpPr>
          <p:cNvPr id="21" name="Text 19"/>
          <p:cNvSpPr/>
          <p:nvPr/>
        </p:nvSpPr>
        <p:spPr>
          <a:xfrm>
            <a:off x="9226296" y="1737360"/>
            <a:ext cx="502920" cy="502920"/>
          </a:xfrm>
          <a:prstGeom prst="rect">
            <a:avLst/>
          </a:prstGeom>
          <a:noFill/>
          <a:ln/>
        </p:spPr>
        <p:txBody>
          <a:bodyPr wrap="square"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9226296" y="2377440"/>
            <a:ext cx="2093976" cy="1051560"/>
          </a:xfrm>
          <a:prstGeom prst="rect">
            <a:avLst/>
          </a:prstGeom>
          <a:noFill/>
          <a:ln/>
        </p:spPr>
        <p:txBody>
          <a:bodyPr wrap="square" rtlCol="0" anchor="ctr"/>
          <a:lstStyle/>
          <a:p>
            <a:pPr indent="0" marL="0">
              <a:lnSpc>
                <a:spcPts val="1600"/>
              </a:lnSpc>
              <a:buNone/>
            </a:pPr>
            <a:r>
              <a:rPr lang="en-US" sz="1350" b="1" dirty="0">
                <a:solidFill>
                  <a:srgbClr val="1E2761"/>
                </a:solidFill>
                <a:latin typeface="Cambria" pitchFamily="34" charset="0"/>
                <a:ea typeface="Cambria" pitchFamily="34" charset="-122"/>
                <a:cs typeface="Cambria" pitchFamily="34" charset="-120"/>
              </a:rPr>
              <a:t>Which venues are at risk?</a:t>
            </a:r>
            <a:endParaRPr lang="en-US" sz="1350" dirty="0"/>
          </a:p>
        </p:txBody>
      </p:sp>
      <p:sp>
        <p:nvSpPr>
          <p:cNvPr id="23" name="Text 21"/>
          <p:cNvSpPr/>
          <p:nvPr/>
        </p:nvSpPr>
        <p:spPr>
          <a:xfrm>
            <a:off x="9226296" y="3429000"/>
            <a:ext cx="2093976" cy="24231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Which existing venues are likely to leave the network, and which ops-visible signals predict it — combined with Q3's revenue into one value-×-risk priority.</a:t>
            </a:r>
            <a:endParaRPr lang="en-US" sz="1000" dirty="0"/>
          </a:p>
          <a:p>
            <a:pPr indent="0" marL="0">
              <a:lnSpc>
                <a:spcPts val="1350"/>
              </a:lnSpc>
              <a:buNone/>
            </a:pP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Atmosphere's own buy-side risk question.</a:t>
            </a:r>
            <a:endParaRPr lang="en-US" sz="1000" dirty="0"/>
          </a:p>
        </p:txBody>
      </p:sp>
      <p:sp>
        <p:nvSpPr>
          <p:cNvPr id="24" name="Text 22"/>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Business framing</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The roadmap: four problems, one connected pipeline</a:t>
            </a:r>
            <a:endParaRPr lang="en-US" sz="2600" dirty="0"/>
          </a:p>
        </p:txBody>
      </p:sp>
      <p:sp>
        <p:nvSpPr>
          <p:cNvPr id="3" name="Text 1"/>
          <p:cNvSpPr/>
          <p:nvPr/>
        </p:nvSpPr>
        <p:spPr>
          <a:xfrm>
            <a:off x="548640" y="1097280"/>
            <a:ext cx="10972800" cy="365760"/>
          </a:xfrm>
          <a:prstGeom prst="rect">
            <a:avLst/>
          </a:prstGeom>
          <a:noFill/>
          <a:ln/>
        </p:spPr>
        <p:txBody>
          <a:bodyPr wrap="square" rtlCol="0" anchor="ctr"/>
          <a:lstStyle/>
          <a:p>
            <a:pPr indent="0" marL="0">
              <a:buNone/>
            </a:pPr>
            <a:r>
              <a:rPr lang="en-US" sz="1300" i="1" dirty="0">
                <a:solidFill>
                  <a:srgbClr val="5B6178"/>
                </a:solidFill>
                <a:latin typeface="Calibri" pitchFamily="34" charset="0"/>
                <a:ea typeface="Calibri" pitchFamily="34" charset="-122"/>
                <a:cs typeface="Calibri" pitchFamily="34" charset="-120"/>
              </a:rPr>
              <a:t>Before the deep dive — this is the shape of what follows.</a:t>
            </a:r>
            <a:endParaRPr lang="en-US" sz="1300" dirty="0"/>
          </a:p>
        </p:txBody>
      </p:sp>
      <p:sp>
        <p:nvSpPr>
          <p:cNvPr id="4" name="Shape 2"/>
          <p:cNvSpPr/>
          <p:nvPr/>
        </p:nvSpPr>
        <p:spPr>
          <a:xfrm>
            <a:off x="502920" y="1828800"/>
            <a:ext cx="1737360" cy="2834640"/>
          </a:xfrm>
          <a:prstGeom prst="roundRect">
            <a:avLst>
              <a:gd name="adj" fmla="val 5263"/>
            </a:avLst>
          </a:prstGeom>
          <a:solidFill>
            <a:srgbClr val="1E2761"/>
          </a:solidFill>
          <a:ln/>
        </p:spPr>
      </p:sp>
      <p:sp>
        <p:nvSpPr>
          <p:cNvPr id="5" name="Shape 3"/>
          <p:cNvSpPr/>
          <p:nvPr/>
        </p:nvSpPr>
        <p:spPr>
          <a:xfrm>
            <a:off x="1728216" y="1920240"/>
            <a:ext cx="402336" cy="237744"/>
          </a:xfrm>
          <a:prstGeom prst="roundRect">
            <a:avLst>
              <a:gd name="adj" fmla="val 23077"/>
            </a:avLst>
          </a:prstGeom>
          <a:solidFill>
            <a:srgbClr val="FFFFFF"/>
          </a:solidFill>
          <a:ln w="12700">
            <a:solidFill>
              <a:srgbClr val="1E2761"/>
            </a:solidFill>
            <a:prstDash val="solid"/>
          </a:ln>
        </p:spPr>
      </p:sp>
      <p:sp>
        <p:nvSpPr>
          <p:cNvPr id="6" name="Text 4"/>
          <p:cNvSpPr/>
          <p:nvPr/>
        </p:nvSpPr>
        <p:spPr>
          <a:xfrm>
            <a:off x="172821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7" name="Text 5"/>
          <p:cNvSpPr/>
          <p:nvPr/>
        </p:nvSpPr>
        <p:spPr>
          <a:xfrm>
            <a:off x="6217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8" name="Text 6"/>
          <p:cNvSpPr/>
          <p:nvPr/>
        </p:nvSpPr>
        <p:spPr>
          <a:xfrm>
            <a:off x="6217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RCT geo-holdout</a:t>
            </a:r>
            <a:endParaRPr lang="en-US" sz="1200" dirty="0"/>
          </a:p>
        </p:txBody>
      </p:sp>
      <p:sp>
        <p:nvSpPr>
          <p:cNvPr id="9" name="Text 7"/>
          <p:cNvSpPr/>
          <p:nvPr/>
        </p:nvSpPr>
        <p:spPr>
          <a:xfrm>
            <a:off x="6217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High confidence</a:t>
            </a:r>
            <a:endParaRPr lang="en-US" sz="900" dirty="0"/>
          </a:p>
        </p:txBody>
      </p:sp>
      <p:sp>
        <p:nvSpPr>
          <p:cNvPr id="10" name="Text 8"/>
          <p:cNvSpPr/>
          <p:nvPr/>
        </p:nvSpPr>
        <p:spPr>
          <a:xfrm>
            <a:off x="6217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Randomized treated/holdout venues. Balance directly verified.</a:t>
            </a:r>
            <a:endParaRPr lang="en-US" sz="870" dirty="0"/>
          </a:p>
        </p:txBody>
      </p:sp>
      <p:sp>
        <p:nvSpPr>
          <p:cNvPr id="11" name="Text 9"/>
          <p:cNvSpPr/>
          <p:nvPr/>
        </p:nvSpPr>
        <p:spPr>
          <a:xfrm>
            <a:off x="224028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12" name="Shape 10"/>
          <p:cNvSpPr/>
          <p:nvPr/>
        </p:nvSpPr>
        <p:spPr>
          <a:xfrm>
            <a:off x="2423160" y="1828800"/>
            <a:ext cx="1737360" cy="2834640"/>
          </a:xfrm>
          <a:prstGeom prst="roundRect">
            <a:avLst>
              <a:gd name="adj" fmla="val 5263"/>
            </a:avLst>
          </a:prstGeom>
          <a:solidFill>
            <a:srgbClr val="E4E9F7"/>
          </a:solidFill>
          <a:ln/>
        </p:spPr>
      </p:sp>
      <p:sp>
        <p:nvSpPr>
          <p:cNvPr id="13" name="Shape 11"/>
          <p:cNvSpPr/>
          <p:nvPr/>
        </p:nvSpPr>
        <p:spPr>
          <a:xfrm>
            <a:off x="3648456" y="1920240"/>
            <a:ext cx="402336" cy="237744"/>
          </a:xfrm>
          <a:prstGeom prst="roundRect">
            <a:avLst>
              <a:gd name="adj" fmla="val 23077"/>
            </a:avLst>
          </a:prstGeom>
          <a:solidFill>
            <a:srgbClr val="FFFFFF"/>
          </a:solidFill>
          <a:ln w="12700">
            <a:solidFill>
              <a:srgbClr val="1E2761"/>
            </a:solidFill>
            <a:prstDash val="solid"/>
          </a:ln>
        </p:spPr>
      </p:sp>
      <p:sp>
        <p:nvSpPr>
          <p:cNvPr id="14" name="Text 12"/>
          <p:cNvSpPr/>
          <p:nvPr/>
        </p:nvSpPr>
        <p:spPr>
          <a:xfrm>
            <a:off x="3648456" y="1920240"/>
            <a:ext cx="402336" cy="237744"/>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Q1</a:t>
            </a:r>
            <a:endParaRPr lang="en-US" sz="950" dirty="0"/>
          </a:p>
        </p:txBody>
      </p:sp>
      <p:sp>
        <p:nvSpPr>
          <p:cNvPr id="15" name="Text 13"/>
          <p:cNvSpPr/>
          <p:nvPr/>
        </p:nvSpPr>
        <p:spPr>
          <a:xfrm>
            <a:off x="254203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2</a:t>
            </a:r>
            <a:endParaRPr lang="en-US" sz="1600" dirty="0"/>
          </a:p>
        </p:txBody>
      </p:sp>
      <p:sp>
        <p:nvSpPr>
          <p:cNvPr id="16" name="Text 14"/>
          <p:cNvSpPr/>
          <p:nvPr/>
        </p:nvSpPr>
        <p:spPr>
          <a:xfrm>
            <a:off x="254203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Synthetic control</a:t>
            </a:r>
            <a:endParaRPr lang="en-US" sz="1200" dirty="0"/>
          </a:p>
        </p:txBody>
      </p:sp>
      <p:sp>
        <p:nvSpPr>
          <p:cNvPr id="17" name="Text 15"/>
          <p:cNvSpPr/>
          <p:nvPr/>
        </p:nvSpPr>
        <p:spPr>
          <a:xfrm>
            <a:off x="2542032" y="3108960"/>
            <a:ext cx="1499616" cy="320040"/>
          </a:xfrm>
          <a:prstGeom prst="rect">
            <a:avLst/>
          </a:prstGeom>
          <a:noFill/>
          <a:ln/>
        </p:spPr>
        <p:txBody>
          <a:bodyPr wrap="square" rtlCol="0" anchor="ctr"/>
          <a:lstStyle/>
          <a:p>
            <a:pPr indent="0" marL="0">
              <a:buNone/>
            </a:pPr>
            <a:r>
              <a:rPr lang="en-US" sz="900" b="1" i="1" dirty="0">
                <a:solidFill>
                  <a:srgbClr val="1E2761"/>
                </a:solidFill>
                <a:latin typeface="Calibri" pitchFamily="34" charset="0"/>
                <a:ea typeface="Calibri" pitchFamily="34" charset="-122"/>
                <a:cs typeface="Calibri" pitchFamily="34" charset="-120"/>
              </a:rPr>
              <a:t>Moderate confidence</a:t>
            </a:r>
            <a:endParaRPr lang="en-US" sz="900" dirty="0"/>
          </a:p>
        </p:txBody>
      </p:sp>
      <p:sp>
        <p:nvSpPr>
          <p:cNvPr id="18" name="Text 16"/>
          <p:cNvSpPr/>
          <p:nvPr/>
        </p:nvSpPr>
        <p:spPr>
          <a:xfrm>
            <a:off x="254203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Covers historical, non-randomized campaigns. Validated with placebo tests.</a:t>
            </a:r>
            <a:endParaRPr lang="en-US" sz="870" dirty="0"/>
          </a:p>
        </p:txBody>
      </p:sp>
      <p:sp>
        <p:nvSpPr>
          <p:cNvPr id="19" name="Text 17"/>
          <p:cNvSpPr/>
          <p:nvPr/>
        </p:nvSpPr>
        <p:spPr>
          <a:xfrm>
            <a:off x="416052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0" name="Shape 18"/>
          <p:cNvSpPr/>
          <p:nvPr/>
        </p:nvSpPr>
        <p:spPr>
          <a:xfrm>
            <a:off x="4343400" y="1828800"/>
            <a:ext cx="1737360" cy="2834640"/>
          </a:xfrm>
          <a:prstGeom prst="roundRect">
            <a:avLst>
              <a:gd name="adj" fmla="val 5263"/>
            </a:avLst>
          </a:prstGeom>
          <a:solidFill>
            <a:srgbClr val="FBE8D2"/>
          </a:solidFill>
          <a:ln/>
        </p:spPr>
      </p:sp>
      <p:sp>
        <p:nvSpPr>
          <p:cNvPr id="21" name="Shape 19"/>
          <p:cNvSpPr/>
          <p:nvPr/>
        </p:nvSpPr>
        <p:spPr>
          <a:xfrm>
            <a:off x="5568696" y="1920240"/>
            <a:ext cx="402336" cy="237744"/>
          </a:xfrm>
          <a:prstGeom prst="roundRect">
            <a:avLst>
              <a:gd name="adj" fmla="val 23077"/>
            </a:avLst>
          </a:prstGeom>
          <a:solidFill>
            <a:srgbClr val="FFFFFF"/>
          </a:solidFill>
          <a:ln w="12700">
            <a:solidFill>
              <a:srgbClr val="B8500A"/>
            </a:solidFill>
            <a:prstDash val="solid"/>
          </a:ln>
        </p:spPr>
      </p:sp>
      <p:sp>
        <p:nvSpPr>
          <p:cNvPr id="22" name="Text 20"/>
          <p:cNvSpPr/>
          <p:nvPr/>
        </p:nvSpPr>
        <p:spPr>
          <a:xfrm>
            <a:off x="556869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23" name="Text 21"/>
          <p:cNvSpPr/>
          <p:nvPr/>
        </p:nvSpPr>
        <p:spPr>
          <a:xfrm>
            <a:off x="4462272" y="1920240"/>
            <a:ext cx="457200" cy="384048"/>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3</a:t>
            </a:r>
            <a:endParaRPr lang="en-US" sz="1600" dirty="0"/>
          </a:p>
        </p:txBody>
      </p:sp>
      <p:sp>
        <p:nvSpPr>
          <p:cNvPr id="24" name="Text 22"/>
          <p:cNvSpPr/>
          <p:nvPr/>
        </p:nvSpPr>
        <p:spPr>
          <a:xfrm>
            <a:off x="4462272" y="2340864"/>
            <a:ext cx="1499616" cy="731520"/>
          </a:xfrm>
          <a:prstGeom prst="rect">
            <a:avLst/>
          </a:prstGeom>
          <a:noFill/>
          <a:ln/>
        </p:spPr>
        <p:txBody>
          <a:bodyPr wrap="square" rtlCol="0" anchor="ctr"/>
          <a:lstStyle/>
          <a:p>
            <a:pPr indent="0" marL="0">
              <a:lnSpc>
                <a:spcPts val="1350"/>
              </a:lnSpc>
              <a:buNone/>
            </a:pPr>
            <a:r>
              <a:rPr lang="en-US" sz="1200" b="1" dirty="0">
                <a:solidFill>
                  <a:srgbClr val="1E2761"/>
                </a:solidFill>
                <a:latin typeface="Cambria" pitchFamily="34" charset="0"/>
                <a:ea typeface="Cambria" pitchFamily="34" charset="-122"/>
                <a:cs typeface="Cambria" pitchFamily="34" charset="-120"/>
              </a:rPr>
              <a:t>MMM, RCT-calibrated</a:t>
            </a:r>
            <a:endParaRPr lang="en-US" sz="1200" dirty="0"/>
          </a:p>
        </p:txBody>
      </p:sp>
      <p:sp>
        <p:nvSpPr>
          <p:cNvPr id="25" name="Text 23"/>
          <p:cNvSpPr/>
          <p:nvPr/>
        </p:nvSpPr>
        <p:spPr>
          <a:xfrm>
            <a:off x="4462272" y="3108960"/>
            <a:ext cx="1499616" cy="320040"/>
          </a:xfrm>
          <a:prstGeom prst="rect">
            <a:avLst/>
          </a:prstGeom>
          <a:noFill/>
          <a:ln/>
        </p:spPr>
        <p:txBody>
          <a:bodyPr wrap="square" rtlCol="0" anchor="ctr"/>
          <a:lstStyle/>
          <a:p>
            <a:pPr indent="0" marL="0">
              <a:buNone/>
            </a:pPr>
            <a:r>
              <a:rPr lang="en-US" sz="900" b="1" i="1" dirty="0">
                <a:solidFill>
                  <a:srgbClr val="B8500A"/>
                </a:solidFill>
                <a:latin typeface="Calibri" pitchFamily="34" charset="0"/>
                <a:ea typeface="Calibri" pitchFamily="34" charset="-122"/>
                <a:cs typeface="Calibri" pitchFamily="34" charset="-120"/>
              </a:rPr>
              <a:t>Shape + scale</a:t>
            </a:r>
            <a:endParaRPr lang="en-US" sz="900" dirty="0"/>
          </a:p>
        </p:txBody>
      </p:sp>
      <p:sp>
        <p:nvSpPr>
          <p:cNvPr id="26" name="Text 24"/>
          <p:cNvSpPr/>
          <p:nvPr/>
        </p:nvSpPr>
        <p:spPr>
          <a:xfrm>
            <a:off x="4462272" y="3456432"/>
            <a:ext cx="1499616" cy="1069848"/>
          </a:xfrm>
          <a:prstGeom prst="rect">
            <a:avLst/>
          </a:prstGeom>
          <a:noFill/>
          <a:ln/>
        </p:spPr>
        <p:txBody>
          <a:bodyPr wrap="square" rtlCol="0" anchor="ctr"/>
          <a:lstStyle/>
          <a:p>
            <a:pPr indent="0" marL="0">
              <a:lnSpc>
                <a:spcPts val="1100"/>
              </a:lnSpc>
              <a:buNone/>
            </a:pPr>
            <a:r>
              <a:rPr lang="en-US" sz="870" dirty="0">
                <a:solidFill>
                  <a:srgbClr val="1A1A2E"/>
                </a:solidFill>
                <a:latin typeface="Calibri" pitchFamily="34" charset="0"/>
                <a:ea typeface="Calibri" pitchFamily="34" charset="-122"/>
                <a:cs typeface="Calibri" pitchFamily="34" charset="-120"/>
              </a:rPr>
              <a:t>Adstock/saturation shape from aggregate data; scale pinned by the RCT.</a:t>
            </a:r>
            <a:endParaRPr lang="en-US" sz="870" dirty="0"/>
          </a:p>
        </p:txBody>
      </p:sp>
      <p:sp>
        <p:nvSpPr>
          <p:cNvPr id="27" name="Text 25"/>
          <p:cNvSpPr/>
          <p:nvPr/>
        </p:nvSpPr>
        <p:spPr>
          <a:xfrm>
            <a:off x="608076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28" name="Shape 26"/>
          <p:cNvSpPr/>
          <p:nvPr/>
        </p:nvSpPr>
        <p:spPr>
          <a:xfrm>
            <a:off x="6263640" y="1828800"/>
            <a:ext cx="1737360" cy="2834640"/>
          </a:xfrm>
          <a:prstGeom prst="roundRect">
            <a:avLst>
              <a:gd name="adj" fmla="val 5263"/>
            </a:avLst>
          </a:prstGeom>
          <a:solidFill>
            <a:srgbClr val="E8871E"/>
          </a:solidFill>
          <a:ln/>
        </p:spPr>
      </p:sp>
      <p:sp>
        <p:nvSpPr>
          <p:cNvPr id="29" name="Shape 27"/>
          <p:cNvSpPr/>
          <p:nvPr/>
        </p:nvSpPr>
        <p:spPr>
          <a:xfrm>
            <a:off x="7488936" y="1920240"/>
            <a:ext cx="402336" cy="237744"/>
          </a:xfrm>
          <a:prstGeom prst="roundRect">
            <a:avLst>
              <a:gd name="adj" fmla="val 23077"/>
            </a:avLst>
          </a:prstGeom>
          <a:solidFill>
            <a:srgbClr val="FFFFFF"/>
          </a:solidFill>
          <a:ln w="12700">
            <a:solidFill>
              <a:srgbClr val="B8500A"/>
            </a:solidFill>
            <a:prstDash val="solid"/>
          </a:ln>
        </p:spPr>
      </p:sp>
      <p:sp>
        <p:nvSpPr>
          <p:cNvPr id="30" name="Text 28"/>
          <p:cNvSpPr/>
          <p:nvPr/>
        </p:nvSpPr>
        <p:spPr>
          <a:xfrm>
            <a:off x="7488936" y="1920240"/>
            <a:ext cx="402336" cy="237744"/>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Q2</a:t>
            </a:r>
            <a:endParaRPr lang="en-US" sz="950" dirty="0"/>
          </a:p>
        </p:txBody>
      </p:sp>
      <p:sp>
        <p:nvSpPr>
          <p:cNvPr id="31" name="Text 29"/>
          <p:cNvSpPr/>
          <p:nvPr/>
        </p:nvSpPr>
        <p:spPr>
          <a:xfrm>
            <a:off x="638251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32" name="Text 30"/>
          <p:cNvSpPr/>
          <p:nvPr/>
        </p:nvSpPr>
        <p:spPr>
          <a:xfrm>
            <a:off x="638251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Budget allocator</a:t>
            </a:r>
            <a:endParaRPr lang="en-US" sz="1200" dirty="0"/>
          </a:p>
        </p:txBody>
      </p:sp>
      <p:sp>
        <p:nvSpPr>
          <p:cNvPr id="33" name="Text 31"/>
          <p:cNvSpPr/>
          <p:nvPr/>
        </p:nvSpPr>
        <p:spPr>
          <a:xfrm>
            <a:off x="638251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Exact DP</a:t>
            </a:r>
            <a:endParaRPr lang="en-US" sz="900" dirty="0"/>
          </a:p>
        </p:txBody>
      </p:sp>
      <p:sp>
        <p:nvSpPr>
          <p:cNvPr id="34" name="Text 32"/>
          <p:cNvSpPr/>
          <p:nvPr/>
        </p:nvSpPr>
        <p:spPr>
          <a:xfrm>
            <a:off x="638251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Multiple-choice knapsack over calibrated response curves.</a:t>
            </a:r>
            <a:endParaRPr lang="en-US" sz="870" dirty="0"/>
          </a:p>
        </p:txBody>
      </p:sp>
      <p:sp>
        <p:nvSpPr>
          <p:cNvPr id="35" name="Text 33"/>
          <p:cNvSpPr/>
          <p:nvPr/>
        </p:nvSpPr>
        <p:spPr>
          <a:xfrm>
            <a:off x="800100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36" name="Shape 34"/>
          <p:cNvSpPr/>
          <p:nvPr/>
        </p:nvSpPr>
        <p:spPr>
          <a:xfrm>
            <a:off x="8183880" y="1828800"/>
            <a:ext cx="1737360" cy="2834640"/>
          </a:xfrm>
          <a:prstGeom prst="roundRect">
            <a:avLst>
              <a:gd name="adj" fmla="val 5263"/>
            </a:avLst>
          </a:prstGeom>
          <a:solidFill>
            <a:srgbClr val="2C7A57"/>
          </a:solidFill>
          <a:ln/>
        </p:spPr>
      </p:sp>
      <p:sp>
        <p:nvSpPr>
          <p:cNvPr id="37" name="Shape 35"/>
          <p:cNvSpPr/>
          <p:nvPr/>
        </p:nvSpPr>
        <p:spPr>
          <a:xfrm>
            <a:off x="9409176" y="1920240"/>
            <a:ext cx="402336" cy="237744"/>
          </a:xfrm>
          <a:prstGeom prst="roundRect">
            <a:avLst>
              <a:gd name="adj" fmla="val 23077"/>
            </a:avLst>
          </a:prstGeom>
          <a:solidFill>
            <a:srgbClr val="FFFFFF"/>
          </a:solidFill>
          <a:ln w="12700">
            <a:solidFill>
              <a:srgbClr val="2C7A57"/>
            </a:solidFill>
            <a:prstDash val="solid"/>
          </a:ln>
        </p:spPr>
      </p:sp>
      <p:sp>
        <p:nvSpPr>
          <p:cNvPr id="38" name="Text 36"/>
          <p:cNvSpPr/>
          <p:nvPr/>
        </p:nvSpPr>
        <p:spPr>
          <a:xfrm>
            <a:off x="9409176" y="1920240"/>
            <a:ext cx="402336" cy="237744"/>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Q3</a:t>
            </a:r>
            <a:endParaRPr lang="en-US" sz="950" dirty="0"/>
          </a:p>
        </p:txBody>
      </p:sp>
      <p:sp>
        <p:nvSpPr>
          <p:cNvPr id="39" name="Text 37"/>
          <p:cNvSpPr/>
          <p:nvPr/>
        </p:nvSpPr>
        <p:spPr>
          <a:xfrm>
            <a:off x="830275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40" name="Text 38"/>
          <p:cNvSpPr/>
          <p:nvPr/>
        </p:nvSpPr>
        <p:spPr>
          <a:xfrm>
            <a:off x="830275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revenue model</a:t>
            </a:r>
            <a:endParaRPr lang="en-US" sz="1200" dirty="0"/>
          </a:p>
        </p:txBody>
      </p:sp>
      <p:sp>
        <p:nvSpPr>
          <p:cNvPr id="41" name="Text 39"/>
          <p:cNvSpPr/>
          <p:nvPr/>
        </p:nvSpPr>
        <p:spPr>
          <a:xfrm>
            <a:off x="830275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honest OOF</a:t>
            </a:r>
            <a:endParaRPr lang="en-US" sz="900" dirty="0"/>
          </a:p>
        </p:txBody>
      </p:sp>
      <p:sp>
        <p:nvSpPr>
          <p:cNvPr id="42" name="Text 40"/>
          <p:cNvSpPr/>
          <p:nvPr/>
        </p:nvSpPr>
        <p:spPr>
          <a:xfrm>
            <a:off x="830275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Venue characteristics + the calibrated lift (steps 1–3) as a feature. Flags under-monetized venues; ranks expansion prospects.</a:t>
            </a:r>
            <a:endParaRPr lang="en-US" sz="870" dirty="0"/>
          </a:p>
        </p:txBody>
      </p:sp>
      <p:sp>
        <p:nvSpPr>
          <p:cNvPr id="43" name="Text 41"/>
          <p:cNvSpPr/>
          <p:nvPr/>
        </p:nvSpPr>
        <p:spPr>
          <a:xfrm>
            <a:off x="9921240" y="2971800"/>
            <a:ext cx="182880" cy="548640"/>
          </a:xfrm>
          <a:prstGeom prst="rect">
            <a:avLst/>
          </a:prstGeom>
          <a:noFill/>
          <a:ln/>
        </p:spPr>
        <p:txBody>
          <a:bodyPr wrap="square" rtlCol="0" anchor="ctr"/>
          <a:lstStyle/>
          <a:p>
            <a:pPr algn="ctr" indent="0" marL="0">
              <a:buNone/>
            </a:pPr>
            <a:r>
              <a:rPr lang="en-US" sz="1600" dirty="0">
                <a:solidFill>
                  <a:srgbClr val="1E2761"/>
                </a:solidFill>
                <a:latin typeface="Arial" pitchFamily="34" charset="0"/>
                <a:ea typeface="Arial" pitchFamily="34" charset="-122"/>
                <a:cs typeface="Arial" pitchFamily="34" charset="-120"/>
              </a:rPr>
              <a:t>→</a:t>
            </a:r>
            <a:endParaRPr lang="en-US" sz="1600" dirty="0"/>
          </a:p>
        </p:txBody>
      </p:sp>
      <p:sp>
        <p:nvSpPr>
          <p:cNvPr id="44" name="Shape 42"/>
          <p:cNvSpPr/>
          <p:nvPr/>
        </p:nvSpPr>
        <p:spPr>
          <a:xfrm>
            <a:off x="10104120" y="1828800"/>
            <a:ext cx="1737360" cy="2834640"/>
          </a:xfrm>
          <a:prstGeom prst="roundRect">
            <a:avLst>
              <a:gd name="adj" fmla="val 5263"/>
            </a:avLst>
          </a:prstGeom>
          <a:solidFill>
            <a:srgbClr val="8E3B60"/>
          </a:solidFill>
          <a:ln/>
        </p:spPr>
      </p:sp>
      <p:sp>
        <p:nvSpPr>
          <p:cNvPr id="45" name="Shape 43"/>
          <p:cNvSpPr/>
          <p:nvPr/>
        </p:nvSpPr>
        <p:spPr>
          <a:xfrm>
            <a:off x="11329416" y="1920240"/>
            <a:ext cx="402336" cy="237744"/>
          </a:xfrm>
          <a:prstGeom prst="roundRect">
            <a:avLst>
              <a:gd name="adj" fmla="val 23077"/>
            </a:avLst>
          </a:prstGeom>
          <a:solidFill>
            <a:srgbClr val="FFFFFF"/>
          </a:solidFill>
          <a:ln w="12700">
            <a:solidFill>
              <a:srgbClr val="8E3B60"/>
            </a:solidFill>
            <a:prstDash val="solid"/>
          </a:ln>
        </p:spPr>
      </p:sp>
      <p:sp>
        <p:nvSpPr>
          <p:cNvPr id="46" name="Text 44"/>
          <p:cNvSpPr/>
          <p:nvPr/>
        </p:nvSpPr>
        <p:spPr>
          <a:xfrm>
            <a:off x="11329416" y="1920240"/>
            <a:ext cx="402336" cy="237744"/>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Q4</a:t>
            </a:r>
            <a:endParaRPr lang="en-US" sz="950" dirty="0"/>
          </a:p>
        </p:txBody>
      </p:sp>
      <p:sp>
        <p:nvSpPr>
          <p:cNvPr id="47" name="Text 45"/>
          <p:cNvSpPr/>
          <p:nvPr/>
        </p:nvSpPr>
        <p:spPr>
          <a:xfrm>
            <a:off x="10222992" y="1920240"/>
            <a:ext cx="457200" cy="384048"/>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48" name="Text 46"/>
          <p:cNvSpPr/>
          <p:nvPr/>
        </p:nvSpPr>
        <p:spPr>
          <a:xfrm>
            <a:off x="10222992" y="2340864"/>
            <a:ext cx="1499616" cy="731520"/>
          </a:xfrm>
          <a:prstGeom prst="rect">
            <a:avLst/>
          </a:prstGeom>
          <a:noFill/>
          <a:ln/>
        </p:spPr>
        <p:txBody>
          <a:bodyPr wrap="square" rtlCol="0" anchor="ctr"/>
          <a:lstStyle/>
          <a:p>
            <a:pPr indent="0" marL="0">
              <a:lnSpc>
                <a:spcPts val="1350"/>
              </a:lnSpc>
              <a:buNone/>
            </a:pPr>
            <a:r>
              <a:rPr lang="en-US" sz="1200" b="1" dirty="0">
                <a:solidFill>
                  <a:srgbClr val="FFFFFF"/>
                </a:solidFill>
                <a:latin typeface="Cambria" pitchFamily="34" charset="0"/>
                <a:ea typeface="Cambria" pitchFamily="34" charset="-122"/>
                <a:cs typeface="Cambria" pitchFamily="34" charset="-120"/>
              </a:rPr>
              <a:t>Venue retention model</a:t>
            </a:r>
            <a:endParaRPr lang="en-US" sz="1200" dirty="0"/>
          </a:p>
        </p:txBody>
      </p:sp>
      <p:sp>
        <p:nvSpPr>
          <p:cNvPr id="49" name="Text 47"/>
          <p:cNvSpPr/>
          <p:nvPr/>
        </p:nvSpPr>
        <p:spPr>
          <a:xfrm>
            <a:off x="10222992" y="3108960"/>
            <a:ext cx="1499616" cy="320040"/>
          </a:xfrm>
          <a:prstGeom prst="rect">
            <a:avLst/>
          </a:prstGeom>
          <a:noFill/>
          <a:ln/>
        </p:spPr>
        <p:txBody>
          <a:bodyPr wrap="square" rtlCol="0" anchor="ctr"/>
          <a:lstStyle/>
          <a:p>
            <a:pPr indent="0" marL="0">
              <a:buNone/>
            </a:pPr>
            <a:r>
              <a:rPr lang="en-US" sz="900" b="1" i="1" dirty="0">
                <a:solidFill>
                  <a:srgbClr val="CADCFC"/>
                </a:solidFill>
                <a:latin typeface="Calibri" pitchFamily="34" charset="0"/>
                <a:ea typeface="Calibri" pitchFamily="34" charset="-122"/>
                <a:cs typeface="Calibri" pitchFamily="34" charset="-120"/>
              </a:rPr>
              <a:t>GBT classifier, honest OOF</a:t>
            </a:r>
            <a:endParaRPr lang="en-US" sz="900" dirty="0"/>
          </a:p>
        </p:txBody>
      </p:sp>
      <p:sp>
        <p:nvSpPr>
          <p:cNvPr id="50" name="Text 48"/>
          <p:cNvSpPr/>
          <p:nvPr/>
        </p:nvSpPr>
        <p:spPr>
          <a:xfrm>
            <a:off x="10222992" y="3456432"/>
            <a:ext cx="1499616" cy="1069848"/>
          </a:xfrm>
          <a:prstGeom prst="rect">
            <a:avLst/>
          </a:prstGeom>
          <a:noFill/>
          <a:ln/>
        </p:spPr>
        <p:txBody>
          <a:bodyPr wrap="square" rtlCol="0" anchor="ctr"/>
          <a:lstStyle/>
          <a:p>
            <a:pPr indent="0" marL="0">
              <a:lnSpc>
                <a:spcPts val="1100"/>
              </a:lnSpc>
              <a:buNone/>
            </a:pPr>
            <a:r>
              <a:rPr lang="en-US" sz="870" dirty="0">
                <a:solidFill>
                  <a:srgbClr val="FFFFFF"/>
                </a:solidFill>
                <a:latin typeface="Calibri" pitchFamily="34" charset="0"/>
                <a:ea typeface="Calibri" pitchFamily="34" charset="-122"/>
                <a:cs typeface="Calibri" pitchFamily="34" charset="-120"/>
              </a:rPr>
              <a:t>Ops-visible signals (engagement, uptime, complaints, outreach) + realized revenue. Flags at-risk venues; combines with Q3 into one value×risk priority.</a:t>
            </a:r>
            <a:endParaRPr lang="en-US" sz="870" dirty="0"/>
          </a:p>
        </p:txBody>
      </p:sp>
      <p:sp>
        <p:nvSpPr>
          <p:cNvPr id="51" name="Text 49"/>
          <p:cNvSpPr/>
          <p:nvPr/>
        </p:nvSpPr>
        <p:spPr>
          <a:xfrm>
            <a:off x="50292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1E2761"/>
                </a:solidFill>
                <a:latin typeface="Calibri" pitchFamily="34" charset="0"/>
                <a:ea typeface="Calibri" pitchFamily="34" charset="-122"/>
                <a:cs typeface="Calibri" pitchFamily="34" charset="-120"/>
              </a:rPr>
              <a:t>Answers Q1 — did the campaign work?</a:t>
            </a:r>
            <a:endParaRPr lang="en-US" sz="1000" dirty="0"/>
          </a:p>
        </p:txBody>
      </p:sp>
      <p:sp>
        <p:nvSpPr>
          <p:cNvPr id="52" name="Text 50"/>
          <p:cNvSpPr/>
          <p:nvPr/>
        </p:nvSpPr>
        <p:spPr>
          <a:xfrm>
            <a:off x="4343400" y="4773168"/>
            <a:ext cx="3657600" cy="365760"/>
          </a:xfrm>
          <a:prstGeom prst="rect">
            <a:avLst/>
          </a:prstGeom>
          <a:noFill/>
          <a:ln/>
        </p:spPr>
        <p:txBody>
          <a:bodyPr wrap="square" rtlCol="0" anchor="ctr"/>
          <a:lstStyle/>
          <a:p>
            <a:pPr algn="ctr" indent="0" marL="0">
              <a:lnSpc>
                <a:spcPts val="1200"/>
              </a:lnSpc>
              <a:buNone/>
            </a:pPr>
            <a:r>
              <a:rPr lang="en-US" sz="1000" b="1" dirty="0">
                <a:solidFill>
                  <a:srgbClr val="B8500A"/>
                </a:solidFill>
                <a:latin typeface="Calibri" pitchFamily="34" charset="0"/>
                <a:ea typeface="Calibri" pitchFamily="34" charset="-122"/>
                <a:cs typeface="Calibri" pitchFamily="34" charset="-120"/>
              </a:rPr>
              <a:t>Answers Q2 — how should budget be spent?</a:t>
            </a:r>
            <a:endParaRPr lang="en-US" sz="1000" dirty="0"/>
          </a:p>
        </p:txBody>
      </p:sp>
      <p:sp>
        <p:nvSpPr>
          <p:cNvPr id="53" name="Text 51"/>
          <p:cNvSpPr/>
          <p:nvPr/>
        </p:nvSpPr>
        <p:spPr>
          <a:xfrm>
            <a:off x="818388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2C7A57"/>
                </a:solidFill>
                <a:latin typeface="Calibri" pitchFamily="34" charset="0"/>
                <a:ea typeface="Calibri" pitchFamily="34" charset="-122"/>
                <a:cs typeface="Calibri" pitchFamily="34" charset="-120"/>
              </a:rPr>
              <a:t>Answers Q3 — revenue upside?</a:t>
            </a:r>
            <a:endParaRPr lang="en-US" sz="1000" dirty="0"/>
          </a:p>
        </p:txBody>
      </p:sp>
      <p:sp>
        <p:nvSpPr>
          <p:cNvPr id="54" name="Text 52"/>
          <p:cNvSpPr/>
          <p:nvPr/>
        </p:nvSpPr>
        <p:spPr>
          <a:xfrm>
            <a:off x="10104120" y="4773168"/>
            <a:ext cx="1737360" cy="365760"/>
          </a:xfrm>
          <a:prstGeom prst="rect">
            <a:avLst/>
          </a:prstGeom>
          <a:noFill/>
          <a:ln/>
        </p:spPr>
        <p:txBody>
          <a:bodyPr wrap="square" rtlCol="0" anchor="ctr"/>
          <a:lstStyle/>
          <a:p>
            <a:pPr algn="ctr" indent="0" marL="0">
              <a:lnSpc>
                <a:spcPts val="1200"/>
              </a:lnSpc>
              <a:buNone/>
            </a:pPr>
            <a:r>
              <a:rPr lang="en-US" sz="1000" b="1" dirty="0">
                <a:solidFill>
                  <a:srgbClr val="8E3B60"/>
                </a:solidFill>
                <a:latin typeface="Calibri" pitchFamily="34" charset="0"/>
                <a:ea typeface="Calibri" pitchFamily="34" charset="-122"/>
                <a:cs typeface="Calibri" pitchFamily="34" charset="-120"/>
              </a:rPr>
              <a:t>Answers Q4 — retention risk?</a:t>
            </a:r>
            <a:endParaRPr lang="en-US" sz="1000" dirty="0"/>
          </a:p>
        </p:txBody>
      </p:sp>
      <p:sp>
        <p:nvSpPr>
          <p:cNvPr id="55" name="Text 53"/>
          <p:cNvSpPr/>
          <p:nvPr/>
        </p:nvSpPr>
        <p:spPr>
          <a:xfrm>
            <a:off x="640080" y="5349240"/>
            <a:ext cx="10881360" cy="685800"/>
          </a:xfrm>
          <a:prstGeom prst="rect">
            <a:avLst/>
          </a:prstGeom>
          <a:noFill/>
          <a:ln/>
        </p:spPr>
        <p:txBody>
          <a:bodyPr wrap="square" rtlCol="0" anchor="ctr"/>
          <a:lstStyle/>
          <a:p>
            <a:pPr indent="0" marL="0">
              <a:lnSpc>
                <a:spcPts val="1500"/>
              </a:lnSpc>
              <a:buNone/>
            </a:pPr>
            <a:r>
              <a:rPr lang="en-US" sz="1100" i="1" dirty="0">
                <a:solidFill>
                  <a:srgbClr val="5B6178"/>
                </a:solidFill>
                <a:latin typeface="Calibri" pitchFamily="34" charset="0"/>
                <a:ea typeface="Calibri" pitchFamily="34" charset="-122"/>
                <a:cs typeface="Calibri" pitchFamily="34" charset="-120"/>
              </a:rPr>
              <a:t>One connected system, not four separate projects: the calibrated per-exposure lift from steps 1–4 becomes a feature in the venue-revenue model (step 5), which combines with the churn model's risk score (step 6) into one value-×-risk priority list.</a:t>
            </a:r>
            <a:endParaRPr lang="en-US" sz="1100" dirty="0"/>
          </a:p>
        </p:txBody>
      </p:sp>
      <p:sp>
        <p:nvSpPr>
          <p:cNvPr id="56" name="Text 54"/>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Roadmap</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11155680" cy="64008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Two data sources: a designed holdout test, and campaign history</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Foundation for Steps 1–3 · Q1–Q2</a:t>
            </a:r>
            <a:endParaRPr lang="en-US" sz="950" dirty="0"/>
          </a:p>
        </p:txBody>
      </p:sp>
      <p:sp>
        <p:nvSpPr>
          <p:cNvPr id="5" name="Text 3"/>
          <p:cNvSpPr/>
          <p:nvPr/>
        </p:nvSpPr>
        <p:spPr>
          <a:xfrm>
            <a:off x="548640" y="1234440"/>
            <a:ext cx="10972800" cy="365760"/>
          </a:xfrm>
          <a:prstGeom prst="rect">
            <a:avLst/>
          </a:prstGeom>
          <a:noFill/>
          <a:ln/>
        </p:spPr>
        <p:txBody>
          <a:bodyPr wrap="square" rtlCol="0" anchor="ctr"/>
          <a:lstStyle/>
          <a:p>
            <a:pPr indent="0" marL="0">
              <a:buNone/>
            </a:pPr>
            <a:r>
              <a:rPr lang="en-US" sz="1500" b="1" dirty="0">
                <a:solidFill>
                  <a:srgbClr val="E8871E"/>
                </a:solidFill>
                <a:latin typeface="Calibri" pitchFamily="34" charset="0"/>
                <a:ea typeface="Calibri" pitchFamily="34" charset="-122"/>
                <a:cs typeface="Calibri" pitchFamily="34" charset="-120"/>
              </a:rPr>
              <a:t>4 venue types × 100 venues each, 104 weeks (52 pre-period + 52 campaign)</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1965960"/>
                <a:gridCol w="4562856"/>
                <a:gridCol w="4562856"/>
              </a:tblGrid>
              <a:tr h="384048">
                <a:tc>
                  <a:txBody>
                    <a:bodyPr/>
                    <a:lstStyle/>
                    <a:p>
                      <a:pPr algn="ctr" indent="0" marL="0">
                        <a:buNone/>
                      </a:pPr>
                      <a:r>
                        <a:rPr lang="en-US" sz="1150" b="1" dirty="0">
                          <a:solidFill>
                            <a:srgbClr val="FFFFFF"/>
                          </a:solidFill>
                          <a:latin typeface="Calibri" pitchFamily="34" charset="0"/>
                          <a:ea typeface="Calibri" pitchFamily="34" charset="-122"/>
                          <a:cs typeface="Calibri" pitchFamily="34" charset="-120"/>
                        </a:rPr>
                        <a:t>Weeks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RCT pool — 136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Observational pool — 264 venues</a:t>
                      </a:r>
                      <a:endParaRPr lang="en-US" sz="11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1E2761"/>
                    </a:solidFill>
                  </a:tcPr>
                </a:tc>
              </a:tr>
              <a:tr h="77724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Pre-period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for either arm — establishes each venue's own baseline.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No ads yet for anyone — identical baseline period.</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52–59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(8 wks)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Still silent — the designed test hasn't launched yet. Unused by the current effect estimate.</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24 of 264 go live here — each on its own timing, no coordination.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60–69</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(10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RCT window</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FFFFF"/>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Treated: fixed 6 plays/wk. Holdout: still 0. The only window the RCT estimate uses.</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37 more go live here — overlap with the RCT window is coincidence, not design.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r h="868680">
                <a:tc>
                  <a:txBody>
                    <a:bodyPr/>
                    <a:lstStyle/>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70–103</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(34 wks)</a:t>
                      </a:r>
                      <a:endParaRPr lang="en-US" sz="1050" dirty="0">
                        <a:latin typeface="Calibri" charset="0"/>
                        <a:ea typeface="Calibri" charset="0"/>
                        <a:cs typeface="Calibri" charset="0"/>
                      </a:endParaRPr>
                    </a:p>
                    <a:p>
                      <a:pPr indent="0" marL="0">
                        <a:lnSpc>
                          <a:spcPts val="1200"/>
                        </a:lnSpc>
                        <a:buNone/>
                      </a:pPr>
                      <a:r>
                        <a:rPr lang="en-US" sz="1050" b="1" dirty="0">
                          <a:solidFill>
                            <a:srgbClr val="1E2761"/>
                          </a:solidFill>
                          <a:latin typeface="Calibri" pitchFamily="34" charset="0"/>
                          <a:ea typeface="Calibri" pitchFamily="34" charset="-122"/>
                          <a:cs typeface="Calibri" pitchFamily="34" charset="-120"/>
                        </a:rPr>
                        <a:t>Post-campaign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7F8FC"/>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Ads stop — a real tail holds for ~10 weeks, then fades to zero (see persistence check, next).</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EDF1FB"/>
                    </a:solidFill>
                  </a:tcPr>
                </a:tc>
                <a:tc>
                  <a:txBody>
                    <a:bodyPr/>
                    <a:lstStyle/>
                    <a:p>
                      <a:pPr indent="0" marL="0">
                        <a:lnSpc>
                          <a:spcPts val="1300"/>
                        </a:lnSpc>
                        <a:buNone/>
                      </a:pPr>
                      <a:r>
                        <a:rPr lang="en-US" sz="1050" dirty="0">
                          <a:solidFill>
                            <a:srgbClr val="1A1A2E"/>
                          </a:solidFill>
                          <a:latin typeface="Calibri" pitchFamily="34" charset="0"/>
                          <a:ea typeface="Calibri" pitchFamily="34" charset="-122"/>
                          <a:cs typeface="Calibri" pitchFamily="34" charset="-120"/>
                        </a:rPr>
                        <a:t>69 more (the largest group) go live only now — most real campaigns land late, spread thin.</a:t>
                      </a:r>
                      <a:endParaRPr lang="en-US" sz="1050" dirty="0">
                        <a:latin typeface="Calibri" charset="0"/>
                        <a:ea typeface="Calibri" charset="0"/>
                        <a:cs typeface="Calibri" charset="0"/>
                      </a:endParaRPr>
                    </a:p>
                  </a:txBody>
                  <a:tcPr marL="91440" marR="91440" marT="45720" marB="45720" anchor="ctr">
                    <a:lnL w="9525" cap="flat" cmpd="sng" algn="ctr">
                      <a:solidFill>
                        <a:srgbClr val="E2E5F0"/>
                      </a:solidFill>
                      <a:prstDash val="solid"/>
                      <a:round/>
                      <a:headEnd type="none" w="med" len="med"/>
                      <a:tailEnd type="none" w="med" len="med"/>
                    </a:lnL>
                    <a:lnR w="9525" cap="flat" cmpd="sng" algn="ctr">
                      <a:solidFill>
                        <a:srgbClr val="E2E5F0"/>
                      </a:solidFill>
                      <a:prstDash val="solid"/>
                      <a:round/>
                      <a:headEnd type="none" w="med" len="med"/>
                      <a:tailEnd type="none" w="med" len="med"/>
                    </a:lnR>
                    <a:lnT w="9525" cap="flat" cmpd="sng" algn="ctr">
                      <a:solidFill>
                        <a:srgbClr val="E2E5F0"/>
                      </a:solidFill>
                      <a:prstDash val="solid"/>
                      <a:round/>
                      <a:headEnd type="none" w="med" len="med"/>
                      <a:tailEnd type="none" w="med" len="med"/>
                    </a:lnT>
                    <a:lnB w="9525" cap="flat" cmpd="sng" algn="ctr">
                      <a:solidFill>
                        <a:srgbClr val="E2E5F0"/>
                      </a:solidFill>
                      <a:prstDash val="solid"/>
                      <a:round/>
                      <a:headEnd type="none" w="med" len="med"/>
                      <a:tailEnd type="none" w="med" len="med"/>
                    </a:lnB>
                    <a:solidFill>
                      <a:srgbClr val="FDF1E3"/>
                    </a:solidFill>
                  </a:tcPr>
                </a:tc>
              </a:tr>
            </a:tbl>
          </a:graphicData>
        </a:graphic>
      </p:graphicFrame>
      <p:sp>
        <p:nvSpPr>
          <p:cNvPr id="7" name="Text 4"/>
          <p:cNvSpPr/>
          <p:nvPr/>
        </p:nvSpPr>
        <p:spPr>
          <a:xfrm>
            <a:off x="548640" y="5577840"/>
            <a:ext cx="11091672" cy="7772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RCT pool: assignment is verified, not assumed — anchors high confidence. Observational pool: 134 of 264 venues never run a campaign at all, and the rest 130 go live at their own, uncoordinated point in time — whether a venue is using its own free self-promotion slot or Atmosphere sold the remaining inventory there to an outside advertiser, the panel only records that the screen started playing ads, not who bought the airtime — exactly why synthetic control (next) reconstructs the counterfactual instead of comparing before/after directly.</a:t>
            </a:r>
            <a:endParaRPr lang="en-US" sz="1050" dirty="0"/>
          </a:p>
        </p:txBody>
      </p:sp>
      <p:sp>
        <p:nvSpPr>
          <p:cNvPr id="8" name="Text 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Data &amp; methodology</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91440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The proof point: ads move real foot traffic</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of 6 · Answers Q1</a:t>
            </a:r>
            <a:endParaRPr lang="en-US" sz="950" dirty="0"/>
          </a:p>
        </p:txBody>
      </p:sp>
      <p:sp>
        <p:nvSpPr>
          <p:cNvPr id="5" name="Shape 3"/>
          <p:cNvSpPr/>
          <p:nvPr/>
        </p:nvSpPr>
        <p:spPr>
          <a:xfrm>
            <a:off x="9784080" y="457200"/>
            <a:ext cx="1920240" cy="502920"/>
          </a:xfrm>
          <a:prstGeom prst="roundRect">
            <a:avLst>
              <a:gd name="adj" fmla="val 14545"/>
            </a:avLst>
          </a:prstGeom>
          <a:solidFill>
            <a:srgbClr val="2C7A57"/>
          </a:solidFill>
          <a:ln/>
        </p:spPr>
      </p:sp>
      <p:sp>
        <p:nvSpPr>
          <p:cNvPr id="6" name="Text 4"/>
          <p:cNvSpPr/>
          <p:nvPr/>
        </p:nvSpPr>
        <p:spPr>
          <a:xfrm>
            <a:off x="9784080" y="457200"/>
            <a:ext cx="1920240" cy="502920"/>
          </a:xfrm>
          <a:prstGeom prst="rect">
            <a:avLst/>
          </a:prstGeom>
          <a:noFill/>
          <a:ln/>
        </p:spPr>
        <p:txBody>
          <a:bodyPr wrap="square"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2/16 balance tests sig.</a:t>
            </a:r>
            <a:endParaRPr lang="en-US" sz="1050" dirty="0"/>
          </a:p>
        </p:txBody>
      </p:sp>
      <p:graphicFrame>
        <p:nvGraphicFramePr>
          <p:cNvPr id="7" name="Chart 0" descr=""/>
          <p:cNvGraphicFramePr/>
          <p:nvPr/>
        </p:nvGraphicFramePr>
        <p:xfrm>
          <a:off x="548640" y="1188720"/>
          <a:ext cx="6583680" cy="3017520"/>
        </p:xfrm>
        <a:graphic xmlns:a="http://schemas.openxmlformats.org/drawingml/2006/main">
          <a:graphicData uri="http://schemas.openxmlformats.org/drawingml/2006/chart">
            <c:chart xmlns:c="http://schemas.openxmlformats.org/drawingml/2006/chart" r:id="rId1"/>
          </a:graphicData>
        </a:graphic>
      </p:graphicFrame>
      <p:sp>
        <p:nvSpPr>
          <p:cNvPr id="8" name="Text 5"/>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ANCOVA-style delta estimator</a:t>
            </a:r>
            <a:endParaRPr lang="en-US" sz="1250" dirty="0"/>
          </a:p>
        </p:txBody>
      </p:sp>
      <p:sp>
        <p:nvSpPr>
          <p:cNvPr id="9" name="Text 6"/>
          <p:cNvSpPr/>
          <p:nvPr/>
        </p:nvSpPr>
        <p:spPr>
          <a:xfrm>
            <a:off x="548640" y="4572000"/>
            <a:ext cx="6583680" cy="105156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① Per-venue delta = campaign-window avg − pre-period avg — nets out that venue's own baseline.</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② Effect = mean(treated deltas) − mean(holdout deltas) — a DiD-style comparison; any trend common to both arms cancels out too.</a:t>
            </a:r>
            <a:endParaRPr lang="en-US" sz="1000" dirty="0"/>
          </a:p>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③ Welch's t-test on the two delta samples (unequal variance, unequal n) → SE, 95% CI, p-value.</a:t>
            </a:r>
            <a:endParaRPr lang="en-US" sz="1000" dirty="0"/>
          </a:p>
        </p:txBody>
      </p:sp>
      <p:sp>
        <p:nvSpPr>
          <p:cNvPr id="10" name="Text 7"/>
          <p:cNvSpPr/>
          <p:nvPr/>
        </p:nvSpPr>
        <p:spPr>
          <a:xfrm>
            <a:off x="548640" y="562356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Why delta, not raw post-period levels: individual venues differ a lot in baseline traffic even within one arm — differencing each against its own pre-period average removes that noise, so 15–19 venues/arm reach significance a raw-level comparison couldn't. Why Welch's, not Student's or z: arms are small and unequal in size, so we don't assume equal variance, and we use the t- (not z-) distribution — for both the p-value and the CI — because that variance is itself estimated from so few venues.</a:t>
            </a:r>
            <a:endParaRPr lang="en-US" sz="900" dirty="0"/>
          </a:p>
        </p:txBody>
      </p:sp>
      <p:sp>
        <p:nvSpPr>
          <p:cNvPr id="11" name="Text 8"/>
          <p:cNvSpPr/>
          <p:nvPr/>
        </p:nvSpPr>
        <p:spPr>
          <a:xfrm>
            <a:off x="7406640" y="1188720"/>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 (T/H)   95% CI               p-value</a:t>
            </a:r>
            <a:endParaRPr lang="en-US" sz="950" dirty="0"/>
          </a:p>
        </p:txBody>
      </p:sp>
      <p:sp>
        <p:nvSpPr>
          <p:cNvPr id="12" name="Text 9"/>
          <p:cNvSpPr/>
          <p:nvPr/>
        </p:nvSpPr>
        <p:spPr>
          <a:xfrm>
            <a:off x="7406640" y="1508760"/>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Restaurants    18/17     [10.9, 22.7]   &lt; 0.001</a:t>
            </a:r>
            <a:endParaRPr lang="en-US" sz="1000" dirty="0"/>
          </a:p>
        </p:txBody>
      </p:sp>
      <p:sp>
        <p:nvSpPr>
          <p:cNvPr id="13" name="Text 10"/>
          <p:cNvSpPr/>
          <p:nvPr/>
        </p:nvSpPr>
        <p:spPr>
          <a:xfrm>
            <a:off x="7406640" y="1892808"/>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Gyms           15/17     [5.0, 15.7]   &lt; 0.001</a:t>
            </a:r>
            <a:endParaRPr lang="en-US" sz="1000" dirty="0"/>
          </a:p>
        </p:txBody>
      </p:sp>
      <p:sp>
        <p:nvSpPr>
          <p:cNvPr id="14" name="Text 11"/>
          <p:cNvSpPr/>
          <p:nvPr/>
        </p:nvSpPr>
        <p:spPr>
          <a:xfrm>
            <a:off x="7406640" y="2276856"/>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Bars           17/19     [13.1, 22.6]   &lt; 0.001</a:t>
            </a:r>
            <a:endParaRPr lang="en-US" sz="1000" dirty="0"/>
          </a:p>
        </p:txBody>
      </p:sp>
      <p:sp>
        <p:nvSpPr>
          <p:cNvPr id="15" name="Text 12"/>
          <p:cNvSpPr/>
          <p:nvPr/>
        </p:nvSpPr>
        <p:spPr>
          <a:xfrm>
            <a:off x="7406640" y="2660904"/>
            <a:ext cx="4206240" cy="320040"/>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Waiting Rooms  17/16     [5.0, 10.3]   &lt; 0.001</a:t>
            </a:r>
            <a:endParaRPr lang="en-US" sz="1000" dirty="0"/>
          </a:p>
        </p:txBody>
      </p:sp>
      <p:sp>
        <p:nvSpPr>
          <p:cNvPr id="16" name="Text 13"/>
          <p:cNvSpPr/>
          <p:nvPr/>
        </p:nvSpPr>
        <p:spPr>
          <a:xfrm>
            <a:off x="7406640" y="3319272"/>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Why 2/16 isn't a red flag</a:t>
            </a:r>
            <a:endParaRPr lang="en-US" sz="1200" dirty="0"/>
          </a:p>
        </p:txBody>
      </p:sp>
      <p:sp>
        <p:nvSpPr>
          <p:cNvPr id="17" name="Text 14"/>
          <p:cNvSpPr/>
          <p:nvPr/>
        </p:nvSpPr>
        <p:spPr>
          <a:xfrm>
            <a:off x="7406640" y="3639312"/>
            <a:ext cx="4206240" cy="914400"/>
          </a:xfrm>
          <a:prstGeom prst="rect">
            <a:avLst/>
          </a:prstGeom>
          <a:noFill/>
          <a:ln/>
        </p:spPr>
        <p:txBody>
          <a:bodyPr wrap="square" rtlCol="0" anchor="ctr"/>
          <a:lstStyle/>
          <a:p>
            <a:pPr indent="0" marL="0">
              <a:lnSpc>
                <a:spcPts val="1400"/>
              </a:lnSpc>
              <a:buNone/>
            </a:pPr>
            <a:r>
              <a:rPr lang="en-US" sz="1050" dirty="0">
                <a:solidFill>
                  <a:srgbClr val="1A1A2E"/>
                </a:solidFill>
                <a:latin typeface="Calibri" pitchFamily="34" charset="0"/>
                <a:ea typeface="Calibri" pitchFamily="34" charset="-122"/>
                <a:cs typeface="Calibri" pitchFamily="34" charset="-120"/>
              </a:rPr>
              <a:t>16 t-tests = 4 pre-treatment covariates (baseline traffic level, dwell time, screen count, audience quality) × 4 venue types — a separate check from the 136 RCT venues themselves. Only 2 came back significant at p≤0.05.</a:t>
            </a:r>
            <a:endParaRPr lang="en-US" sz="1050" dirty="0"/>
          </a:p>
        </p:txBody>
      </p:sp>
      <p:sp>
        <p:nvSpPr>
          <p:cNvPr id="18" name="Text 15"/>
          <p:cNvSpPr/>
          <p:nvPr/>
        </p:nvSpPr>
        <p:spPr>
          <a:xfrm>
            <a:off x="7406640" y="4599432"/>
            <a:ext cx="4206240" cy="123444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If randomization is clean, the count of false positives across 16 independent t-tests follows Binomial(16, 0.05): mean 0.8, P(≥2) ≈ 19%. Two sits well inside that distribution's main mass — nowhere near a red-flag tail value like 8+. Randomization worked as designed, not assumed.</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78992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How long does the lift last after the campaign ends?</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1 persistence check · Q1</a:t>
            </a:r>
            <a:endParaRPr lang="en-US" sz="950" dirty="0"/>
          </a:p>
        </p:txBody>
      </p:sp>
      <p:sp>
        <p:nvSpPr>
          <p:cNvPr id="5" name="Text 3"/>
          <p:cNvSpPr/>
          <p:nvPr/>
        </p:nvSpPr>
        <p:spPr>
          <a:xfrm>
            <a:off x="548640" y="1005840"/>
            <a:ext cx="1097280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Same treated-vs-holdout contrast as the previous slide, applied to the weeks after the campaign ends — no new design, no new assumption.</a:t>
            </a:r>
            <a:endParaRPr lang="en-US" sz="1250" dirty="0"/>
          </a:p>
        </p:txBody>
      </p:sp>
      <p:graphicFrame>
        <p:nvGraphicFramePr>
          <p:cNvPr id="6" name="Chart 0" descr=""/>
          <p:cNvGraphicFramePr/>
          <p:nvPr/>
        </p:nvGraphicFramePr>
        <p:xfrm>
          <a:off x="548640" y="1600200"/>
          <a:ext cx="6583680" cy="2834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5262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same estimator, later windows</a:t>
            </a:r>
            <a:endParaRPr lang="en-US" sz="1250" dirty="0"/>
          </a:p>
        </p:txBody>
      </p:sp>
      <p:sp>
        <p:nvSpPr>
          <p:cNvPr id="8" name="Text 5"/>
          <p:cNvSpPr/>
          <p:nvPr/>
        </p:nvSpPr>
        <p:spPr>
          <a:xfrm>
            <a:off x="548640" y="4800600"/>
            <a:ext cx="6583680" cy="7315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Same 3-step ANCOVA-style delta as the RCT slide — per-venue delta (window avg − pre-period avg) → treated-mean minus holdout-mean → Welch's t-test for SE, CI, p-value — but pooled across all 4 venue types here (not split like the RCT slide), and re-applied to each window instead of the single week 60–69 window.</a:t>
            </a:r>
            <a:endParaRPr lang="en-US" sz="1000" dirty="0"/>
          </a:p>
        </p:txBody>
      </p:sp>
      <p:sp>
        <p:nvSpPr>
          <p:cNvPr id="9" name="Text 6"/>
          <p:cNvSpPr/>
          <p:nvPr/>
        </p:nvSpPr>
        <p:spPr>
          <a:xfrm>
            <a:off x="548640" y="5577840"/>
            <a:ext cx="6583680" cy="777240"/>
          </a:xfrm>
          <a:prstGeom prst="rect">
            <a:avLst/>
          </a:prstGeom>
          <a:noFill/>
          <a:ln/>
        </p:spPr>
        <p:txBody>
          <a:bodyPr wrap="square" rtlCol="0" anchor="ctr"/>
          <a:lstStyle/>
          <a:p>
            <a:pPr indent="0" marL="0">
              <a:lnSpc>
                <a:spcPts val="1200"/>
              </a:lnSpc>
              <a:buNone/>
            </a:pPr>
            <a:r>
              <a:rPr lang="en-US" sz="900" i="1" dirty="0">
                <a:solidFill>
                  <a:srgbClr val="5B6178"/>
                </a:solidFill>
                <a:latin typeface="Calibri" pitchFamily="34" charset="0"/>
                <a:ea typeface="Calibri" pitchFamily="34" charset="-122"/>
                <a:cs typeface="Calibri" pitchFamily="34" charset="-120"/>
              </a:rPr>
              <a:t>Splitting was already thin at ~15–19 venues/arm for one window; spreading that across four venue types and four windows, on top of decay effects that are smaller than the in-campaign lift, would push the noise past what a week-level estimate can resolve.</a:t>
            </a:r>
            <a:endParaRPr lang="en-US" sz="900" dirty="0"/>
          </a:p>
        </p:txBody>
      </p:sp>
      <p:sp>
        <p:nvSpPr>
          <p:cNvPr id="10" name="Text 7"/>
          <p:cNvSpPr/>
          <p:nvPr/>
        </p:nvSpPr>
        <p:spPr>
          <a:xfrm>
            <a:off x="7406640" y="1600200"/>
            <a:ext cx="4206240" cy="237744"/>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n = 67 treated / 69 holdout (same venues, every window)</a:t>
            </a:r>
            <a:endParaRPr lang="en-US" sz="950" dirty="0"/>
          </a:p>
        </p:txBody>
      </p:sp>
      <p:sp>
        <p:nvSpPr>
          <p:cNvPr id="11" name="Text 8"/>
          <p:cNvSpPr/>
          <p:nvPr/>
        </p:nvSpPr>
        <p:spPr>
          <a:xfrm>
            <a:off x="7406640" y="1892808"/>
            <a:ext cx="4206240" cy="274320"/>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Window              95% CI              p-value</a:t>
            </a:r>
            <a:endParaRPr lang="en-US" sz="950" dirty="0"/>
          </a:p>
        </p:txBody>
      </p:sp>
      <p:sp>
        <p:nvSpPr>
          <p:cNvPr id="12" name="Text 9"/>
          <p:cNvSpPr/>
          <p:nvPr/>
        </p:nvSpPr>
        <p:spPr>
          <a:xfrm>
            <a:off x="7406640" y="2185416"/>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During campaign    [10.8, 15.8]    &lt; 0.001</a:t>
            </a:r>
            <a:endParaRPr lang="en-US" sz="1000" dirty="0"/>
          </a:p>
        </p:txBody>
      </p:sp>
      <p:sp>
        <p:nvSpPr>
          <p:cNvPr id="13" name="Text 10"/>
          <p:cNvSpPr/>
          <p:nvPr/>
        </p:nvSpPr>
        <p:spPr>
          <a:xfrm>
            <a:off x="7406640" y="2514600"/>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0–10 wks after     [0.2, 4.8]      0.031</a:t>
            </a:r>
            <a:endParaRPr lang="en-US" sz="1000" dirty="0"/>
          </a:p>
        </p:txBody>
      </p:sp>
      <p:sp>
        <p:nvSpPr>
          <p:cNvPr id="14" name="Text 11"/>
          <p:cNvSpPr/>
          <p:nvPr/>
        </p:nvSpPr>
        <p:spPr>
          <a:xfrm>
            <a:off x="7406640" y="2843784"/>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10–20 wks after    [-3.8, 0.9]     0.236</a:t>
            </a:r>
            <a:endParaRPr lang="en-US" sz="1000" dirty="0"/>
          </a:p>
        </p:txBody>
      </p:sp>
      <p:sp>
        <p:nvSpPr>
          <p:cNvPr id="15" name="Text 12"/>
          <p:cNvSpPr/>
          <p:nvPr/>
        </p:nvSpPr>
        <p:spPr>
          <a:xfrm>
            <a:off x="7406640" y="3172968"/>
            <a:ext cx="4206240" cy="292608"/>
          </a:xfrm>
          <a:prstGeom prst="rect">
            <a:avLst/>
          </a:prstGeom>
          <a:noFill/>
          <a:ln/>
        </p:spPr>
        <p:txBody>
          <a:bodyPr wrap="square" rtlCol="0" anchor="ctr"/>
          <a:lstStyle/>
          <a:p>
            <a:pPr indent="0" marL="0">
              <a:buNone/>
            </a:pPr>
            <a:r>
              <a:rPr lang="en-US" sz="1000" dirty="0">
                <a:solidFill>
                  <a:srgbClr val="1A1A2E"/>
                </a:solidFill>
                <a:latin typeface="Courier New" pitchFamily="34" charset="0"/>
                <a:ea typeface="Courier New" pitchFamily="34" charset="-122"/>
                <a:cs typeface="Courier New" pitchFamily="34" charset="-120"/>
              </a:rPr>
              <a:t>Full post (34wk)   [-1.4, 1.5]     0.945</a:t>
            </a:r>
            <a:endParaRPr lang="en-US" sz="1000" dirty="0"/>
          </a:p>
        </p:txBody>
      </p:sp>
      <p:sp>
        <p:nvSpPr>
          <p:cNvPr id="16" name="Text 13"/>
          <p:cNvSpPr/>
          <p:nvPr/>
        </p:nvSpPr>
        <p:spPr>
          <a:xfrm>
            <a:off x="7406640" y="3666744"/>
            <a:ext cx="420624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A small tail, then nothing</a:t>
            </a:r>
            <a:endParaRPr lang="en-US" sz="1200" dirty="0"/>
          </a:p>
        </p:txBody>
      </p:sp>
      <p:sp>
        <p:nvSpPr>
          <p:cNvPr id="17" name="Text 14"/>
          <p:cNvSpPr/>
          <p:nvPr/>
        </p:nvSpPr>
        <p:spPr>
          <a:xfrm>
            <a:off x="7406640" y="3977640"/>
            <a:ext cx="4206240" cy="1097280"/>
          </a:xfrm>
          <a:prstGeom prst="rect">
            <a:avLst/>
          </a:prstGeom>
          <a:noFill/>
          <a:ln/>
        </p:spPr>
        <p:txBody>
          <a:bodyPr wrap="square" rtlCol="0" anchor="ctr"/>
          <a:lstStyle/>
          <a:p>
            <a:pPr indent="0" marL="0">
              <a:lnSpc>
                <a:spcPts val="1350"/>
              </a:lnSpc>
              <a:buNone/>
            </a:pPr>
            <a:r>
              <a:rPr lang="en-US" sz="1050" dirty="0">
                <a:solidFill>
                  <a:srgbClr val="1A1A2E"/>
                </a:solidFill>
                <a:latin typeface="Calibri" pitchFamily="34" charset="0"/>
                <a:ea typeface="Calibri" pitchFamily="34" charset="-122"/>
                <a:cs typeface="Calibri" pitchFamily="34" charset="-120"/>
              </a:rPr>
              <a:t>The first 10 weeks after the campaign ends still show a real, significant tail — about 19% of the in-campaign lift (p=0.031). By 10–20 weeks out it's gone (p=0.236), and averaged across the full 34-week post-campaign panel the effect is a clean +0.05 (p=0.945).</a:t>
            </a:r>
            <a:endParaRPr lang="en-US" sz="1050" dirty="0"/>
          </a:p>
        </p:txBody>
      </p:sp>
      <p:sp>
        <p:nvSpPr>
          <p:cNvPr id="18" name="Text 15"/>
          <p:cNvSpPr/>
          <p:nvPr/>
        </p:nvSpPr>
        <p:spPr>
          <a:xfrm>
            <a:off x="7406640" y="5166360"/>
            <a:ext cx="4206240" cy="868680"/>
          </a:xfrm>
          <a:prstGeom prst="rect">
            <a:avLst/>
          </a:prstGeom>
          <a:noFill/>
          <a:ln/>
        </p:spPr>
        <p:txBody>
          <a:bodyPr wrap="square" rtlCol="0" anchor="ctr"/>
          <a:lstStyle/>
          <a:p>
            <a:pPr indent="0" marL="0">
              <a:lnSpc>
                <a:spcPts val="1350"/>
              </a:lnSpc>
              <a:buNone/>
            </a:pPr>
            <a:r>
              <a:rPr lang="en-US" sz="1050" i="1" dirty="0">
                <a:solidFill>
                  <a:srgbClr val="5B6178"/>
                </a:solidFill>
                <a:latin typeface="Calibri" pitchFamily="34" charset="0"/>
                <a:ea typeface="Calibri" pitchFamily="34" charset="-122"/>
                <a:cs typeface="Calibri" pitchFamily="34" charset="-120"/>
              </a:rPr>
              <a:t>Practical read: don't plan on meaningful carryover past the campaign's own window — each flight buys its own 10 weeks of impact, not lingering awareness. That argues for cadence, not one-and-done bursts.</a:t>
            </a:r>
            <a:endParaRPr lang="en-US" sz="105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RCT, post-campaign persistence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0058400" cy="594360"/>
          </a:xfrm>
          <a:prstGeom prst="rect">
            <a:avLst/>
          </a:prstGeom>
          <a:noFill/>
          <a:ln/>
        </p:spPr>
        <p:txBody>
          <a:bodyPr wrap="square" rtlCol="0" anchor="ctr"/>
          <a:lstStyle/>
          <a:p>
            <a:pPr indent="0" marL="0">
              <a:buNone/>
            </a:pPr>
            <a:r>
              <a:rPr lang="en-US" sz="2700" b="1" dirty="0">
                <a:solidFill>
                  <a:srgbClr val="1E2761"/>
                </a:solidFill>
                <a:latin typeface="Cambria" pitchFamily="34" charset="0"/>
                <a:ea typeface="Cambria" pitchFamily="34" charset="-122"/>
                <a:cs typeface="Cambria" pitchFamily="34" charset="-120"/>
              </a:rPr>
              <a:t>Measuring the campaigns we couldn't randomize</a:t>
            </a:r>
            <a:endParaRPr lang="en-US" sz="27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1E2761"/>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1E2761"/>
                </a:solidFill>
                <a:latin typeface="Calibri" pitchFamily="34" charset="0"/>
                <a:ea typeface="Calibri" pitchFamily="34" charset="-122"/>
                <a:cs typeface="Calibri" pitchFamily="34" charset="-120"/>
              </a:rPr>
              <a:t>Step 2 of 6 · Answers Q1</a:t>
            </a:r>
            <a:endParaRPr lang="en-US" sz="950" dirty="0"/>
          </a:p>
        </p:txBody>
      </p:sp>
      <p:sp>
        <p:nvSpPr>
          <p:cNvPr id="5" name="Text 3"/>
          <p:cNvSpPr/>
          <p:nvPr/>
        </p:nvSpPr>
        <p:spPr>
          <a:xfrm>
            <a:off x="548640" y="1005840"/>
            <a:ext cx="10789920" cy="45720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Most advertisers' campaigns already ran, on venues they picked — not us. Synthetic control reconstructs the counterfactual anyway, with its own built-in checks.</a:t>
            </a:r>
            <a:endParaRPr lang="en-US" sz="1250" dirty="0"/>
          </a:p>
        </p:txBody>
      </p:sp>
      <p:graphicFrame>
        <p:nvGraphicFramePr>
          <p:cNvPr id="6" name="Chart 0" descr=""/>
          <p:cNvGraphicFramePr/>
          <p:nvPr/>
        </p:nvGraphicFramePr>
        <p:xfrm>
          <a:off x="548640" y="1645920"/>
          <a:ext cx="6583680" cy="26060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297680"/>
            <a:ext cx="658368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build a synthetic twin, per venue</a:t>
            </a:r>
            <a:endParaRPr lang="en-US" sz="1250" dirty="0"/>
          </a:p>
        </p:txBody>
      </p:sp>
      <p:sp>
        <p:nvSpPr>
          <p:cNvPr id="8" name="Text 5"/>
          <p:cNvSpPr/>
          <p:nvPr/>
        </p:nvSpPr>
        <p:spPr>
          <a:xfrm>
            <a:off x="548640" y="4572000"/>
            <a:ext cx="6583680" cy="1417320"/>
          </a:xfrm>
          <a:prstGeom prst="rect">
            <a:avLst/>
          </a:prstGeom>
          <a:noFill/>
          <a:ln/>
        </p:spPr>
        <p:txBody>
          <a:bodyPr wrap="square" rtlCol="0" anchor="ctr"/>
          <a:lstStyle/>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① Donor pool = same-type venues that never ran a campaign (e.g. 31 never-activated bars).</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② Fit non-negative weights, one per donor, summing to 1, via SLSQP (Sequential Least Squares Programming, scipy.optimize) minimizing the MSE between the weighted donor blend and this venue's own pre-period traffic (Abadie et al.) — a real blend, typically 5–15 donors get meaningful weight, not one single match.</a:t>
            </a:r>
            <a:endParaRPr lang="en-US" sz="950" dirty="0"/>
          </a:p>
          <a:p>
            <a:pPr indent="0" marL="0">
              <a:lnSpc>
                <a:spcPts val="1200"/>
              </a:lnSpc>
              <a:buNone/>
            </a:pPr>
            <a:r>
              <a:rPr lang="en-US" sz="950" dirty="0">
                <a:solidFill>
                  <a:srgbClr val="1A1A2E"/>
                </a:solidFill>
                <a:latin typeface="Calibri" pitchFamily="34" charset="0"/>
                <a:ea typeface="Calibri" pitchFamily="34" charset="-122"/>
                <a:cs typeface="Calibri" pitchFamily="34" charset="-120"/>
              </a:rPr>
              <a:t>③ Apply that same weight vector to the donors' post-period traffic → synthetic counterfactual; effect = mean(actual − synthetic) over the venue's own 16-week post-campaign window.</a:t>
            </a:r>
            <a:endParaRPr lang="en-US" sz="950" dirty="0"/>
          </a:p>
        </p:txBody>
      </p:sp>
      <p:sp>
        <p:nvSpPr>
          <p:cNvPr id="9" name="Text 6"/>
          <p:cNvSpPr/>
          <p:nvPr/>
        </p:nvSpPr>
        <p:spPr>
          <a:xfrm>
            <a:off x="548640" y="6035040"/>
            <a:ext cx="6583680" cy="50292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Unlike the RCT, each venue picks its own pre/post split at its own activation week — no shared campaign window. Each bar is the mean effect across only that type's good pre-period-fit venues (see right) — poor fits are excluded, not averaged in.</a:t>
            </a:r>
            <a:endParaRPr lang="en-US" sz="850" dirty="0"/>
          </a:p>
        </p:txBody>
      </p:sp>
      <p:sp>
        <p:nvSpPr>
          <p:cNvPr id="10" name="Text 7"/>
          <p:cNvSpPr/>
          <p:nvPr/>
        </p:nvSpPr>
        <p:spPr>
          <a:xfrm>
            <a:off x="7406640" y="1645920"/>
            <a:ext cx="4206240" cy="256032"/>
          </a:xfrm>
          <a:prstGeom prst="rect">
            <a:avLst/>
          </a:prstGeom>
          <a:noFill/>
          <a:ln/>
        </p:spPr>
        <p:txBody>
          <a:bodyPr wrap="square" rtlCol="0" anchor="ctr"/>
          <a:lstStyle/>
          <a:p>
            <a:pPr indent="0" marL="0">
              <a:buNone/>
            </a:pPr>
            <a:r>
              <a:rPr lang="en-US" sz="950" b="1" dirty="0">
                <a:solidFill>
                  <a:srgbClr val="5B6178"/>
                </a:solidFill>
                <a:latin typeface="Courier New" pitchFamily="34" charset="0"/>
                <a:ea typeface="Courier New" pitchFamily="34" charset="-122"/>
                <a:cs typeface="Courier New" pitchFamily="34" charset="-120"/>
              </a:rPr>
              <a:t>Venue type    n(used/flag)  Placebo p   RMSPE</a:t>
            </a:r>
            <a:endParaRPr lang="en-US" sz="950" dirty="0"/>
          </a:p>
        </p:txBody>
      </p:sp>
      <p:sp>
        <p:nvSpPr>
          <p:cNvPr id="11" name="Text 8"/>
          <p:cNvSpPr/>
          <p:nvPr/>
        </p:nvSpPr>
        <p:spPr>
          <a:xfrm>
            <a:off x="7406640" y="1938528"/>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Restaurants   42/4          0.158       26.4</a:t>
            </a:r>
            <a:endParaRPr lang="en-US" sz="950" dirty="0"/>
          </a:p>
        </p:txBody>
      </p:sp>
      <p:sp>
        <p:nvSpPr>
          <p:cNvPr id="12" name="Text 9"/>
          <p:cNvSpPr/>
          <p:nvPr/>
        </p:nvSpPr>
        <p:spPr>
          <a:xfrm>
            <a:off x="7406640" y="2267712"/>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Gyms          31/0          0.054       14.4</a:t>
            </a:r>
            <a:endParaRPr lang="en-US" sz="950" dirty="0"/>
          </a:p>
        </p:txBody>
      </p:sp>
      <p:sp>
        <p:nvSpPr>
          <p:cNvPr id="13" name="Text 10"/>
          <p:cNvSpPr/>
          <p:nvPr/>
        </p:nvSpPr>
        <p:spPr>
          <a:xfrm>
            <a:off x="7406640" y="2596896"/>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Bars          29/4          0.097       17.8</a:t>
            </a:r>
            <a:endParaRPr lang="en-US" sz="950" dirty="0"/>
          </a:p>
        </p:txBody>
      </p:sp>
      <p:sp>
        <p:nvSpPr>
          <p:cNvPr id="14" name="Text 11"/>
          <p:cNvSpPr/>
          <p:nvPr/>
        </p:nvSpPr>
        <p:spPr>
          <a:xfrm>
            <a:off x="7406640" y="2926080"/>
            <a:ext cx="4206240" cy="274320"/>
          </a:xfrm>
          <a:prstGeom prst="rect">
            <a:avLst/>
          </a:prstGeom>
          <a:noFill/>
          <a:ln/>
        </p:spPr>
        <p:txBody>
          <a:bodyPr wrap="square" rtlCol="0" anchor="ctr"/>
          <a:lstStyle/>
          <a:p>
            <a:pPr indent="0" marL="0">
              <a:buNone/>
            </a:pPr>
            <a:r>
              <a:rPr lang="en-US" sz="950" dirty="0">
                <a:solidFill>
                  <a:srgbClr val="1A1A2E"/>
                </a:solidFill>
                <a:latin typeface="Courier New" pitchFamily="34" charset="0"/>
                <a:ea typeface="Courier New" pitchFamily="34" charset="-122"/>
                <a:cs typeface="Courier New" pitchFamily="34" charset="-120"/>
              </a:rPr>
              <a:t>Waiting Rooms 20/0          0.106       8.3</a:t>
            </a:r>
            <a:endParaRPr lang="en-US" sz="950" dirty="0"/>
          </a:p>
        </p:txBody>
      </p:sp>
      <p:sp>
        <p:nvSpPr>
          <p:cNvPr id="15" name="Text 12"/>
          <p:cNvSpPr/>
          <p:nvPr/>
        </p:nvSpPr>
        <p:spPr>
          <a:xfrm>
            <a:off x="7406640" y="3328416"/>
            <a:ext cx="4206240" cy="914400"/>
          </a:xfrm>
          <a:prstGeom prst="rect">
            <a:avLst/>
          </a:prstGeom>
          <a:noFill/>
          <a:ln/>
        </p:spPr>
        <p:txBody>
          <a:bodyPr wrap="square" rtlCol="0" anchor="ctr"/>
          <a:lstStyle/>
          <a:p>
            <a:pPr indent="0" marL="0">
              <a:lnSpc>
                <a:spcPts val="1150"/>
              </a:lnSpc>
              <a:buNone/>
            </a:pPr>
            <a:r>
              <a:rPr lang="en-US" sz="900" dirty="0">
                <a:solidFill>
                  <a:srgbClr val="1A1A2E"/>
                </a:solidFill>
                <a:latin typeface="Calibri" pitchFamily="34" charset="0"/>
                <a:ea typeface="Calibri" pitchFamily="34" charset="-122"/>
                <a:cs typeface="Calibri" pitchFamily="34" charset="-120"/>
              </a:rPr>
              <a:t>Pre-period RMSPE (root mean squared prediction error) = √mean((actual − synthetic)²) over each venue's own pre-period weeks — how well the twin matches reality before treatment starts. Flagged (excluded from the bar) if RMSPE exceeds 2.5× its type's median — restaurants' high median (26.4) is why 4 of its 46 fits got flagged.</a:t>
            </a:r>
            <a:endParaRPr lang="en-US" sz="900" dirty="0"/>
          </a:p>
        </p:txBody>
      </p:sp>
      <p:sp>
        <p:nvSpPr>
          <p:cNvPr id="16" name="Text 13"/>
          <p:cNvSpPr/>
          <p:nvPr/>
        </p:nvSpPr>
        <p:spPr>
          <a:xfrm>
            <a:off x="7406640" y="4315968"/>
            <a:ext cx="4206240" cy="96012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In-space placebo test — substitutes for a p-value since synthetic control has no closed-form SE: rerun the identical fit on every never-activated donor, pretending each was treated. Placebo p = share of donor "fake effects" at least as extreme as the real one — restaurant's p=0.158 is the weakest signal (its worst-fitting type too); gym's p=0.054 the strongest.</a:t>
            </a:r>
            <a:endParaRPr lang="en-US" sz="900" dirty="0"/>
          </a:p>
        </p:txBody>
      </p:sp>
      <p:sp>
        <p:nvSpPr>
          <p:cNvPr id="17" name="Text 14"/>
          <p:cNvSpPr/>
          <p:nvPr/>
        </p:nvSpPr>
        <p:spPr>
          <a:xfrm>
            <a:off x="7406640" y="5367528"/>
            <a:ext cx="4206240" cy="292608"/>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Consistent with the RCT — not independently significant</a:t>
            </a:r>
            <a:endParaRPr lang="en-US" sz="1100" dirty="0"/>
          </a:p>
        </p:txBody>
      </p:sp>
      <p:sp>
        <p:nvSpPr>
          <p:cNvPr id="18" name="Text 15"/>
          <p:cNvSpPr/>
          <p:nvPr/>
        </p:nvSpPr>
        <p:spPr>
          <a:xfrm>
            <a:off x="7406640" y="5696712"/>
            <a:ext cx="4206240" cy="548640"/>
          </a:xfrm>
          <a:prstGeom prst="rect">
            <a:avLst/>
          </a:prstGeom>
          <a:noFill/>
          <a:ln/>
        </p:spPr>
        <p:txBody>
          <a:bodyPr wrap="square" rtlCol="0" anchor="ctr"/>
          <a:lstStyle/>
          <a:p>
            <a:pPr indent="0" marL="0">
              <a:lnSpc>
                <a:spcPts val="1100"/>
              </a:lnSpc>
              <a:buNone/>
            </a:pPr>
            <a:r>
              <a:rPr lang="en-US" sz="900" dirty="0">
                <a:solidFill>
                  <a:srgbClr val="1A1A2E"/>
                </a:solidFill>
                <a:latin typeface="Calibri" pitchFamily="34" charset="0"/>
                <a:ea typeface="Calibri" pitchFamily="34" charset="-122"/>
                <a:cs typeface="Calibri" pitchFamily="34" charset="-120"/>
              </a:rPr>
              <a:t>No type clears p&lt;0.05 alone (gyms closest, 0.054) — but every point estimate lands within ~1.3 of the RCT's own effect for that same type, on a completely different set of venues: real corroboration, just not from this test alone.</a:t>
            </a:r>
            <a:endParaRPr lang="en-US" sz="900" dirty="0"/>
          </a:p>
        </p:txBody>
      </p:sp>
      <p:sp>
        <p:nvSpPr>
          <p:cNvPr id="19" name="Text 1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Causal measurement — Synthetic Control</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MMM: an uncalibrated model would have underpriced results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Adstock + saturation shape comes from the aggregate weekly series; scale is pinned by the RCT's high-confidence estimate.</a:t>
            </a:r>
            <a:endParaRPr lang="en-US" sz="1250" dirty="0"/>
          </a:p>
        </p:txBody>
      </p:sp>
      <p:graphicFrame>
        <p:nvGraphicFramePr>
          <p:cNvPr id="6" name="Chart 0" descr=""/>
          <p:cNvGraphicFramePr/>
          <p:nvPr/>
        </p:nvGraphicFramePr>
        <p:xfrm>
          <a:off x="548640" y="1600200"/>
          <a:ext cx="6949440" cy="22860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3977640"/>
            <a:ext cx="6949440" cy="237744"/>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fit the shape, then pin the scale</a:t>
            </a:r>
            <a:endParaRPr lang="en-US" sz="1250" dirty="0"/>
          </a:p>
        </p:txBody>
      </p:sp>
      <p:sp>
        <p:nvSpPr>
          <p:cNvPr id="8" name="Text 5"/>
          <p:cNvSpPr/>
          <p:nvPr/>
        </p:nvSpPr>
        <p:spPr>
          <a:xfrm>
            <a:off x="548640" y="4233672"/>
            <a:ext cx="6949440" cy="1463040"/>
          </a:xfrm>
          <a:prstGeom prst="rect">
            <a:avLst/>
          </a:prstGeom>
          <a:noFill/>
          <a:ln/>
        </p:spPr>
        <p:txBody>
          <a:bodyPr wrap="square" rtlCol="0" anchor="ctr"/>
          <a:lstStyle/>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① Fit shape on the aggregate weekly series (all venues of this type, RCT + observational pooled together): adstock carries exposure forward week to week (adstock_t = freq_t + decay×adstock_{t−1}), then a Hill curve turns that into diminishing returns (sat(x) = x^shape / (x^shape + half^shape)). decay, half, and shape are grid-searched — 7 × 6 × 4 = 168 combinations — picking whichever minimizes squared error against actual weekly traffic (with trend + seasonality controls, plain OLS). This gives β_naive, the raw uncalibrated max-lift.</a:t>
            </a:r>
            <a:endParaRPr lang="en-US" sz="900" dirty="0"/>
          </a:p>
          <a:p>
            <a:pPr indent="0" marL="0">
              <a:lnSpc>
                <a:spcPts val="1080"/>
              </a:lnSpc>
              <a:buNone/>
            </a:pPr>
            <a:r>
              <a:rPr lang="en-US" sz="900" dirty="0">
                <a:solidFill>
                  <a:srgbClr val="1A1A2E"/>
                </a:solidFill>
                <a:latin typeface="Calibri" pitchFamily="34" charset="0"/>
                <a:ea typeface="Calibri" pitchFamily="34" charset="-122"/>
                <a:cs typeface="Calibri" pitchFamily="34" charset="-120"/>
              </a:rPr>
              <a:t>② Pin scale only, via the RCT: simulate the RCT's own exposure (6 plays/wk for 10 weeks) through this same fitted decay/saturation curve to get its implied saturation level, then rescale β so the model's predicted lift there matches the RCT's point estimate exactly. decay/half/shape stay exactly as fit in step ① — only β moves.</a:t>
            </a:r>
            <a:endParaRPr lang="en-US" sz="900" dirty="0"/>
          </a:p>
        </p:txBody>
      </p:sp>
      <p:sp>
        <p:nvSpPr>
          <p:cNvPr id="9" name="Text 6"/>
          <p:cNvSpPr/>
          <p:nvPr/>
        </p:nvSpPr>
        <p:spPr>
          <a:xfrm>
            <a:off x="548640" y="5742432"/>
            <a:ext cx="6949440" cy="548640"/>
          </a:xfrm>
          <a:prstGeom prst="rect">
            <a:avLst/>
          </a:prstGeom>
          <a:noFill/>
          <a:ln/>
        </p:spPr>
        <p:txBody>
          <a:bodyPr wrap="square" rtlCol="0" anchor="ctr"/>
          <a:lstStyle/>
          <a:p>
            <a:pPr indent="0" marL="0">
              <a:lnSpc>
                <a:spcPts val="1050"/>
              </a:lnSpc>
              <a:buNone/>
            </a:pPr>
            <a:r>
              <a:rPr lang="en-US" sz="850" i="1" dirty="0">
                <a:solidFill>
                  <a:srgbClr val="5B6178"/>
                </a:solidFill>
                <a:latin typeface="Calibri" pitchFamily="34" charset="0"/>
                <a:ea typeface="Calibri" pitchFamily="34" charset="-122"/>
                <a:cs typeface="Calibri" pitchFamily="34" charset="-120"/>
              </a:rPr>
              <a:t>Simplified for the demo: a real deployment would add more controls (competitor spend, price/promo, macro trend), validate the shape out-of-time rather than on in-sample SSE alone, and often blend the experiment in as a Bayesian prior rather than a hard rescale.</a:t>
            </a:r>
            <a:endParaRPr lang="en-US" sz="850" dirty="0"/>
          </a:p>
        </p:txBody>
      </p:sp>
      <p:sp>
        <p:nvSpPr>
          <p:cNvPr id="10" name="Text 7"/>
          <p:cNvSpPr/>
          <p:nvPr/>
        </p:nvSpPr>
        <p:spPr>
          <a:xfrm>
            <a:off x="7772400" y="1600200"/>
            <a:ext cx="3840480" cy="274320"/>
          </a:xfrm>
          <a:prstGeom prst="rect">
            <a:avLst/>
          </a:prstGeom>
          <a:noFill/>
          <a:ln/>
        </p:spPr>
        <p:txBody>
          <a:bodyPr wrap="square" rtlCol="0" anchor="ctr"/>
          <a:lstStyle/>
          <a:p>
            <a:pPr indent="0" marL="0">
              <a:buNone/>
            </a:pPr>
            <a:r>
              <a:rPr lang="en-US" sz="1150" b="1" dirty="0">
                <a:solidFill>
                  <a:srgbClr val="1E2761"/>
                </a:solidFill>
                <a:latin typeface="Cambria" pitchFamily="34" charset="0"/>
                <a:ea typeface="Cambria" pitchFamily="34" charset="-122"/>
                <a:cs typeface="Cambria" pitchFamily="34" charset="-120"/>
              </a:rPr>
              <a:t>Calibration adjustment</a:t>
            </a:r>
            <a:endParaRPr lang="en-US" sz="1150" dirty="0"/>
          </a:p>
        </p:txBody>
      </p:sp>
      <p:sp>
        <p:nvSpPr>
          <p:cNvPr id="11" name="Text 8"/>
          <p:cNvSpPr/>
          <p:nvPr/>
        </p:nvSpPr>
        <p:spPr>
          <a:xfrm>
            <a:off x="7772400" y="1947672"/>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Restaurants</a:t>
            </a:r>
            <a:endParaRPr lang="en-US" sz="1100" dirty="0"/>
          </a:p>
        </p:txBody>
      </p:sp>
      <p:sp>
        <p:nvSpPr>
          <p:cNvPr id="12" name="Text 9"/>
          <p:cNvSpPr/>
          <p:nvPr/>
        </p:nvSpPr>
        <p:spPr>
          <a:xfrm>
            <a:off x="9509760" y="1947672"/>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+134%</a:t>
            </a:r>
            <a:endParaRPr lang="en-US" sz="1500" dirty="0"/>
          </a:p>
        </p:txBody>
      </p:sp>
      <p:sp>
        <p:nvSpPr>
          <p:cNvPr id="13" name="Text 10"/>
          <p:cNvSpPr/>
          <p:nvPr/>
        </p:nvSpPr>
        <p:spPr>
          <a:xfrm>
            <a:off x="7772400" y="2350008"/>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Gyms</a:t>
            </a:r>
            <a:endParaRPr lang="en-US" sz="1100" dirty="0"/>
          </a:p>
        </p:txBody>
      </p:sp>
      <p:sp>
        <p:nvSpPr>
          <p:cNvPr id="14" name="Text 11"/>
          <p:cNvSpPr/>
          <p:nvPr/>
        </p:nvSpPr>
        <p:spPr>
          <a:xfrm>
            <a:off x="9509760" y="2350008"/>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+165%</a:t>
            </a:r>
            <a:endParaRPr lang="en-US" sz="1500" dirty="0"/>
          </a:p>
        </p:txBody>
      </p:sp>
      <p:sp>
        <p:nvSpPr>
          <p:cNvPr id="15" name="Text 12"/>
          <p:cNvSpPr/>
          <p:nvPr/>
        </p:nvSpPr>
        <p:spPr>
          <a:xfrm>
            <a:off x="7772400" y="2752344"/>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Bars</a:t>
            </a:r>
            <a:endParaRPr lang="en-US" sz="1100" dirty="0"/>
          </a:p>
        </p:txBody>
      </p:sp>
      <p:sp>
        <p:nvSpPr>
          <p:cNvPr id="16" name="Text 13"/>
          <p:cNvSpPr/>
          <p:nvPr/>
        </p:nvSpPr>
        <p:spPr>
          <a:xfrm>
            <a:off x="9509760" y="2752344"/>
            <a:ext cx="2103120" cy="384048"/>
          </a:xfrm>
          <a:prstGeom prst="rect">
            <a:avLst/>
          </a:prstGeom>
          <a:noFill/>
          <a:ln/>
        </p:spPr>
        <p:txBody>
          <a:bodyPr wrap="square" rtlCol="0" anchor="ctr"/>
          <a:lstStyle/>
          <a:p>
            <a:pPr indent="0" marL="0">
              <a:buNone/>
            </a:pPr>
            <a:r>
              <a:rPr lang="en-US" sz="1500" b="1" dirty="0">
                <a:solidFill>
                  <a:srgbClr val="2C7A57"/>
                </a:solidFill>
                <a:latin typeface="Calibri" pitchFamily="34" charset="0"/>
                <a:ea typeface="Calibri" pitchFamily="34" charset="-122"/>
                <a:cs typeface="Calibri" pitchFamily="34" charset="-120"/>
              </a:rPr>
              <a:t>+20%</a:t>
            </a:r>
            <a:endParaRPr lang="en-US" sz="1500" dirty="0"/>
          </a:p>
        </p:txBody>
      </p:sp>
      <p:sp>
        <p:nvSpPr>
          <p:cNvPr id="17" name="Text 14"/>
          <p:cNvSpPr/>
          <p:nvPr/>
        </p:nvSpPr>
        <p:spPr>
          <a:xfrm>
            <a:off x="7772400" y="3154680"/>
            <a:ext cx="1737360" cy="384048"/>
          </a:xfrm>
          <a:prstGeom prst="rect">
            <a:avLst/>
          </a:prstGeom>
          <a:noFill/>
          <a:ln/>
        </p:spPr>
        <p:txBody>
          <a:bodyPr wrap="square" rtlCol="0" anchor="ctr"/>
          <a:lstStyle/>
          <a:p>
            <a:pPr indent="0" marL="0">
              <a:buNone/>
            </a:pPr>
            <a:r>
              <a:rPr lang="en-US" sz="1100" dirty="0">
                <a:solidFill>
                  <a:srgbClr val="1A1A2E"/>
                </a:solidFill>
                <a:latin typeface="Calibri" pitchFamily="34" charset="0"/>
                <a:ea typeface="Calibri" pitchFamily="34" charset="-122"/>
                <a:cs typeface="Calibri" pitchFamily="34" charset="-120"/>
              </a:rPr>
              <a:t>Waiting Rooms</a:t>
            </a:r>
            <a:endParaRPr lang="en-US" sz="1100" dirty="0"/>
          </a:p>
        </p:txBody>
      </p:sp>
      <p:sp>
        <p:nvSpPr>
          <p:cNvPr id="18" name="Text 15"/>
          <p:cNvSpPr/>
          <p:nvPr/>
        </p:nvSpPr>
        <p:spPr>
          <a:xfrm>
            <a:off x="9509760" y="3154680"/>
            <a:ext cx="2103120" cy="384048"/>
          </a:xfrm>
          <a:prstGeom prst="rect">
            <a:avLst/>
          </a:prstGeom>
          <a:noFill/>
          <a:ln/>
        </p:spPr>
        <p:txBody>
          <a:bodyPr wrap="square" rtlCol="0" anchor="ctr"/>
          <a:lstStyle/>
          <a:p>
            <a:pPr indent="0" marL="0">
              <a:buNone/>
            </a:pPr>
            <a:r>
              <a:rPr lang="en-US" sz="1500" b="1" dirty="0">
                <a:solidFill>
                  <a:srgbClr val="B8500A"/>
                </a:solidFill>
                <a:latin typeface="Calibri" pitchFamily="34" charset="0"/>
                <a:ea typeface="Calibri" pitchFamily="34" charset="-122"/>
                <a:cs typeface="Calibri" pitchFamily="34" charset="-120"/>
              </a:rPr>
              <a:t>+100%</a:t>
            </a:r>
            <a:endParaRPr lang="en-US" sz="1500" dirty="0"/>
          </a:p>
        </p:txBody>
      </p:sp>
      <p:sp>
        <p:nvSpPr>
          <p:cNvPr id="19" name="Text 16"/>
          <p:cNvSpPr/>
          <p:nvPr/>
        </p:nvSpPr>
        <p:spPr>
          <a:xfrm>
            <a:off x="7772400" y="3685032"/>
            <a:ext cx="3840480" cy="256032"/>
          </a:xfrm>
          <a:prstGeom prst="rect">
            <a:avLst/>
          </a:prstGeom>
          <a:noFill/>
          <a:ln/>
        </p:spPr>
        <p:txBody>
          <a:bodyPr wrap="square" rtlCol="0" anchor="ctr"/>
          <a:lstStyle/>
          <a:p>
            <a:pPr indent="0" marL="0">
              <a:buNone/>
            </a:pPr>
            <a:r>
              <a:rPr lang="en-US" sz="1050" b="1" dirty="0">
                <a:solidFill>
                  <a:srgbClr val="1E2761"/>
                </a:solidFill>
                <a:latin typeface="Cambria" pitchFamily="34" charset="0"/>
                <a:ea typeface="Cambria" pitchFamily="34" charset="-122"/>
                <a:cs typeface="Cambria" pitchFamily="34" charset="-120"/>
              </a:rPr>
              <a:t>Worked example: restaurant's β, step by step</a:t>
            </a:r>
            <a:endParaRPr lang="en-US" sz="1050" dirty="0"/>
          </a:p>
        </p:txBody>
      </p:sp>
      <p:sp>
        <p:nvSpPr>
          <p:cNvPr id="20" name="Text 17"/>
          <p:cNvSpPr/>
          <p:nvPr/>
        </p:nvSpPr>
        <p:spPr>
          <a:xfrm>
            <a:off x="7772400" y="3977640"/>
            <a:ext cx="3840480" cy="1188720"/>
          </a:xfrm>
          <a:prstGeom prst="rect">
            <a:avLst/>
          </a:prstGeom>
          <a:noFill/>
          <a:ln/>
        </p:spPr>
        <p:txBody>
          <a:bodyPr wrap="square" rtlCol="0" anchor="ctr"/>
          <a:lstStyle/>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design:      6 plays/wk × 10 wks</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Adstock (decay .7): 6.0→10.2→13.1→…→19.4</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Saturation (half 6, shape 3): .50→.83→.91→…→.97, avg≈0.90</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Naive predicts:  7.97 × 0.90 ≈ 7.2</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RCT measured:   16.79 (real, from Slide 7)</a:t>
            </a:r>
            <a:endParaRPr lang="en-US" sz="870" dirty="0"/>
          </a:p>
          <a:p>
            <a:pPr indent="0" marL="0">
              <a:lnSpc>
                <a:spcPts val="1300"/>
              </a:lnSpc>
              <a:buNone/>
            </a:pPr>
            <a:r>
              <a:rPr lang="en-US" sz="870" dirty="0">
                <a:solidFill>
                  <a:srgbClr val="1A1A2E"/>
                </a:solidFill>
                <a:latin typeface="Courier New" pitchFamily="34" charset="0"/>
                <a:ea typeface="Courier New" pitchFamily="34" charset="-122"/>
                <a:cs typeface="Courier New" pitchFamily="34" charset="-120"/>
              </a:rPr>
              <a:t>Calibrated β:   16.79 ÷ 0.90 ≈ 18.7</a:t>
            </a:r>
            <a:endParaRPr lang="en-US" sz="870" dirty="0"/>
          </a:p>
        </p:txBody>
      </p:sp>
      <p:sp>
        <p:nvSpPr>
          <p:cNvPr id="21" name="Text 18"/>
          <p:cNvSpPr/>
          <p:nvPr/>
        </p:nvSpPr>
        <p:spPr>
          <a:xfrm>
            <a:off x="7772400" y="5276088"/>
            <a:ext cx="3840480" cy="914400"/>
          </a:xfrm>
          <a:prstGeom prst="rect">
            <a:avLst/>
          </a:prstGeom>
          <a:noFill/>
          <a:ln/>
        </p:spPr>
        <p:txBody>
          <a:bodyPr wrap="square" rtlCol="0" anchor="ctr"/>
          <a:lstStyle/>
          <a:p>
            <a:pPr indent="0" marL="0">
              <a:lnSpc>
                <a:spcPts val="1150"/>
              </a:lnSpc>
              <a:buNone/>
            </a:pPr>
            <a:r>
              <a:rPr lang="en-US" sz="900" i="1" dirty="0">
                <a:solidFill>
                  <a:srgbClr val="5B6178"/>
                </a:solidFill>
                <a:latin typeface="Calibri" pitchFamily="34" charset="0"/>
                <a:ea typeface="Calibri" pitchFamily="34" charset="-122"/>
                <a:cs typeface="Calibri" pitchFamily="34" charset="-120"/>
              </a:rPr>
              <a:t>Only β is rescaled — decay/half/shape stay exactly as fit in step ①. calibration_adjustment_pct is just (β_calibrated − β_naive) ÷ β_naive: (18.69 − 7.97) ÷ 7.97 ≈ +134%, the number shown for restaurants above.</a:t>
            </a:r>
            <a:endParaRPr lang="en-US" sz="900" dirty="0"/>
          </a:p>
        </p:txBody>
      </p:sp>
      <p:sp>
        <p:nvSpPr>
          <p:cNvPr id="22" name="Text 19"/>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247120" cy="594360"/>
          </a:xfrm>
          <a:prstGeom prst="rect">
            <a:avLst/>
          </a:prstGeom>
          <a:noFill/>
          <a:ln/>
        </p:spPr>
        <p:txBody>
          <a:bodyPr wrap="square"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Robustness check: does competing media break this MMM?</a:t>
            </a:r>
            <a:endParaRPr lang="en-US" sz="24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3 robustness check ·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A stress-test scenario: a competing advertiser ramps up on the same venues at the same time, correlated with Atmosphere's own exposure — the kind of overlap a real MMM has to prove it's robust to.</a:t>
            </a:r>
            <a:endParaRPr lang="en-US" sz="1200" dirty="0"/>
          </a:p>
        </p:txBody>
      </p:sp>
      <p:graphicFrame>
        <p:nvGraphicFramePr>
          <p:cNvPr id="6" name="Chart 0" descr=""/>
          <p:cNvGraphicFramePr/>
          <p:nvPr/>
        </p:nvGraphicFramePr>
        <p:xfrm>
          <a:off x="548640" y="1600200"/>
          <a:ext cx="6949440" cy="3931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772400" y="1600200"/>
            <a:ext cx="3867912" cy="1234440"/>
          </a:xfrm>
          <a:prstGeom prst="roundRect">
            <a:avLst>
              <a:gd name="adj" fmla="val 5926"/>
            </a:avLst>
          </a:prstGeom>
          <a:solidFill>
            <a:srgbClr val="F5F7FC"/>
          </a:solidFill>
          <a:ln/>
        </p:spPr>
      </p:sp>
      <p:sp>
        <p:nvSpPr>
          <p:cNvPr id="8" name="Text 5"/>
          <p:cNvSpPr/>
          <p:nvPr/>
        </p:nvSpPr>
        <p:spPr>
          <a:xfrm>
            <a:off x="7955280" y="1719072"/>
            <a:ext cx="3520440" cy="365760"/>
          </a:xfrm>
          <a:prstGeom prst="rect">
            <a:avLst/>
          </a:prstGeom>
          <a:noFill/>
          <a:ln/>
        </p:spPr>
        <p:txBody>
          <a:bodyPr wrap="square" rtlCol="0" anchor="ctr"/>
          <a:lstStyle/>
          <a:p>
            <a:pPr indent="0" marL="0">
              <a:buNone/>
            </a:pPr>
            <a:r>
              <a:rPr lang="en-US" sz="1100" b="1" dirty="0">
                <a:solidFill>
                  <a:srgbClr val="1E2761"/>
                </a:solidFill>
                <a:latin typeface="Cambria" pitchFamily="34" charset="0"/>
                <a:ea typeface="Cambria" pitchFamily="34" charset="-122"/>
                <a:cs typeface="Cambria" pitchFamily="34" charset="-120"/>
              </a:rPr>
              <a:t>RCT estimate shift under the identical shock</a:t>
            </a:r>
            <a:endParaRPr lang="en-US" sz="1100" dirty="0"/>
          </a:p>
        </p:txBody>
      </p:sp>
      <p:sp>
        <p:nvSpPr>
          <p:cNvPr id="9" name="Text 6"/>
          <p:cNvSpPr/>
          <p:nvPr/>
        </p:nvSpPr>
        <p:spPr>
          <a:xfrm>
            <a:off x="7955280" y="2057400"/>
            <a:ext cx="3520440" cy="594360"/>
          </a:xfrm>
          <a:prstGeom prst="rect">
            <a:avLst/>
          </a:prstGeom>
          <a:noFill/>
          <a:ln/>
        </p:spPr>
        <p:txBody>
          <a:bodyPr wrap="square" rtlCol="0" anchor="ctr"/>
          <a:lstStyle/>
          <a:p>
            <a:pPr indent="0" marL="0">
              <a:buNone/>
            </a:pPr>
            <a:r>
              <a:rPr lang="en-US" sz="3200" b="1" dirty="0">
                <a:solidFill>
                  <a:srgbClr val="2C7A57"/>
                </a:solidFill>
                <a:latin typeface="Calibri" pitchFamily="34" charset="0"/>
                <a:ea typeface="Calibri" pitchFamily="34" charset="-122"/>
                <a:cs typeface="Calibri" pitchFamily="34" charset="-120"/>
              </a:rPr>
              <a:t>0.00</a:t>
            </a:r>
            <a:endParaRPr lang="en-US" sz="3200" dirty="0"/>
          </a:p>
        </p:txBody>
      </p:sp>
      <p:sp>
        <p:nvSpPr>
          <p:cNvPr id="10" name="Text 7"/>
          <p:cNvSpPr/>
          <p:nvPr/>
        </p:nvSpPr>
        <p:spPr>
          <a:xfrm>
            <a:off x="7955280" y="2633472"/>
            <a:ext cx="3520440" cy="182880"/>
          </a:xfrm>
          <a:prstGeom prst="rect">
            <a:avLst/>
          </a:prstGeom>
          <a:noFill/>
          <a:ln/>
        </p:spPr>
        <p:txBody>
          <a:bodyPr wrap="square" rtlCol="0" anchor="ctr"/>
          <a:lstStyle/>
          <a:p>
            <a:pPr indent="0" marL="0">
              <a:lnSpc>
                <a:spcPts val="1000"/>
              </a:lnSpc>
              <a:buNone/>
            </a:pPr>
            <a:r>
              <a:rPr lang="en-US" sz="870" i="1" dirty="0">
                <a:solidFill>
                  <a:srgbClr val="5B6178"/>
                </a:solidFill>
                <a:latin typeface="Calibri" pitchFamily="34" charset="0"/>
                <a:ea typeface="Calibri" pitchFamily="34" charset="-122"/>
                <a:cs typeface="Calibri" pitchFamily="34" charset="-120"/>
              </a:rPr>
              <a:t>every venue type — the shock hits both arms equally, so a randomized comparison is mechanically immune to it</a:t>
            </a:r>
            <a:endParaRPr lang="en-US" sz="870" dirty="0"/>
          </a:p>
        </p:txBody>
      </p:sp>
      <p:sp>
        <p:nvSpPr>
          <p:cNvPr id="11" name="Text 8"/>
          <p:cNvSpPr/>
          <p:nvPr/>
        </p:nvSpPr>
        <p:spPr>
          <a:xfrm>
            <a:off x="7772400" y="3063240"/>
            <a:ext cx="3867912" cy="1417320"/>
          </a:xfrm>
          <a:prstGeom prst="rect">
            <a:avLst/>
          </a:prstGeom>
          <a:noFill/>
          <a:ln/>
        </p:spPr>
        <p:txBody>
          <a:bodyPr wrap="square" rtlCol="0" anchor="ctr"/>
          <a:lstStyle/>
          <a:p>
            <a:pPr indent="0" marL="0">
              <a:lnSpc>
                <a:spcPts val="1350"/>
              </a:lnSpc>
              <a:buNone/>
            </a:pPr>
            <a:r>
              <a:rPr lang="en-US" sz="1000" dirty="0">
                <a:solidFill>
                  <a:srgbClr val="1A1A2E"/>
                </a:solidFill>
                <a:latin typeface="Calibri" pitchFamily="34" charset="0"/>
                <a:ea typeface="Calibri" pitchFamily="34" charset="-122"/>
                <a:cs typeface="Calibri" pitchFamily="34" charset="-120"/>
              </a:rPr>
              <a:t>Naive MMM, by contrast, swings from useful to actively misleading: for 3 of 4 venue types the confound-blind fit was off by 2–4× — even at a moderate 0.35 correlation between competing media and Atmosphere's own exposure ramp, nowhere near a worst case. Controlling for the confound (green) recovers this model's own baseline from the previous slide — the RCT-scale calibration from that same slide is what closes the rest of the gap.</a:t>
            </a:r>
            <a:endParaRPr lang="en-US" sz="1000" dirty="0"/>
          </a:p>
        </p:txBody>
      </p:sp>
      <p:sp>
        <p:nvSpPr>
          <p:cNvPr id="12" name="Shape 9"/>
          <p:cNvSpPr/>
          <p:nvPr/>
        </p:nvSpPr>
        <p:spPr>
          <a:xfrm>
            <a:off x="548640" y="5687568"/>
            <a:ext cx="11091672" cy="713232"/>
          </a:xfrm>
          <a:prstGeom prst="roundRect">
            <a:avLst>
              <a:gd name="adj" fmla="val 7692"/>
            </a:avLst>
          </a:prstGeom>
          <a:solidFill>
            <a:srgbClr val="FDF1E3"/>
          </a:solidFill>
          <a:ln/>
        </p:spPr>
      </p:sp>
      <p:sp>
        <p:nvSpPr>
          <p:cNvPr id="13" name="Text 10"/>
          <p:cNvSpPr/>
          <p:nvPr/>
        </p:nvSpPr>
        <p:spPr>
          <a:xfrm>
            <a:off x="731520" y="5779008"/>
            <a:ext cx="10744200" cy="548640"/>
          </a:xfrm>
          <a:prstGeom prst="rect">
            <a:avLst/>
          </a:prstGeom>
          <a:noFill/>
          <a:ln/>
        </p:spPr>
        <p:txBody>
          <a:bodyPr wrap="square" rtlCol="0" anchor="ctr"/>
          <a:lstStyle/>
          <a:p>
            <a:pPr indent="0" marL="0">
              <a:lnSpc>
                <a:spcPts val="1200"/>
              </a:lnSpc>
              <a:buNone/>
            </a:pPr>
            <a:r>
              <a:rPr lang="en-US" sz="950" i="1" dirty="0">
                <a:solidFill>
                  <a:srgbClr val="8A4B0A"/>
                </a:solidFill>
                <a:latin typeface="Calibri" pitchFamily="34" charset="0"/>
                <a:ea typeface="Calibri" pitchFamily="34" charset="-122"/>
                <a:cs typeface="Calibri" pitchFamily="34" charset="-120"/>
              </a:rPr>
              <a:t>Why this is scoped this way: deciding how an advertiser splits budget across Atmosphere + TV + social is the advertiser's/agency's call — Atmosphere has no visibility into competitors' channel data anyway. What Atmosphere's DS role should own is netting competing media OUT of its own causal read (the JD's own phrasing), which the RCT does by design and a single-channel MMM only does with an explicit control.</a:t>
            </a:r>
            <a:endParaRPr lang="en-US" sz="950" dirty="0"/>
          </a:p>
        </p:txBody>
      </p:sp>
      <p:sp>
        <p:nvSpPr>
          <p:cNvPr id="14" name="Text 11"/>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Media-mix model — robustness</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Why a greedy allocator can lose to equal-split</a:t>
            </a:r>
            <a:endParaRPr lang="en-US" sz="26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motivation · Answers Q2</a:t>
            </a:r>
            <a:endParaRPr lang="en-US" sz="950" dirty="0"/>
          </a:p>
        </p:txBody>
      </p:sp>
      <p:sp>
        <p:nvSpPr>
          <p:cNvPr id="5" name="Text 3"/>
          <p:cNvSpPr/>
          <p:nvPr/>
        </p:nvSpPr>
        <p:spPr>
          <a:xfrm>
            <a:off x="548640" y="1005840"/>
            <a:ext cx="10972800" cy="411480"/>
          </a:xfrm>
          <a:prstGeom prst="rect">
            <a:avLst/>
          </a:prstGeom>
          <a:noFill/>
          <a:ln/>
        </p:spPr>
        <p:txBody>
          <a:bodyPr wrap="square" rtlCol="0" anchor="ctr"/>
          <a:lstStyle/>
          <a:p>
            <a:pPr indent="0" marL="0">
              <a:lnSpc>
                <a:spcPts val="1400"/>
              </a:lnSpc>
              <a:buNone/>
            </a:pPr>
            <a:r>
              <a:rPr lang="en-US" sz="1200" i="1" dirty="0">
                <a:solidFill>
                  <a:srgbClr val="5B6178"/>
                </a:solidFill>
                <a:latin typeface="Calibri" pitchFamily="34" charset="0"/>
                <a:ea typeface="Calibri" pitchFamily="34" charset="-122"/>
                <a:cs typeface="Calibri" pitchFamily="34" charset="-120"/>
              </a:rPr>
              <a:t>A Hill/S-curve (shape &gt; 1, as fit here) is convex before its inflection point — the next dollar's marginal return isn't monotonically falling, so "chase today's best marginal $" can get stuck.</a:t>
            </a:r>
            <a:endParaRPr lang="en-US" sz="1200" dirty="0"/>
          </a:p>
        </p:txBody>
      </p:sp>
      <p:graphicFrame>
        <p:nvGraphicFramePr>
          <p:cNvPr id="6" name="Chart 0" descr=""/>
          <p:cNvGraphicFramePr/>
          <p:nvPr/>
        </p:nvGraphicFramePr>
        <p:xfrm>
          <a:off x="548640" y="1600200"/>
          <a:ext cx="6583680" cy="3063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p:nvPr/>
        </p:nvSpPr>
        <p:spPr>
          <a:xfrm>
            <a:off x="548640" y="4754880"/>
            <a:ext cx="6583680" cy="1417320"/>
          </a:xfrm>
          <a:prstGeom prst="rect">
            <a:avLst/>
          </a:prstGeom>
          <a:noFill/>
          <a:ln/>
        </p:spPr>
        <p:txBody>
          <a:bodyPr wrap="square" rtlCol="0" anchor="ctr"/>
          <a:lstStyle/>
          <a:p>
            <a:pPr indent="0" marL="0">
              <a:lnSpc>
                <a:spcPts val="1300"/>
              </a:lnSpc>
              <a:buNone/>
            </a:pPr>
            <a:r>
              <a:rPr lang="en-US" sz="1000" dirty="0">
                <a:solidFill>
                  <a:srgbClr val="1A1A2E"/>
                </a:solidFill>
                <a:latin typeface="Calibri" pitchFamily="34" charset="0"/>
                <a:ea typeface="Calibri" pitchFamily="34" charset="-122"/>
                <a:cs typeface="Calibri" pitchFamily="34" charset="-120"/>
              </a:rPr>
              <a:t>This real curve (restaurant, from this deck's own calibrated MMM) is convex up to ~freq 1.0–1.5, concave after. At very low frequency every venue type's next dollar buys almost nothing — still in the flat, convex trough — so a rule comparing "which type's next dollar looks best right now" can't see that committing a lump sum to ONE type would pay off later. It only sees today's small, similar-looking numbers.</a:t>
            </a:r>
            <a:endParaRPr lang="en-US" sz="1000" dirty="0"/>
          </a:p>
        </p:txBody>
      </p:sp>
      <p:sp>
        <p:nvSpPr>
          <p:cNvPr id="8" name="Text 5"/>
          <p:cNvSpPr/>
          <p:nvPr/>
        </p:nvSpPr>
        <p:spPr>
          <a:xfrm>
            <a:off x="7406640" y="1600200"/>
            <a:ext cx="4206240" cy="365760"/>
          </a:xfrm>
          <a:prstGeom prst="rect">
            <a:avLst/>
          </a:prstGeom>
          <a:noFill/>
          <a:ln/>
        </p:spPr>
        <p:txBody>
          <a:bodyPr wrap="square" rtlCol="0" anchor="ctr"/>
          <a:lstStyle/>
          <a:p>
            <a:pPr indent="0" marL="0">
              <a:lnSpc>
                <a:spcPts val="1400"/>
              </a:lnSpc>
              <a:buNone/>
            </a:pPr>
            <a:r>
              <a:rPr lang="en-US" sz="1200" b="1" dirty="0">
                <a:solidFill>
                  <a:srgbClr val="1E2761"/>
                </a:solidFill>
                <a:latin typeface="Cambria" pitchFamily="34" charset="0"/>
                <a:ea typeface="Cambria" pitchFamily="34" charset="-122"/>
                <a:cs typeface="Cambria" pitchFamily="34" charset="-120"/>
              </a:rPr>
              <a:t>At freq ≈ .25, every type looks similarly unpromising</a:t>
            </a:r>
            <a:endParaRPr lang="en-US" sz="1200" dirty="0"/>
          </a:p>
        </p:txBody>
      </p:sp>
      <p:sp>
        <p:nvSpPr>
          <p:cNvPr id="9" name="Text 6"/>
          <p:cNvSpPr/>
          <p:nvPr/>
        </p:nvSpPr>
        <p:spPr>
          <a:xfrm>
            <a:off x="7406640" y="2057400"/>
            <a:ext cx="4206240" cy="96012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Venue type      Lift per $1,000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1.4</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Restaurant             5.0</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6.1</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Waiting room           8.4</a:t>
            </a:r>
            <a:endParaRPr lang="en-US" sz="950" dirty="0"/>
          </a:p>
        </p:txBody>
      </p:sp>
      <p:sp>
        <p:nvSpPr>
          <p:cNvPr id="10" name="Text 7"/>
          <p:cNvSpPr/>
          <p:nvPr/>
        </p:nvSpPr>
        <p:spPr>
          <a:xfrm>
            <a:off x="7406640" y="3108960"/>
            <a:ext cx="4206240" cy="457200"/>
          </a:xfrm>
          <a:prstGeom prst="rect">
            <a:avLst/>
          </a:prstGeom>
          <a:noFill/>
          <a:ln/>
        </p:spPr>
        <p:txBody>
          <a:bodyPr wrap="square" rtlCol="0" anchor="ctr"/>
          <a:lstStyle/>
          <a:p>
            <a:pPr indent="0" marL="0">
              <a:lnSpc>
                <a:spcPts val="1300"/>
              </a:lnSpc>
              <a:buNone/>
            </a:pPr>
            <a:r>
              <a:rPr lang="en-US" sz="1000" i="1" dirty="0">
                <a:solidFill>
                  <a:srgbClr val="1A1A2E"/>
                </a:solidFill>
                <a:latin typeface="Calibri" pitchFamily="34" charset="0"/>
                <a:ea typeface="Calibri" pitchFamily="34" charset="-122"/>
                <a:cs typeface="Calibri" pitchFamily="34" charset="-120"/>
              </a:rPr>
              <a:t>...but each type's own PEAK (always somewhere around freq 1–2) is 15–30× higher:</a:t>
            </a:r>
            <a:endParaRPr lang="en-US" sz="1000" dirty="0"/>
          </a:p>
        </p:txBody>
      </p:sp>
      <p:sp>
        <p:nvSpPr>
          <p:cNvPr id="11" name="Text 8"/>
          <p:cNvSpPr/>
          <p:nvPr/>
        </p:nvSpPr>
        <p:spPr>
          <a:xfrm>
            <a:off x="7406640" y="3611880"/>
            <a:ext cx="4206240" cy="548640"/>
          </a:xfrm>
          <a:prstGeom prst="rect">
            <a:avLst/>
          </a:prstGeom>
          <a:noFill/>
          <a:ln/>
        </p:spPr>
        <p:txBody>
          <a:bodyPr wrap="square" rtlCol="0" anchor="ctr"/>
          <a:lstStyle/>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Bar ~124      Restaurant ~206</a:t>
            </a:r>
            <a:endParaRPr lang="en-US" sz="950" dirty="0"/>
          </a:p>
          <a:p>
            <a:pPr indent="0" marL="0">
              <a:lnSpc>
                <a:spcPts val="1500"/>
              </a:lnSpc>
              <a:buNone/>
            </a:pPr>
            <a:r>
              <a:rPr lang="en-US" sz="950" dirty="0">
                <a:solidFill>
                  <a:srgbClr val="1A1A2E"/>
                </a:solidFill>
                <a:latin typeface="Courier New" pitchFamily="34" charset="0"/>
                <a:ea typeface="Courier New" pitchFamily="34" charset="-122"/>
                <a:cs typeface="Courier New" pitchFamily="34" charset="-120"/>
              </a:rPr>
              <a:t>Gym ~132      Waiting room ~247</a:t>
            </a:r>
            <a:endParaRPr lang="en-US" sz="950" dirty="0"/>
          </a:p>
        </p:txBody>
      </p:sp>
      <p:sp>
        <p:nvSpPr>
          <p:cNvPr id="12" name="Text 9"/>
          <p:cNvSpPr/>
          <p:nvPr/>
        </p:nvSpPr>
        <p:spPr>
          <a:xfrm>
            <a:off x="7406640" y="4251960"/>
            <a:ext cx="4206240" cy="1920240"/>
          </a:xfrm>
          <a:prstGeom prst="rect">
            <a:avLst/>
          </a:prstGeom>
          <a:noFill/>
          <a:ln/>
        </p:spPr>
        <p:txBody>
          <a:bodyPr wrap="square" rtlCol="0" anchor="ctr"/>
          <a:lstStyle/>
          <a:p>
            <a:pPr indent="0" marL="0">
              <a:lnSpc>
                <a:spcPts val="1250"/>
              </a:lnSpc>
              <a:buNone/>
            </a:pPr>
            <a:r>
              <a:rPr lang="en-US" sz="950" i="1" dirty="0">
                <a:solidFill>
                  <a:srgbClr val="5B6178"/>
                </a:solidFill>
                <a:latin typeface="Calibri" pitchFamily="34" charset="0"/>
                <a:ea typeface="Calibri" pitchFamily="34" charset="-122"/>
                <a:cs typeface="Calibri" pitchFamily="34" charset="-120"/>
              </a:rPr>
              <a:t>A greedy rule that only ever compares "today's next dollar" has no way to see that peak from here — it can only react to which of these near-tied numbers is currently largest, one tiny step at a time. This is the mechanism that let an earlier greedy version of this allocator underperform naive equal-split at larger budgets — the retired code itself isn't preserved, but this is the exact response-curve shape it was walking.</a:t>
            </a:r>
            <a:endParaRPr lang="en-US" sz="950" dirty="0"/>
          </a:p>
        </p:txBody>
      </p:sp>
      <p:sp>
        <p:nvSpPr>
          <p:cNvPr id="13" name="Text 10"/>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 why not greedy</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Budget allocator: how the exact DP actually works</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B8500A"/>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B8500A"/>
                </a:solidFill>
                <a:latin typeface="Calibri" pitchFamily="34" charset="0"/>
                <a:ea typeface="Calibri" pitchFamily="34" charset="-122"/>
                <a:cs typeface="Calibri" pitchFamily="34" charset="-120"/>
              </a:rPr>
              <a:t>Step 4 of 6 · Answers Q2</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No concavity requirement — every discretized spend level is actually evaluated, so by construction it can never do worse than equal-split.</a:t>
            </a:r>
            <a:endParaRPr lang="en-US" sz="1250" dirty="0"/>
          </a:p>
        </p:txBody>
      </p:sp>
      <p:sp>
        <p:nvSpPr>
          <p:cNvPr id="6" name="Text 4"/>
          <p:cNvSpPr/>
          <p:nvPr/>
        </p:nvSpPr>
        <p:spPr>
          <a:xfrm>
            <a:off x="548640" y="1417320"/>
            <a:ext cx="6675120" cy="256032"/>
          </a:xfrm>
          <a:prstGeom prst="rect">
            <a:avLst/>
          </a:prstGeom>
          <a:noFill/>
          <a:ln/>
        </p:spPr>
        <p:txBody>
          <a:bodyPr wrap="square" rtlCol="0" anchor="ctr"/>
          <a:lstStyle/>
          <a:p>
            <a:pPr indent="0" marL="0">
              <a:buNone/>
            </a:pPr>
            <a:r>
              <a:rPr lang="en-US" sz="1250" b="1" dirty="0">
                <a:solidFill>
                  <a:srgbClr val="1E2761"/>
                </a:solidFill>
                <a:latin typeface="Cambria" pitchFamily="34" charset="0"/>
                <a:ea typeface="Cambria" pitchFamily="34" charset="-122"/>
                <a:cs typeface="Cambria" pitchFamily="34" charset="-120"/>
              </a:rPr>
              <a:t>Method: exact DP in four steps (multiple-choice knapsack)</a:t>
            </a:r>
            <a:endParaRPr lang="en-US" sz="1250" dirty="0"/>
          </a:p>
        </p:txBody>
      </p:sp>
      <p:sp>
        <p:nvSpPr>
          <p:cNvPr id="7" name="Text 5"/>
          <p:cNvSpPr/>
          <p:nvPr/>
        </p:nvSpPr>
        <p:spPr>
          <a:xfrm>
            <a:off x="548640" y="1691640"/>
            <a:ext cx="6675120" cy="1874520"/>
          </a:xfrm>
          <a:prstGeom prst="rect">
            <a:avLst/>
          </a:prstGeom>
          <a:noFill/>
          <a:ln/>
        </p:spPr>
        <p:txBody>
          <a:bodyPr wrap="square" rtlCol="0" anchor="ctr"/>
          <a:lstStyle/>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① Discretize: for each venue_type, sweep frequency 0→14/venue in 0.25 steps (57 points). At each point, read network lift = per-venue lift (from the calibrated MMM response curve) × venue count, and $ spend = freq × cost-per-frequency-unit × venue count.</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② Snap every candidate's spend onto a shared $250 grid, so all venue types' options line up on one budget axis — keeping only the highest-lift option at each grid point per type. This is that type's "menu."</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③ Process venue types one at a time: for every $ grid point b, try each of that type's menu options with spend ≤ b, add it to whatever the types-already-processed achieved at (b − spend), and keep whichever combination gives the highest total lift — every option is actually tried, not estimated from a local slope.</a:t>
            </a:r>
            <a:endParaRPr lang="en-US" sz="930" dirty="0"/>
          </a:p>
          <a:p>
            <a:pPr indent="0" marL="0">
              <a:lnSpc>
                <a:spcPts val="1150"/>
              </a:lnSpc>
              <a:buNone/>
            </a:pPr>
            <a:r>
              <a:rPr lang="en-US" sz="930" dirty="0">
                <a:solidFill>
                  <a:srgbClr val="1A1A2E"/>
                </a:solidFill>
                <a:latin typeface="Calibri" pitchFamily="34" charset="0"/>
                <a:ea typeface="Calibri" pitchFamily="34" charset="-122"/>
                <a:cs typeface="Calibri" pitchFamily="34" charset="-120"/>
              </a:rPr>
              <a:t>④ Backtrack from the full-budget column to read off which frequency was actually chosen for each venue type.</a:t>
            </a:r>
            <a:endParaRPr lang="en-US" sz="930" dirty="0"/>
          </a:p>
        </p:txBody>
      </p:sp>
      <p:sp>
        <p:nvSpPr>
          <p:cNvPr id="8" name="Text 6"/>
          <p:cNvSpPr/>
          <p:nvPr/>
        </p:nvSpPr>
        <p:spPr>
          <a:xfrm>
            <a:off x="548640" y="3657600"/>
            <a:ext cx="6675120" cy="457200"/>
          </a:xfrm>
          <a:prstGeom prst="rect">
            <a:avLst/>
          </a:prstGeom>
          <a:noFill/>
          <a:ln/>
        </p:spPr>
        <p:txBody>
          <a:bodyPr wrap="square" rtlCol="0" anchor="ctr"/>
          <a:lstStyle/>
          <a:p>
            <a:pPr indent="0" marL="0">
              <a:lnSpc>
                <a:spcPts val="1100"/>
              </a:lnSpc>
              <a:buNone/>
            </a:pPr>
            <a:r>
              <a:rPr lang="en-US" sz="870" i="1" dirty="0">
                <a:solidFill>
                  <a:srgbClr val="5B6178"/>
                </a:solidFill>
                <a:latin typeface="Calibri" pitchFamily="34" charset="0"/>
                <a:ea typeface="Calibri" pitchFamily="34" charset="-122"/>
                <a:cs typeface="Calibri" pitchFamily="34" charset="-120"/>
              </a:rPr>
              <a:t>Grid granularity ($250 budget steps, 0.25 frequency steps) trades a little precision for tractability — the same principle real deployments use, just at production-scale resolution.</a:t>
            </a:r>
            <a:endParaRPr lang="en-US" sz="870" dirty="0"/>
          </a:p>
        </p:txBody>
      </p:sp>
      <p:graphicFrame>
        <p:nvGraphicFramePr>
          <p:cNvPr id="9" name="Chart 0" descr=""/>
          <p:cNvGraphicFramePr/>
          <p:nvPr/>
        </p:nvGraphicFramePr>
        <p:xfrm>
          <a:off x="548640" y="4206240"/>
          <a:ext cx="6675120" cy="2148840"/>
        </p:xfrm>
        <a:graphic xmlns:a="http://schemas.openxmlformats.org/drawingml/2006/main">
          <a:graphicData uri="http://schemas.openxmlformats.org/drawingml/2006/chart">
            <c:chart xmlns:c="http://schemas.openxmlformats.org/drawingml/2006/chart" r:id="rId1"/>
          </a:graphicData>
        </a:graphic>
      </p:graphicFrame>
      <p:sp>
        <p:nvSpPr>
          <p:cNvPr id="10" name="Text 7"/>
          <p:cNvSpPr/>
          <p:nvPr/>
        </p:nvSpPr>
        <p:spPr>
          <a:xfrm>
            <a:off x="7498080" y="1417320"/>
            <a:ext cx="4114800" cy="320040"/>
          </a:xfrm>
          <a:prstGeom prst="rect">
            <a:avLst/>
          </a:prstGeom>
          <a:noFill/>
          <a:ln/>
        </p:spPr>
        <p:txBody>
          <a:bodyPr wrap="square" rtlCol="0" anchor="ctr"/>
          <a:lstStyle/>
          <a:p>
            <a:pPr indent="0" marL="0">
              <a:buNone/>
            </a:pPr>
            <a:r>
              <a:rPr lang="en-US" sz="1300" b="1" dirty="0">
                <a:solidFill>
                  <a:srgbClr val="1E2761"/>
                </a:solidFill>
                <a:latin typeface="Cambria" pitchFamily="34" charset="0"/>
                <a:ea typeface="Cambria" pitchFamily="34" charset="-122"/>
                <a:cs typeface="Cambria" pitchFamily="34" charset="-120"/>
              </a:rPr>
              <a:t>Gain vs. naive equal-split</a:t>
            </a:r>
            <a:endParaRPr lang="en-US" sz="1300" dirty="0"/>
          </a:p>
        </p:txBody>
      </p:sp>
      <p:sp>
        <p:nvSpPr>
          <p:cNvPr id="11" name="Text 8"/>
          <p:cNvSpPr/>
          <p:nvPr/>
        </p:nvSpPr>
        <p:spPr>
          <a:xfrm>
            <a:off x="7498080" y="187452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$20,000 budget</a:t>
            </a:r>
            <a:endParaRPr lang="en-US" sz="1200" dirty="0"/>
          </a:p>
        </p:txBody>
      </p:sp>
      <p:sp>
        <p:nvSpPr>
          <p:cNvPr id="12" name="Text 9"/>
          <p:cNvSpPr/>
          <p:nvPr/>
        </p:nvSpPr>
        <p:spPr>
          <a:xfrm>
            <a:off x="9326880" y="182880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+48.6%</a:t>
            </a:r>
            <a:endParaRPr lang="en-US" sz="2000" dirty="0"/>
          </a:p>
        </p:txBody>
      </p:sp>
      <p:sp>
        <p:nvSpPr>
          <p:cNvPr id="13" name="Text 10"/>
          <p:cNvSpPr/>
          <p:nvPr/>
        </p:nvSpPr>
        <p:spPr>
          <a:xfrm>
            <a:off x="7498080" y="225856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4" name="Text 11"/>
          <p:cNvSpPr/>
          <p:nvPr/>
        </p:nvSpPr>
        <p:spPr>
          <a:xfrm>
            <a:off x="7498080" y="292608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$50,000 budget</a:t>
            </a:r>
            <a:endParaRPr lang="en-US" sz="1200" dirty="0"/>
          </a:p>
        </p:txBody>
      </p:sp>
      <p:sp>
        <p:nvSpPr>
          <p:cNvPr id="15" name="Text 12"/>
          <p:cNvSpPr/>
          <p:nvPr/>
        </p:nvSpPr>
        <p:spPr>
          <a:xfrm>
            <a:off x="9326880" y="288036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+11.1%</a:t>
            </a:r>
            <a:endParaRPr lang="en-US" sz="2000" dirty="0"/>
          </a:p>
        </p:txBody>
      </p:sp>
      <p:sp>
        <p:nvSpPr>
          <p:cNvPr id="16" name="Text 13"/>
          <p:cNvSpPr/>
          <p:nvPr/>
        </p:nvSpPr>
        <p:spPr>
          <a:xfrm>
            <a:off x="7498080" y="331012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17" name="Text 14"/>
          <p:cNvSpPr/>
          <p:nvPr/>
        </p:nvSpPr>
        <p:spPr>
          <a:xfrm>
            <a:off x="7498080" y="3977640"/>
            <a:ext cx="1828800" cy="457200"/>
          </a:xfrm>
          <a:prstGeom prst="rect">
            <a:avLst/>
          </a:prstGeom>
          <a:noFill/>
          <a:ln/>
        </p:spPr>
        <p:txBody>
          <a:bodyPr wrap="square" rtlCol="0" anchor="ctr"/>
          <a:lstStyle/>
          <a:p>
            <a:pPr indent="0" marL="0">
              <a:buNone/>
            </a:pPr>
            <a:r>
              <a:rPr lang="en-US" sz="1200" dirty="0">
                <a:solidFill>
                  <a:srgbClr val="1A1A2E"/>
                </a:solidFill>
                <a:latin typeface="Calibri" pitchFamily="34" charset="0"/>
                <a:ea typeface="Calibri" pitchFamily="34" charset="-122"/>
                <a:cs typeface="Calibri" pitchFamily="34" charset="-120"/>
              </a:rPr>
              <a:t>$100,000 budget</a:t>
            </a:r>
            <a:endParaRPr lang="en-US" sz="1200" dirty="0"/>
          </a:p>
        </p:txBody>
      </p:sp>
      <p:sp>
        <p:nvSpPr>
          <p:cNvPr id="18" name="Text 15"/>
          <p:cNvSpPr/>
          <p:nvPr/>
        </p:nvSpPr>
        <p:spPr>
          <a:xfrm>
            <a:off x="9326880" y="3931920"/>
            <a:ext cx="2286000" cy="548640"/>
          </a:xfrm>
          <a:prstGeom prst="rect">
            <a:avLst/>
          </a:prstGeom>
          <a:noFill/>
          <a:ln/>
        </p:spPr>
        <p:txBody>
          <a:bodyPr wrap="square" rtlCol="0" anchor="ctr"/>
          <a:lstStyle/>
          <a:p>
            <a:pPr indent="0" marL="0">
              <a:buNone/>
            </a:pPr>
            <a:r>
              <a:rPr lang="en-US" sz="2000" b="1" dirty="0">
                <a:solidFill>
                  <a:srgbClr val="E8871E"/>
                </a:solidFill>
                <a:latin typeface="Calibri" pitchFamily="34" charset="0"/>
                <a:ea typeface="Calibri" pitchFamily="34" charset="-122"/>
                <a:cs typeface="Calibri" pitchFamily="34" charset="-120"/>
              </a:rPr>
              <a:t>+2.4%</a:t>
            </a:r>
            <a:endParaRPr lang="en-US" sz="2000" dirty="0"/>
          </a:p>
        </p:txBody>
      </p:sp>
      <p:sp>
        <p:nvSpPr>
          <p:cNvPr id="19" name="Text 16"/>
          <p:cNvSpPr/>
          <p:nvPr/>
        </p:nvSpPr>
        <p:spPr>
          <a:xfrm>
            <a:off x="7498080" y="4361688"/>
            <a:ext cx="4114800" cy="274320"/>
          </a:xfrm>
          <a:prstGeom prst="rect">
            <a:avLst/>
          </a:prstGeom>
          <a:noFill/>
          <a:ln/>
        </p:spPr>
        <p:txBody>
          <a:bodyPr wrap="square" rtlCol="0" anchor="ctr"/>
          <a:lstStyle/>
          <a:p>
            <a:pPr indent="0" marL="0">
              <a:buNone/>
            </a:pPr>
            <a:r>
              <a:rPr lang="en-US" sz="950" i="1" dirty="0">
                <a:solidFill>
                  <a:srgbClr val="5B6178"/>
                </a:solidFill>
                <a:latin typeface="Calibri" pitchFamily="34" charset="0"/>
                <a:ea typeface="Calibri" pitchFamily="34" charset="-122"/>
                <a:cs typeface="Calibri" pitchFamily="34" charset="-120"/>
              </a:rPr>
              <a:t>vs. naive equal-split</a:t>
            </a:r>
            <a:endParaRPr lang="en-US" sz="950" dirty="0"/>
          </a:p>
        </p:txBody>
      </p:sp>
      <p:sp>
        <p:nvSpPr>
          <p:cNvPr id="20" name="Text 17"/>
          <p:cNvSpPr/>
          <p:nvPr/>
        </p:nvSpPr>
        <p:spPr>
          <a:xfrm>
            <a:off x="7498080" y="5074920"/>
            <a:ext cx="4206240" cy="822960"/>
          </a:xfrm>
          <a:prstGeom prst="rect">
            <a:avLst/>
          </a:prstGeom>
          <a:noFill/>
          <a:ln/>
        </p:spPr>
        <p:txBody>
          <a:bodyPr wrap="square" rtlCol="0" anchor="ctr"/>
          <a:lstStyle/>
          <a:p>
            <a:pPr indent="0" marL="0">
              <a:lnSpc>
                <a:spcPts val="1400"/>
              </a:lnSpc>
              <a:buNone/>
            </a:pPr>
            <a:r>
              <a:rPr lang="en-US" sz="1050" i="1" dirty="0">
                <a:solidFill>
                  <a:srgbClr val="5B6178"/>
                </a:solidFill>
                <a:latin typeface="Calibri" pitchFamily="34" charset="0"/>
                <a:ea typeface="Calibri" pitchFamily="34" charset="-122"/>
                <a:cs typeface="Calibri" pitchFamily="34" charset="-120"/>
              </a:rPr>
              <a:t>The optimizer's edge is largest when budget is scarce — exactly when allocation decisions matter most. (Previous slide: why a greedy walk can lose this edge entirely.)</a:t>
            </a:r>
            <a:endParaRPr lang="en-US" sz="1050" dirty="0"/>
          </a:p>
        </p:txBody>
      </p:sp>
      <p:sp>
        <p:nvSpPr>
          <p:cNvPr id="21" name="Text 18"/>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Productization — budget allocator</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B4D"/>
        </a:solidFill>
      </p:bgPr>
    </p:bg>
    <p:spTree>
      <p:nvGrpSpPr>
        <p:cNvPr id="1" name=""/>
        <p:cNvGrpSpPr/>
        <p:nvPr/>
      </p:nvGrpSpPr>
      <p:grpSpPr>
        <a:xfrm>
          <a:off x="0" y="0"/>
          <a:ext cx="0" cy="0"/>
          <a:chOff x="0" y="0"/>
          <a:chExt cx="0" cy="0"/>
        </a:xfrm>
      </p:grpSpPr>
      <p:sp>
        <p:nvSpPr>
          <p:cNvPr id="2" name="Text 0"/>
          <p:cNvSpPr/>
          <p:nvPr/>
        </p:nvSpPr>
        <p:spPr>
          <a:xfrm>
            <a:off x="548640" y="457200"/>
            <a:ext cx="10972800" cy="64008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The other side of the business</a:t>
            </a:r>
            <a:endParaRPr lang="en-US" sz="28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5B6178"/>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5B6178"/>
                </a:solidFill>
                <a:latin typeface="Calibri" pitchFamily="34" charset="0"/>
                <a:ea typeface="Calibri" pitchFamily="34" charset="-122"/>
                <a:cs typeface="Calibri" pitchFamily="34" charset="-120"/>
              </a:rPr>
              <a:t>Transition · Q1–Q2 → Q3–Q4</a:t>
            </a:r>
            <a:endParaRPr lang="en-US" sz="950" dirty="0"/>
          </a:p>
        </p:txBody>
      </p:sp>
      <p:sp>
        <p:nvSpPr>
          <p:cNvPr id="5" name="Text 3"/>
          <p:cNvSpPr/>
          <p:nvPr/>
        </p:nvSpPr>
        <p:spPr>
          <a:xfrm>
            <a:off x="548640" y="1097280"/>
            <a:ext cx="10972800" cy="411480"/>
          </a:xfrm>
          <a:prstGeom prst="rect">
            <a:avLst/>
          </a:prstGeom>
          <a:noFill/>
          <a:ln/>
        </p:spPr>
        <p:txBody>
          <a:bodyPr wrap="square" rtlCol="0" anchor="ctr"/>
          <a:lstStyle/>
          <a:p>
            <a:pPr indent="0" marL="0">
              <a:buNone/>
            </a:pPr>
            <a:r>
              <a:rPr lang="en-US" sz="1350" i="1" dirty="0">
                <a:solidFill>
                  <a:srgbClr val="CADCFC"/>
                </a:solidFill>
                <a:latin typeface="Calibri" pitchFamily="34" charset="0"/>
                <a:ea typeface="Calibri" pitchFamily="34" charset="-122"/>
                <a:cs typeface="Calibri" pitchFamily="34" charset="-120"/>
              </a:rPr>
              <a:t>One system answers the advertising side. The same system answers the venue-network side too.</a:t>
            </a:r>
            <a:endParaRPr lang="en-US" sz="1350" dirty="0"/>
          </a:p>
        </p:txBody>
      </p:sp>
      <p:sp>
        <p:nvSpPr>
          <p:cNvPr id="6" name="Shape 4"/>
          <p:cNvSpPr/>
          <p:nvPr/>
        </p:nvSpPr>
        <p:spPr>
          <a:xfrm>
            <a:off x="548640" y="1691640"/>
            <a:ext cx="5212080" cy="4343400"/>
          </a:xfrm>
          <a:prstGeom prst="roundRect">
            <a:avLst>
              <a:gd name="adj" fmla="val 2105"/>
            </a:avLst>
          </a:prstGeom>
          <a:solidFill>
            <a:srgbClr val="2A3480"/>
          </a:solidFill>
          <a:ln/>
        </p:spPr>
      </p:sp>
      <p:sp>
        <p:nvSpPr>
          <p:cNvPr id="7" name="Text 5"/>
          <p:cNvSpPr/>
          <p:nvPr/>
        </p:nvSpPr>
        <p:spPr>
          <a:xfrm>
            <a:off x="91440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Advertising incrementality</a:t>
            </a:r>
            <a:endParaRPr lang="en-US" sz="1600" dirty="0"/>
          </a:p>
        </p:txBody>
      </p:sp>
      <p:sp>
        <p:nvSpPr>
          <p:cNvPr id="8" name="Text 6"/>
          <p:cNvSpPr/>
          <p:nvPr/>
        </p:nvSpPr>
        <p:spPr>
          <a:xfrm>
            <a:off x="914400" y="2697480"/>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Prove and price advertising incrementality</a:t>
            </a:r>
            <a:endParaRPr lang="en-US" sz="1200" dirty="0"/>
          </a:p>
        </p:txBody>
      </p:sp>
      <p:sp>
        <p:nvSpPr>
          <p:cNvPr id="9" name="Text 7"/>
          <p:cNvSpPr/>
          <p:nvPr/>
        </p:nvSpPr>
        <p:spPr>
          <a:xfrm>
            <a:off x="914400" y="3355848"/>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Feeds go-to-market: sell-side differentiator, client trust</a:t>
            </a:r>
            <a:endParaRPr lang="en-US" sz="1200" dirty="0"/>
          </a:p>
        </p:txBody>
      </p:sp>
      <p:sp>
        <p:nvSpPr>
          <p:cNvPr id="10" name="Text 8"/>
          <p:cNvSpPr/>
          <p:nvPr/>
        </p:nvSpPr>
        <p:spPr>
          <a:xfrm>
            <a:off x="914400" y="4014216"/>
            <a:ext cx="4480560" cy="594360"/>
          </a:xfrm>
          <a:prstGeom prst="rect">
            <a:avLst/>
          </a:prstGeom>
          <a:noFill/>
          <a:ln/>
        </p:spPr>
        <p:txBody>
          <a:bodyPr wrap="square" rtlCol="0" anchor="ctr"/>
          <a:lstStyle/>
          <a:p>
            <a:pPr indent="0" marL="0">
              <a:lnSpc>
                <a:spcPts val="1350"/>
              </a:lnSpc>
              <a:buNone/>
            </a:pPr>
            <a:r>
              <a:rPr lang="en-US" sz="1200" dirty="0">
                <a:solidFill>
                  <a:srgbClr val="FFFFFF"/>
                </a:solidFill>
                <a:latin typeface="Calibri" pitchFamily="34" charset="0"/>
                <a:ea typeface="Calibri" pitchFamily="34" charset="-122"/>
                <a:cs typeface="Calibri" pitchFamily="34" charset="-120"/>
              </a:rPr>
              <a:t>• RCT + synthetic control + calibrated MMM + budget DP</a:t>
            </a:r>
            <a:endParaRPr lang="en-US" sz="1200" dirty="0"/>
          </a:p>
        </p:txBody>
      </p:sp>
      <p:sp>
        <p:nvSpPr>
          <p:cNvPr id="11" name="Text 9"/>
          <p:cNvSpPr/>
          <p:nvPr/>
        </p:nvSpPr>
        <p:spPr>
          <a:xfrm>
            <a:off x="914400" y="5440680"/>
            <a:ext cx="4480560" cy="502920"/>
          </a:xfrm>
          <a:prstGeom prst="rect">
            <a:avLst/>
          </a:prstGeom>
          <a:noFill/>
          <a:ln/>
        </p:spPr>
        <p:txBody>
          <a:bodyPr wrap="square" rtlCol="0" anchor="ctr"/>
          <a:lstStyle/>
          <a:p>
            <a:pPr indent="0" marL="0">
              <a:lnSpc>
                <a:spcPts val="1300"/>
              </a:lnSpc>
              <a:buNone/>
            </a:pPr>
            <a:r>
              <a:rPr lang="en-US" sz="1000" i="1" dirty="0">
                <a:solidFill>
                  <a:srgbClr val="CADCFC"/>
                </a:solidFill>
                <a:latin typeface="Calibri" pitchFamily="34" charset="0"/>
                <a:ea typeface="Calibri" pitchFamily="34" charset="-122"/>
                <a:cs typeface="Calibri" pitchFamily="34" charset="-120"/>
              </a:rPr>
              <a:t>Feeds the venue-economics model as a validated causal-value input (calibrated per-exposure lift), not a separate silo.</a:t>
            </a:r>
            <a:endParaRPr lang="en-US" sz="1000" dirty="0"/>
          </a:p>
        </p:txBody>
      </p:sp>
      <p:sp>
        <p:nvSpPr>
          <p:cNvPr id="12" name="Shape 10"/>
          <p:cNvSpPr/>
          <p:nvPr/>
        </p:nvSpPr>
        <p:spPr>
          <a:xfrm>
            <a:off x="6217920" y="1691640"/>
            <a:ext cx="5212080" cy="4343400"/>
          </a:xfrm>
          <a:prstGeom prst="roundRect">
            <a:avLst>
              <a:gd name="adj" fmla="val 2105"/>
            </a:avLst>
          </a:prstGeom>
          <a:solidFill>
            <a:srgbClr val="E8871E"/>
          </a:solidFill>
          <a:ln/>
        </p:spPr>
      </p:sp>
      <p:sp>
        <p:nvSpPr>
          <p:cNvPr id="13" name="Text 11"/>
          <p:cNvSpPr/>
          <p:nvPr/>
        </p:nvSpPr>
        <p:spPr>
          <a:xfrm>
            <a:off x="6583680" y="1965960"/>
            <a:ext cx="4480560" cy="594360"/>
          </a:xfrm>
          <a:prstGeom prst="rect">
            <a:avLst/>
          </a:prstGeom>
          <a:noFill/>
          <a:ln/>
        </p:spPr>
        <p:txBody>
          <a:bodyPr wrap="square"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Venue network economics</a:t>
            </a:r>
            <a:endParaRPr lang="en-US" sz="1600" dirty="0"/>
          </a:p>
        </p:txBody>
      </p:sp>
      <p:sp>
        <p:nvSpPr>
          <p:cNvPr id="14" name="Text 12"/>
          <p:cNvSpPr/>
          <p:nvPr/>
        </p:nvSpPr>
        <p:spPr>
          <a:xfrm>
            <a:off x="6583680" y="2697480"/>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Predict realized ad-revenue (Q3) and 90-day churn risk (Q4) from characteristics and ops signals</a:t>
            </a:r>
            <a:endParaRPr lang="en-US" sz="1080" dirty="0"/>
          </a:p>
        </p:txBody>
      </p:sp>
      <p:sp>
        <p:nvSpPr>
          <p:cNvPr id="15" name="Text 13"/>
          <p:cNvSpPr/>
          <p:nvPr/>
        </p:nvSpPr>
        <p:spPr>
          <a:xfrm>
            <a:off x="6583680" y="3300984"/>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Flag under-monetized (Q3) and at-risk (Q4) existing venues for sales/ops follow-up</a:t>
            </a:r>
            <a:endParaRPr lang="en-US" sz="1080" dirty="0"/>
          </a:p>
        </p:txBody>
      </p:sp>
      <p:sp>
        <p:nvSpPr>
          <p:cNvPr id="16" name="Text 14"/>
          <p:cNvSpPr/>
          <p:nvPr/>
        </p:nvSpPr>
        <p:spPr>
          <a:xfrm>
            <a:off x="6583680" y="3904488"/>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Rank prospective venues for expansion priority (Q3)</a:t>
            </a:r>
            <a:endParaRPr lang="en-US" sz="1080" dirty="0"/>
          </a:p>
        </p:txBody>
      </p:sp>
      <p:sp>
        <p:nvSpPr>
          <p:cNvPr id="17" name="Text 15"/>
          <p:cNvSpPr/>
          <p:nvPr/>
        </p:nvSpPr>
        <p:spPr>
          <a:xfrm>
            <a:off x="6583680" y="4507992"/>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Combine Q3 revenue + Q4 risk into one value-×-risk priority quadrant</a:t>
            </a:r>
            <a:endParaRPr lang="en-US" sz="1080" dirty="0"/>
          </a:p>
        </p:txBody>
      </p:sp>
      <p:sp>
        <p:nvSpPr>
          <p:cNvPr id="18" name="Text 16"/>
          <p:cNvSpPr/>
          <p:nvPr/>
        </p:nvSpPr>
        <p:spPr>
          <a:xfrm>
            <a:off x="6583680" y="5111496"/>
            <a:ext cx="4480560" cy="530352"/>
          </a:xfrm>
          <a:prstGeom prst="rect">
            <a:avLst/>
          </a:prstGeom>
          <a:noFill/>
          <a:ln/>
        </p:spPr>
        <p:txBody>
          <a:bodyPr wrap="square" rtlCol="0" anchor="ctr"/>
          <a:lstStyle/>
          <a:p>
            <a:pPr indent="0" marL="0">
              <a:lnSpc>
                <a:spcPts val="1350"/>
              </a:lnSpc>
              <a:buNone/>
            </a:pPr>
            <a:r>
              <a:rPr lang="en-US" sz="1080" dirty="0">
                <a:solidFill>
                  <a:srgbClr val="FFFFFF"/>
                </a:solidFill>
                <a:latin typeface="Calibri" pitchFamily="34" charset="0"/>
                <a:ea typeface="Calibri" pitchFamily="34" charset="-122"/>
                <a:cs typeface="Calibri" pitchFamily="34" charset="-120"/>
              </a:rPr>
              <a:t>• GBT regressor + classifier, honest out-of-fold evaluation throughout</a:t>
            </a:r>
            <a:endParaRPr lang="en-US" sz="1080" dirty="0"/>
          </a:p>
        </p:txBody>
      </p:sp>
      <p:sp>
        <p:nvSpPr>
          <p:cNvPr id="19" name="Text 17"/>
          <p:cNvSpPr/>
          <p:nvPr/>
        </p:nvSpPr>
        <p:spPr>
          <a:xfrm>
            <a:off x="548640" y="6263640"/>
            <a:ext cx="10972800" cy="457200"/>
          </a:xfrm>
          <a:prstGeom prst="rect">
            <a:avLst/>
          </a:prstGeom>
          <a:noFill/>
          <a:ln/>
        </p:spPr>
        <p:txBody>
          <a:bodyPr wrap="square" rtlCol="0" anchor="ctr"/>
          <a:lstStyle/>
          <a:p>
            <a:pPr indent="0" marL="0">
              <a:buNone/>
            </a:pPr>
            <a:r>
              <a:rPr lang="en-US" sz="1150" i="1" dirty="0">
                <a:solidFill>
                  <a:srgbClr val="CADCFC"/>
                </a:solidFill>
                <a:latin typeface="Calibri" pitchFamily="34" charset="0"/>
                <a:ea typeface="Calibri" pitchFamily="34" charset="-122"/>
                <a:cs typeface="Calibri" pitchFamily="34" charset="-120"/>
              </a:rPr>
              <a:t>“Smarter on both sides of the business” — the venue-side model shares its data foundation and causal-value input with the advertising side, rather than being a disconnected second project. Results on the next slide.</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ad-revenue,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2C7A57"/>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2C7A57"/>
                </a:solidFill>
                <a:latin typeface="Calibri" pitchFamily="34" charset="0"/>
                <a:ea typeface="Calibri" pitchFamily="34" charset="-122"/>
                <a:cs typeface="Calibri" pitchFamily="34" charset="-120"/>
              </a:rPr>
              <a:t>Step 5 of 6 · Answers Q3</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50" i="1" dirty="0">
                <a:solidFill>
                  <a:srgbClr val="5B6178"/>
                </a:solidFill>
                <a:latin typeface="Calibri" pitchFamily="34" charset="0"/>
                <a:ea typeface="Calibri" pitchFamily="34" charset="-122"/>
                <a:cs typeface="Calibri" pitchFamily="34" charset="-120"/>
              </a:rPr>
              <a:t>Gradient-boosted trees on observable venue characteristics + the calibrated per-exposure lift as a feature.</a:t>
            </a:r>
            <a:endParaRPr lang="en-US" sz="125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0.84</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R²</a:t>
            </a:r>
            <a:endParaRPr lang="en-US" sz="95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22.1%</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MAPE</a:t>
            </a:r>
            <a:endParaRPr lang="en-US" sz="95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$45</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Held-out MAE</a:t>
            </a:r>
            <a:endParaRPr lang="en-US" sz="95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50" dirty="0">
                <a:solidFill>
                  <a:srgbClr val="5B6178"/>
                </a:solidFill>
                <a:latin typeface="Calibri" pitchFamily="34" charset="0"/>
                <a:ea typeface="Calibri" pitchFamily="34" charset="-122"/>
                <a:cs typeface="Calibri" pitchFamily="34" charset="-120"/>
              </a:rPr>
              <a:t>Venues flagged</a:t>
            </a:r>
            <a:endParaRPr lang="en-US" sz="95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under-monetized venues (of 20 flagged)</a:t>
            </a:r>
            <a:endParaRPr lang="en-US" sz="1200" dirty="0"/>
          </a:p>
        </p:txBody>
      </p:sp>
      <p:sp>
        <p:nvSpPr>
          <p:cNvPr id="20" name="Text 17"/>
          <p:cNvSpPr/>
          <p:nvPr/>
        </p:nvSpPr>
        <p:spPr>
          <a:xfrm>
            <a:off x="6263640" y="3209544"/>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#85 (Restaurants)</a:t>
            </a:r>
            <a:endParaRPr lang="en-US" sz="1000" dirty="0"/>
          </a:p>
        </p:txBody>
      </p:sp>
      <p:sp>
        <p:nvSpPr>
          <p:cNvPr id="21" name="Text 18"/>
          <p:cNvSpPr/>
          <p:nvPr/>
        </p:nvSpPr>
        <p:spPr>
          <a:xfrm>
            <a:off x="9966960" y="3209544"/>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-62%</a:t>
            </a:r>
            <a:endParaRPr lang="en-US" sz="1000" dirty="0"/>
          </a:p>
        </p:txBody>
      </p:sp>
      <p:sp>
        <p:nvSpPr>
          <p:cNvPr id="22" name="Text 19"/>
          <p:cNvSpPr/>
          <p:nvPr/>
        </p:nvSpPr>
        <p:spPr>
          <a:xfrm>
            <a:off x="6263640" y="3502152"/>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#309 (Waiting Rooms)</a:t>
            </a:r>
            <a:endParaRPr lang="en-US" sz="1000" dirty="0"/>
          </a:p>
        </p:txBody>
      </p:sp>
      <p:sp>
        <p:nvSpPr>
          <p:cNvPr id="23" name="Text 20"/>
          <p:cNvSpPr/>
          <p:nvPr/>
        </p:nvSpPr>
        <p:spPr>
          <a:xfrm>
            <a:off x="9966960" y="3502152"/>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4" name="Text 21"/>
          <p:cNvSpPr/>
          <p:nvPr/>
        </p:nvSpPr>
        <p:spPr>
          <a:xfrm>
            <a:off x="6263640" y="3794760"/>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#53 (Restaurants)</a:t>
            </a:r>
            <a:endParaRPr lang="en-US" sz="1000" dirty="0"/>
          </a:p>
        </p:txBody>
      </p:sp>
      <p:sp>
        <p:nvSpPr>
          <p:cNvPr id="25" name="Text 22"/>
          <p:cNvSpPr/>
          <p:nvPr/>
        </p:nvSpPr>
        <p:spPr>
          <a:xfrm>
            <a:off x="9966960" y="3794760"/>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-61%</a:t>
            </a:r>
            <a:endParaRPr lang="en-US" sz="1000" dirty="0"/>
          </a:p>
        </p:txBody>
      </p:sp>
      <p:sp>
        <p:nvSpPr>
          <p:cNvPr id="26" name="Text 23"/>
          <p:cNvSpPr/>
          <p:nvPr/>
        </p:nvSpPr>
        <p:spPr>
          <a:xfrm>
            <a:off x="6263640" y="4087368"/>
            <a:ext cx="365760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#247 (Bars)</a:t>
            </a:r>
            <a:endParaRPr lang="en-US" sz="1000" dirty="0"/>
          </a:p>
        </p:txBody>
      </p:sp>
      <p:sp>
        <p:nvSpPr>
          <p:cNvPr id="27" name="Text 24"/>
          <p:cNvSpPr/>
          <p:nvPr/>
        </p:nvSpPr>
        <p:spPr>
          <a:xfrm>
            <a:off x="9966960" y="4087368"/>
            <a:ext cx="1691640" cy="274320"/>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8" name="Text 25"/>
          <p:cNvSpPr/>
          <p:nvPr/>
        </p:nvSpPr>
        <p:spPr>
          <a:xfrm>
            <a:off x="6263640" y="4562856"/>
            <a:ext cx="5394960" cy="274320"/>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prospect venues (expansion priority)</a:t>
            </a:r>
            <a:endParaRPr lang="en-US" sz="1200" dirty="0"/>
          </a:p>
        </p:txBody>
      </p:sp>
      <p:sp>
        <p:nvSpPr>
          <p:cNvPr id="29" name="Text 26"/>
          <p:cNvSpPr/>
          <p:nvPr/>
        </p:nvSpPr>
        <p:spPr>
          <a:xfrm>
            <a:off x="6263640" y="4892040"/>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P0018 — Bars (existing market)</a:t>
            </a:r>
            <a:endParaRPr lang="en-US" sz="1000" dirty="0"/>
          </a:p>
        </p:txBody>
      </p:sp>
      <p:sp>
        <p:nvSpPr>
          <p:cNvPr id="30" name="Text 27"/>
          <p:cNvSpPr/>
          <p:nvPr/>
        </p:nvSpPr>
        <p:spPr>
          <a:xfrm>
            <a:off x="10195560" y="4892040"/>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$684</a:t>
            </a:r>
            <a:endParaRPr lang="en-US" sz="1000" dirty="0"/>
          </a:p>
        </p:txBody>
      </p:sp>
      <p:sp>
        <p:nvSpPr>
          <p:cNvPr id="31" name="Text 28"/>
          <p:cNvSpPr/>
          <p:nvPr/>
        </p:nvSpPr>
        <p:spPr>
          <a:xfrm>
            <a:off x="6263640" y="5184648"/>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P0055 — Restaurants (existing market)</a:t>
            </a:r>
            <a:endParaRPr lang="en-US" sz="1000" dirty="0"/>
          </a:p>
        </p:txBody>
      </p:sp>
      <p:sp>
        <p:nvSpPr>
          <p:cNvPr id="32" name="Text 29"/>
          <p:cNvSpPr/>
          <p:nvPr/>
        </p:nvSpPr>
        <p:spPr>
          <a:xfrm>
            <a:off x="10195560" y="5184648"/>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$524</a:t>
            </a:r>
            <a:endParaRPr lang="en-US" sz="1000" dirty="0"/>
          </a:p>
        </p:txBody>
      </p:sp>
      <p:sp>
        <p:nvSpPr>
          <p:cNvPr id="33" name="Text 30"/>
          <p:cNvSpPr/>
          <p:nvPr/>
        </p:nvSpPr>
        <p:spPr>
          <a:xfrm>
            <a:off x="6263640" y="5477256"/>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P0000 — Bars (new market)</a:t>
            </a:r>
            <a:endParaRPr lang="en-US" sz="1000" dirty="0"/>
          </a:p>
        </p:txBody>
      </p:sp>
      <p:sp>
        <p:nvSpPr>
          <p:cNvPr id="34" name="Text 31"/>
          <p:cNvSpPr/>
          <p:nvPr/>
        </p:nvSpPr>
        <p:spPr>
          <a:xfrm>
            <a:off x="10195560" y="5477256"/>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$500</a:t>
            </a:r>
            <a:endParaRPr lang="en-US" sz="1000" dirty="0"/>
          </a:p>
        </p:txBody>
      </p:sp>
      <p:sp>
        <p:nvSpPr>
          <p:cNvPr id="35" name="Text 32"/>
          <p:cNvSpPr/>
          <p:nvPr/>
        </p:nvSpPr>
        <p:spPr>
          <a:xfrm>
            <a:off x="6263640" y="5769864"/>
            <a:ext cx="4023360" cy="274320"/>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P0001 — Bars (new market)</a:t>
            </a:r>
            <a:endParaRPr lang="en-US" sz="1000" dirty="0"/>
          </a:p>
        </p:txBody>
      </p:sp>
      <p:sp>
        <p:nvSpPr>
          <p:cNvPr id="36" name="Text 33"/>
          <p:cNvSpPr/>
          <p:nvPr/>
        </p:nvSpPr>
        <p:spPr>
          <a:xfrm>
            <a:off x="10195560" y="5769864"/>
            <a:ext cx="1463040" cy="274320"/>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$496</a:t>
            </a:r>
            <a:endParaRPr lang="en-US" sz="1000" dirty="0"/>
          </a:p>
        </p:txBody>
      </p:sp>
      <p:sp>
        <p:nvSpPr>
          <p:cNvPr id="37" name="Text 34"/>
          <p:cNvSpPr/>
          <p:nvPr/>
        </p:nvSpPr>
        <p:spPr>
          <a:xfrm>
            <a:off x="548640" y="6080760"/>
            <a:ext cx="11064240" cy="411480"/>
          </a:xfrm>
          <a:prstGeom prst="rect">
            <a:avLst/>
          </a:prstGeom>
          <a:noFill/>
          <a:ln/>
        </p:spPr>
        <p:txBody>
          <a:bodyPr wrap="square" rtlCol="0" anchor="ctr"/>
          <a:lstStyle/>
          <a:p>
            <a:pPr indent="0" marL="0">
              <a:lnSpc>
                <a:spcPts val="1200"/>
              </a:lnSpc>
              <a:buNone/>
            </a:pPr>
            <a:r>
              <a:rPr lang="en-US" sz="1000" i="1" dirty="0">
                <a:solidFill>
                  <a:srgbClr val="5B6178"/>
                </a:solidFill>
                <a:latin typeface="Calibri" pitchFamily="34" charset="0"/>
                <a:ea typeface="Calibri" pitchFamily="34" charset="-122"/>
                <a:cs typeface="Calibri" pitchFamily="34" charset="-120"/>
              </a:rPr>
              <a:t>Flags come from 5-fold out-of-fold predictions, never a model scoring the venue it was trained on. The calibrated-lift feature carries near-zero importance — honest, since it's constant within venue_type once venue_type itself is a feature.</a:t>
            </a:r>
            <a:endParaRPr lang="en-US" sz="1000" dirty="0"/>
          </a:p>
        </p:txBody>
      </p:sp>
      <p:sp>
        <p:nvSpPr>
          <p:cNvPr id="38" name="Text 35"/>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economics</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11480"/>
            <a:ext cx="11155680" cy="594360"/>
          </a:xfrm>
          <a:prstGeom prst="rect">
            <a:avLst/>
          </a:prstGeom>
          <a:noFill/>
          <a:ln/>
        </p:spPr>
        <p:txBody>
          <a:bodyPr wrap="square" rtlCol="0" anchor="ctr"/>
          <a:lstStyle/>
          <a:p>
            <a:pPr indent="0" marL="0">
              <a:buNone/>
            </a:pPr>
            <a:r>
              <a:rPr lang="en-US" sz="2500" b="1" dirty="0">
                <a:solidFill>
                  <a:srgbClr val="1E2761"/>
                </a:solidFill>
                <a:latin typeface="Cambria" pitchFamily="34" charset="0"/>
                <a:ea typeface="Cambria" pitchFamily="34" charset="-122"/>
                <a:cs typeface="Cambria" pitchFamily="34" charset="-120"/>
              </a:rPr>
              <a:t>Predicting venue churn risk, honestly</a:t>
            </a:r>
            <a:endParaRPr lang="en-US" sz="2500" dirty="0"/>
          </a:p>
        </p:txBody>
      </p:sp>
      <p:sp>
        <p:nvSpPr>
          <p:cNvPr id="3" name="Shape 1"/>
          <p:cNvSpPr/>
          <p:nvPr/>
        </p:nvSpPr>
        <p:spPr>
          <a:xfrm>
            <a:off x="8229600" y="146304"/>
            <a:ext cx="3410712" cy="246888"/>
          </a:xfrm>
          <a:prstGeom prst="roundRect">
            <a:avLst>
              <a:gd name="adj" fmla="val 22222"/>
            </a:avLst>
          </a:prstGeom>
          <a:solidFill>
            <a:srgbClr val="FFFFFF"/>
          </a:solidFill>
          <a:ln w="15875">
            <a:solidFill>
              <a:srgbClr val="8E3B60"/>
            </a:solidFill>
            <a:prstDash val="solid"/>
          </a:ln>
        </p:spPr>
      </p:sp>
      <p:sp>
        <p:nvSpPr>
          <p:cNvPr id="4" name="Text 2"/>
          <p:cNvSpPr/>
          <p:nvPr/>
        </p:nvSpPr>
        <p:spPr>
          <a:xfrm>
            <a:off x="8229600" y="146304"/>
            <a:ext cx="3410712" cy="246888"/>
          </a:xfrm>
          <a:prstGeom prst="rect">
            <a:avLst/>
          </a:prstGeom>
          <a:noFill/>
          <a:ln/>
        </p:spPr>
        <p:txBody>
          <a:bodyPr wrap="square" rtlCol="0" anchor="ctr"/>
          <a:lstStyle/>
          <a:p>
            <a:pPr algn="ctr" indent="0" marL="0">
              <a:buNone/>
            </a:pPr>
            <a:r>
              <a:rPr lang="en-US" sz="950" b="1" dirty="0">
                <a:solidFill>
                  <a:srgbClr val="8E3B60"/>
                </a:solidFill>
                <a:latin typeface="Calibri" pitchFamily="34" charset="0"/>
                <a:ea typeface="Calibri" pitchFamily="34" charset="-122"/>
                <a:cs typeface="Calibri" pitchFamily="34" charset="-120"/>
              </a:rPr>
              <a:t>Step 6 of 6 · Answers Q4</a:t>
            </a:r>
            <a:endParaRPr lang="en-US" sz="950" dirty="0"/>
          </a:p>
        </p:txBody>
      </p:sp>
      <p:sp>
        <p:nvSpPr>
          <p:cNvPr id="5" name="Text 3"/>
          <p:cNvSpPr/>
          <p:nvPr/>
        </p:nvSpPr>
        <p:spPr>
          <a:xfrm>
            <a:off x="548640" y="1005840"/>
            <a:ext cx="10972800" cy="365760"/>
          </a:xfrm>
          <a:prstGeom prst="rect">
            <a:avLst/>
          </a:prstGeom>
          <a:noFill/>
          <a:ln/>
        </p:spPr>
        <p:txBody>
          <a:bodyPr wrap="square" rtlCol="0" anchor="ctr"/>
          <a:lstStyle/>
          <a:p>
            <a:pPr indent="0" marL="0">
              <a:buNone/>
            </a:pPr>
            <a:r>
              <a:rPr lang="en-US" sz="1200" i="1" dirty="0">
                <a:solidFill>
                  <a:srgbClr val="5B6178"/>
                </a:solidFill>
                <a:latin typeface="Calibri" pitchFamily="34" charset="0"/>
                <a:ea typeface="Calibri" pitchFamily="34" charset="-122"/>
                <a:cs typeface="Calibri" pitchFamily="34" charset="-120"/>
              </a:rPr>
              <a:t>Gradient-boosted classifier on ops-visible signals (engagement, uptime, complaints, competitor outreach) — the other half of "what makes a venue valuable and what puts it at risk."</a:t>
            </a:r>
            <a:endParaRPr lang="en-US" sz="1200" dirty="0"/>
          </a:p>
        </p:txBody>
      </p:sp>
      <p:sp>
        <p:nvSpPr>
          <p:cNvPr id="6" name="Shape 4"/>
          <p:cNvSpPr/>
          <p:nvPr/>
        </p:nvSpPr>
        <p:spPr>
          <a:xfrm>
            <a:off x="548640" y="1508760"/>
            <a:ext cx="2651760" cy="1051560"/>
          </a:xfrm>
          <a:prstGeom prst="roundRect">
            <a:avLst>
              <a:gd name="adj" fmla="val 6957"/>
            </a:avLst>
          </a:prstGeom>
          <a:solidFill>
            <a:srgbClr val="F5F7FC"/>
          </a:solidFill>
          <a:ln/>
        </p:spPr>
      </p:sp>
      <p:sp>
        <p:nvSpPr>
          <p:cNvPr id="7" name="Text 5"/>
          <p:cNvSpPr/>
          <p:nvPr/>
        </p:nvSpPr>
        <p:spPr>
          <a:xfrm>
            <a:off x="68580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0.65</a:t>
            </a:r>
            <a:endParaRPr lang="en-US" sz="2200" dirty="0"/>
          </a:p>
        </p:txBody>
      </p:sp>
      <p:sp>
        <p:nvSpPr>
          <p:cNvPr id="8" name="Text 6"/>
          <p:cNvSpPr/>
          <p:nvPr/>
        </p:nvSpPr>
        <p:spPr>
          <a:xfrm>
            <a:off x="68580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AUC</a:t>
            </a:r>
            <a:endParaRPr lang="en-US" sz="900" dirty="0"/>
          </a:p>
        </p:txBody>
      </p:sp>
      <p:sp>
        <p:nvSpPr>
          <p:cNvPr id="9" name="Shape 7"/>
          <p:cNvSpPr/>
          <p:nvPr/>
        </p:nvSpPr>
        <p:spPr>
          <a:xfrm>
            <a:off x="3337560" y="1508760"/>
            <a:ext cx="2651760" cy="1051560"/>
          </a:xfrm>
          <a:prstGeom prst="roundRect">
            <a:avLst>
              <a:gd name="adj" fmla="val 6957"/>
            </a:avLst>
          </a:prstGeom>
          <a:solidFill>
            <a:srgbClr val="F5F7FC"/>
          </a:solidFill>
          <a:ln/>
        </p:spPr>
      </p:sp>
      <p:sp>
        <p:nvSpPr>
          <p:cNvPr id="10" name="Text 8"/>
          <p:cNvSpPr/>
          <p:nvPr/>
        </p:nvSpPr>
        <p:spPr>
          <a:xfrm>
            <a:off x="347472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0.27</a:t>
            </a:r>
            <a:endParaRPr lang="en-US" sz="2200" dirty="0"/>
          </a:p>
        </p:txBody>
      </p:sp>
      <p:sp>
        <p:nvSpPr>
          <p:cNvPr id="11" name="Text 9"/>
          <p:cNvSpPr/>
          <p:nvPr/>
        </p:nvSpPr>
        <p:spPr>
          <a:xfrm>
            <a:off x="347472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Held-out PR-AUC</a:t>
            </a:r>
            <a:endParaRPr lang="en-US" sz="900" dirty="0"/>
          </a:p>
        </p:txBody>
      </p:sp>
      <p:sp>
        <p:nvSpPr>
          <p:cNvPr id="12" name="Shape 10"/>
          <p:cNvSpPr/>
          <p:nvPr/>
        </p:nvSpPr>
        <p:spPr>
          <a:xfrm>
            <a:off x="6126480" y="1508760"/>
            <a:ext cx="2651760" cy="1051560"/>
          </a:xfrm>
          <a:prstGeom prst="roundRect">
            <a:avLst>
              <a:gd name="adj" fmla="val 6957"/>
            </a:avLst>
          </a:prstGeom>
          <a:solidFill>
            <a:srgbClr val="F5F7FC"/>
          </a:solidFill>
          <a:ln/>
        </p:spPr>
      </p:sp>
      <p:sp>
        <p:nvSpPr>
          <p:cNvPr id="13" name="Text 11"/>
          <p:cNvSpPr/>
          <p:nvPr/>
        </p:nvSpPr>
        <p:spPr>
          <a:xfrm>
            <a:off x="626364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0.13</a:t>
            </a:r>
            <a:endParaRPr lang="en-US" sz="2200" dirty="0"/>
          </a:p>
        </p:txBody>
      </p:sp>
      <p:sp>
        <p:nvSpPr>
          <p:cNvPr id="14" name="Text 12"/>
          <p:cNvSpPr/>
          <p:nvPr/>
        </p:nvSpPr>
        <p:spPr>
          <a:xfrm>
            <a:off x="626364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Brier score</a:t>
            </a:r>
            <a:endParaRPr lang="en-US" sz="900" dirty="0"/>
          </a:p>
        </p:txBody>
      </p:sp>
      <p:sp>
        <p:nvSpPr>
          <p:cNvPr id="15" name="Shape 13"/>
          <p:cNvSpPr/>
          <p:nvPr/>
        </p:nvSpPr>
        <p:spPr>
          <a:xfrm>
            <a:off x="8915400" y="1508760"/>
            <a:ext cx="2651760" cy="1051560"/>
          </a:xfrm>
          <a:prstGeom prst="roundRect">
            <a:avLst>
              <a:gd name="adj" fmla="val 6957"/>
            </a:avLst>
          </a:prstGeom>
          <a:solidFill>
            <a:srgbClr val="F5F7FC"/>
          </a:solidFill>
          <a:ln/>
        </p:spPr>
      </p:sp>
      <p:sp>
        <p:nvSpPr>
          <p:cNvPr id="16" name="Text 14"/>
          <p:cNvSpPr/>
          <p:nvPr/>
        </p:nvSpPr>
        <p:spPr>
          <a:xfrm>
            <a:off x="9052560" y="1618488"/>
            <a:ext cx="2377440" cy="502920"/>
          </a:xfrm>
          <a:prstGeom prst="rect">
            <a:avLst/>
          </a:prstGeom>
          <a:noFill/>
          <a:ln/>
        </p:spPr>
        <p:txBody>
          <a:bodyPr wrap="square" rtlCol="0" anchor="ctr"/>
          <a:lstStyle/>
          <a:p>
            <a:pPr indent="0" marL="0">
              <a:buNone/>
            </a:pPr>
            <a:r>
              <a:rPr lang="en-US" sz="2200" b="1" dirty="0">
                <a:solidFill>
                  <a:srgbClr val="1E2761"/>
                </a:solidFill>
                <a:latin typeface="Calibri" pitchFamily="34" charset="0"/>
                <a:ea typeface="Calibri" pitchFamily="34" charset="-122"/>
                <a:cs typeface="Calibri" pitchFamily="34" charset="-120"/>
              </a:rPr>
              <a:t>20</a:t>
            </a:r>
            <a:endParaRPr lang="en-US" sz="2200" dirty="0"/>
          </a:p>
        </p:txBody>
      </p:sp>
      <p:sp>
        <p:nvSpPr>
          <p:cNvPr id="17" name="Text 15"/>
          <p:cNvSpPr/>
          <p:nvPr/>
        </p:nvSpPr>
        <p:spPr>
          <a:xfrm>
            <a:off x="9052560" y="2130552"/>
            <a:ext cx="2377440" cy="36576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Venues flagged</a:t>
            </a:r>
            <a:endParaRPr lang="en-US" sz="900" dirty="0"/>
          </a:p>
        </p:txBody>
      </p:sp>
      <p:graphicFrame>
        <p:nvGraphicFramePr>
          <p:cNvPr id="18" name="Chart 0" descr=""/>
          <p:cNvGraphicFramePr/>
          <p:nvPr/>
        </p:nvGraphicFramePr>
        <p:xfrm>
          <a:off x="548640" y="2880360"/>
          <a:ext cx="5394960" cy="324612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6263640" y="2880360"/>
            <a:ext cx="5394960" cy="256032"/>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Top at-risk venues (of 20 flagged, by OOF risk)</a:t>
            </a:r>
            <a:endParaRPr lang="en-US" sz="1200" dirty="0"/>
          </a:p>
        </p:txBody>
      </p:sp>
      <p:sp>
        <p:nvSpPr>
          <p:cNvPr id="20" name="Text 17"/>
          <p:cNvSpPr/>
          <p:nvPr/>
        </p:nvSpPr>
        <p:spPr>
          <a:xfrm>
            <a:off x="6263640" y="3172968"/>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#281 (Bars)</a:t>
            </a:r>
            <a:endParaRPr lang="en-US" sz="1000" dirty="0"/>
          </a:p>
        </p:txBody>
      </p:sp>
      <p:sp>
        <p:nvSpPr>
          <p:cNvPr id="21" name="Text 18"/>
          <p:cNvSpPr/>
          <p:nvPr/>
        </p:nvSpPr>
        <p:spPr>
          <a:xfrm>
            <a:off x="10241280" y="3172968"/>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60%</a:t>
            </a:r>
            <a:endParaRPr lang="en-US" sz="1000" dirty="0"/>
          </a:p>
        </p:txBody>
      </p:sp>
      <p:sp>
        <p:nvSpPr>
          <p:cNvPr id="22" name="Text 19"/>
          <p:cNvSpPr/>
          <p:nvPr/>
        </p:nvSpPr>
        <p:spPr>
          <a:xfrm>
            <a:off x="6263640" y="3374136"/>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3" name="Text 20"/>
          <p:cNvSpPr/>
          <p:nvPr/>
        </p:nvSpPr>
        <p:spPr>
          <a:xfrm>
            <a:off x="6263640" y="3593592"/>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#200 (Bars)</a:t>
            </a:r>
            <a:endParaRPr lang="en-US" sz="1000" dirty="0"/>
          </a:p>
        </p:txBody>
      </p:sp>
      <p:sp>
        <p:nvSpPr>
          <p:cNvPr id="24" name="Text 21"/>
          <p:cNvSpPr/>
          <p:nvPr/>
        </p:nvSpPr>
        <p:spPr>
          <a:xfrm>
            <a:off x="10241280" y="3593592"/>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55%</a:t>
            </a:r>
            <a:endParaRPr lang="en-US" sz="1000" dirty="0"/>
          </a:p>
        </p:txBody>
      </p:sp>
      <p:sp>
        <p:nvSpPr>
          <p:cNvPr id="25" name="Text 22"/>
          <p:cNvSpPr/>
          <p:nvPr/>
        </p:nvSpPr>
        <p:spPr>
          <a:xfrm>
            <a:off x="6263640" y="3794760"/>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engagement declining → content/placement review</a:t>
            </a:r>
            <a:endParaRPr lang="en-US" sz="900" dirty="0"/>
          </a:p>
        </p:txBody>
      </p:sp>
      <p:sp>
        <p:nvSpPr>
          <p:cNvPr id="26" name="Text 23"/>
          <p:cNvSpPr/>
          <p:nvPr/>
        </p:nvSpPr>
        <p:spPr>
          <a:xfrm>
            <a:off x="6263640" y="4014216"/>
            <a:ext cx="3977640" cy="219456"/>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Venue #12 (Restaurants)</a:t>
            </a:r>
            <a:endParaRPr lang="en-US" sz="1000" dirty="0"/>
          </a:p>
        </p:txBody>
      </p:sp>
      <p:sp>
        <p:nvSpPr>
          <p:cNvPr id="27" name="Text 24"/>
          <p:cNvSpPr/>
          <p:nvPr/>
        </p:nvSpPr>
        <p:spPr>
          <a:xfrm>
            <a:off x="10241280" y="4014216"/>
            <a:ext cx="1417320" cy="219456"/>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52%</a:t>
            </a:r>
            <a:endParaRPr lang="en-US" sz="1000" dirty="0"/>
          </a:p>
        </p:txBody>
      </p:sp>
      <p:sp>
        <p:nvSpPr>
          <p:cNvPr id="28" name="Text 25"/>
          <p:cNvSpPr/>
          <p:nvPr/>
        </p:nvSpPr>
        <p:spPr>
          <a:xfrm>
            <a:off x="6263640" y="4215384"/>
            <a:ext cx="5394960" cy="201168"/>
          </a:xfrm>
          <a:prstGeom prst="rect">
            <a:avLst/>
          </a:prstGeom>
          <a:noFill/>
          <a:ln/>
        </p:spPr>
        <p:txBody>
          <a:bodyPr wrap="square" rtlCol="0" anchor="ctr"/>
          <a:lstStyle/>
          <a:p>
            <a:pPr indent="0" marL="0">
              <a:buNone/>
            </a:pPr>
            <a:r>
              <a:rPr lang="en-US" sz="900" i="1" dirty="0">
                <a:solidFill>
                  <a:srgbClr val="8A4B0A"/>
                </a:solidFill>
                <a:latin typeface="Calibri" pitchFamily="34" charset="0"/>
                <a:ea typeface="Calibri" pitchFamily="34" charset="-122"/>
                <a:cs typeface="Calibri" pitchFamily="34" charset="-120"/>
              </a:rPr>
              <a:t>uptime issue → dispatch technical support</a:t>
            </a:r>
            <a:endParaRPr lang="en-US" sz="900" dirty="0"/>
          </a:p>
        </p:txBody>
      </p:sp>
      <p:sp>
        <p:nvSpPr>
          <p:cNvPr id="29" name="Text 26"/>
          <p:cNvSpPr/>
          <p:nvPr/>
        </p:nvSpPr>
        <p:spPr>
          <a:xfrm>
            <a:off x="6263640" y="4526280"/>
            <a:ext cx="5394960" cy="237744"/>
          </a:xfrm>
          <a:prstGeom prst="rect">
            <a:avLst/>
          </a:prstGeom>
          <a:noFill/>
          <a:ln/>
        </p:spPr>
        <p:txBody>
          <a:bodyPr wrap="square" rtlCol="0" anchor="ctr"/>
          <a:lstStyle/>
          <a:p>
            <a:pPr indent="0" marL="0">
              <a:buNone/>
            </a:pPr>
            <a:r>
              <a:rPr lang="en-US" sz="1200" b="1" dirty="0">
                <a:solidFill>
                  <a:srgbClr val="1E2761"/>
                </a:solidFill>
                <a:latin typeface="Cambria" pitchFamily="34" charset="0"/>
                <a:ea typeface="Cambria" pitchFamily="34" charset="-122"/>
                <a:cs typeface="Cambria" pitchFamily="34" charset="-120"/>
              </a:rPr>
              <a:t>Priority quadrant (Q3 revenue × Q4 risk)</a:t>
            </a:r>
            <a:endParaRPr lang="en-US" sz="1200" dirty="0"/>
          </a:p>
        </p:txBody>
      </p:sp>
      <p:sp>
        <p:nvSpPr>
          <p:cNvPr id="30" name="Text 27"/>
          <p:cNvSpPr/>
          <p:nvPr/>
        </p:nvSpPr>
        <p:spPr>
          <a:xfrm>
            <a:off x="6263640" y="4800600"/>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Save now (high value, high risk)</a:t>
            </a:r>
            <a:endParaRPr lang="en-US" sz="1000" dirty="0"/>
          </a:p>
        </p:txBody>
      </p:sp>
      <p:sp>
        <p:nvSpPr>
          <p:cNvPr id="31" name="Text 28"/>
          <p:cNvSpPr/>
          <p:nvPr/>
        </p:nvSpPr>
        <p:spPr>
          <a:xfrm>
            <a:off x="10195560" y="4800600"/>
            <a:ext cx="1463040" cy="237744"/>
          </a:xfrm>
          <a:prstGeom prst="rect">
            <a:avLst/>
          </a:prstGeom>
          <a:noFill/>
          <a:ln/>
        </p:spPr>
        <p:txBody>
          <a:bodyPr wrap="square" rtlCol="0" anchor="ctr"/>
          <a:lstStyle/>
          <a:p>
            <a:pPr algn="r" indent="0" marL="0">
              <a:buNone/>
            </a:pPr>
            <a:r>
              <a:rPr lang="en-US" sz="1000" b="1" dirty="0">
                <a:solidFill>
                  <a:srgbClr val="B8500A"/>
                </a:solidFill>
                <a:latin typeface="Calibri" pitchFamily="34" charset="0"/>
                <a:ea typeface="Calibri" pitchFamily="34" charset="-122"/>
                <a:cs typeface="Calibri" pitchFamily="34" charset="-120"/>
              </a:rPr>
              <a:t>136</a:t>
            </a:r>
            <a:endParaRPr lang="en-US" sz="1000" dirty="0"/>
          </a:p>
        </p:txBody>
      </p:sp>
      <p:sp>
        <p:nvSpPr>
          <p:cNvPr id="32" name="Text 29"/>
          <p:cNvSpPr/>
          <p:nvPr/>
        </p:nvSpPr>
        <p:spPr>
          <a:xfrm>
            <a:off x="6263640" y="5047488"/>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Monitor (low value, low risk)</a:t>
            </a:r>
            <a:endParaRPr lang="en-US" sz="1000" dirty="0"/>
          </a:p>
        </p:txBody>
      </p:sp>
      <p:sp>
        <p:nvSpPr>
          <p:cNvPr id="33" name="Text 30"/>
          <p:cNvSpPr/>
          <p:nvPr/>
        </p:nvSpPr>
        <p:spPr>
          <a:xfrm>
            <a:off x="10195560" y="5047488"/>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136</a:t>
            </a:r>
            <a:endParaRPr lang="en-US" sz="1000" dirty="0"/>
          </a:p>
        </p:txBody>
      </p:sp>
      <p:sp>
        <p:nvSpPr>
          <p:cNvPr id="34" name="Text 31"/>
          <p:cNvSpPr/>
          <p:nvPr/>
        </p:nvSpPr>
        <p:spPr>
          <a:xfrm>
            <a:off x="6263640" y="5294376"/>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Protect (high value, low risk)</a:t>
            </a:r>
            <a:endParaRPr lang="en-US" sz="1000" dirty="0"/>
          </a:p>
        </p:txBody>
      </p:sp>
      <p:sp>
        <p:nvSpPr>
          <p:cNvPr id="35" name="Text 32"/>
          <p:cNvSpPr/>
          <p:nvPr/>
        </p:nvSpPr>
        <p:spPr>
          <a:xfrm>
            <a:off x="10195560" y="5294376"/>
            <a:ext cx="1463040" cy="237744"/>
          </a:xfrm>
          <a:prstGeom prst="rect">
            <a:avLst/>
          </a:prstGeom>
          <a:noFill/>
          <a:ln/>
        </p:spPr>
        <p:txBody>
          <a:bodyPr wrap="square" rtlCol="0" anchor="ctr"/>
          <a:lstStyle/>
          <a:p>
            <a:pPr algn="r" indent="0" marL="0">
              <a:buNone/>
            </a:pPr>
            <a:r>
              <a:rPr lang="en-US" sz="1000" b="1" dirty="0">
                <a:solidFill>
                  <a:srgbClr val="2C7A57"/>
                </a:solidFill>
                <a:latin typeface="Calibri" pitchFamily="34" charset="0"/>
                <a:ea typeface="Calibri" pitchFamily="34" charset="-122"/>
                <a:cs typeface="Calibri" pitchFamily="34" charset="-120"/>
              </a:rPr>
              <a:t>64</a:t>
            </a:r>
            <a:endParaRPr lang="en-US" sz="1000" dirty="0"/>
          </a:p>
        </p:txBody>
      </p:sp>
      <p:sp>
        <p:nvSpPr>
          <p:cNvPr id="36" name="Text 33"/>
          <p:cNvSpPr/>
          <p:nvPr/>
        </p:nvSpPr>
        <p:spPr>
          <a:xfrm>
            <a:off x="6263640" y="5541264"/>
            <a:ext cx="4023360" cy="237744"/>
          </a:xfrm>
          <a:prstGeom prst="rect">
            <a:avLst/>
          </a:prstGeom>
          <a:noFill/>
          <a:ln/>
        </p:spPr>
        <p:txBody>
          <a:bodyPr wrap="square" rtlCol="0" anchor="ctr"/>
          <a:lstStyle/>
          <a:p>
            <a:pPr indent="0" marL="0">
              <a:buNone/>
            </a:pPr>
            <a:r>
              <a:rPr lang="en-US" sz="1000" dirty="0">
                <a:solidFill>
                  <a:srgbClr val="1A1A2E"/>
                </a:solidFill>
                <a:latin typeface="Calibri" pitchFamily="34" charset="0"/>
                <a:ea typeface="Calibri" pitchFamily="34" charset="-122"/>
                <a:cs typeface="Calibri" pitchFamily="34" charset="-120"/>
              </a:rPr>
              <a:t>Low priority (low value, high risk)</a:t>
            </a:r>
            <a:endParaRPr lang="en-US" sz="1000" dirty="0"/>
          </a:p>
        </p:txBody>
      </p:sp>
      <p:sp>
        <p:nvSpPr>
          <p:cNvPr id="37" name="Text 34"/>
          <p:cNvSpPr/>
          <p:nvPr/>
        </p:nvSpPr>
        <p:spPr>
          <a:xfrm>
            <a:off x="10195560" y="5541264"/>
            <a:ext cx="1463040" cy="237744"/>
          </a:xfrm>
          <a:prstGeom prst="rect">
            <a:avLst/>
          </a:prstGeom>
          <a:noFill/>
          <a:ln/>
        </p:spPr>
        <p:txBody>
          <a:bodyPr wrap="square" rtlCol="0" anchor="ctr"/>
          <a:lstStyle/>
          <a:p>
            <a:pPr algn="r" indent="0" marL="0">
              <a:buNone/>
            </a:pPr>
            <a:r>
              <a:rPr lang="en-US" sz="1000" b="1" dirty="0">
                <a:solidFill>
                  <a:srgbClr val="5B6178"/>
                </a:solidFill>
                <a:latin typeface="Calibri" pitchFamily="34" charset="0"/>
                <a:ea typeface="Calibri" pitchFamily="34" charset="-122"/>
                <a:cs typeface="Calibri" pitchFamily="34" charset="-120"/>
              </a:rPr>
              <a:t>64</a:t>
            </a:r>
            <a:endParaRPr lang="en-US" sz="1000" dirty="0"/>
          </a:p>
        </p:txBody>
      </p:sp>
      <p:sp>
        <p:nvSpPr>
          <p:cNvPr id="38" name="Text 35"/>
          <p:cNvSpPr/>
          <p:nvPr/>
        </p:nvSpPr>
        <p:spPr>
          <a:xfrm>
            <a:off x="548640" y="6016752"/>
            <a:ext cx="11064240" cy="548640"/>
          </a:xfrm>
          <a:prstGeom prst="rect">
            <a:avLst/>
          </a:prstGeom>
          <a:noFill/>
          <a:ln/>
        </p:spPr>
        <p:txBody>
          <a:bodyPr wrap="square" rtlCol="0" anchor="ctr"/>
          <a:lstStyle/>
          <a:p>
            <a:pPr indent="0" marL="0">
              <a:lnSpc>
                <a:spcPts val="1050"/>
              </a:lnSpc>
              <a:buNone/>
            </a:pPr>
            <a:r>
              <a:rPr lang="en-US" sz="870" i="1" dirty="0">
                <a:solidFill>
                  <a:srgbClr val="5B6178"/>
                </a:solidFill>
                <a:latin typeface="Calibri" pitchFamily="34" charset="0"/>
                <a:ea typeface="Calibri" pitchFamily="34" charset="-122"/>
                <a:cs typeface="Calibri" pitchFamily="34" charset="-120"/>
              </a:rPr>
              <a:t>Flags come from 5-fold OOF predictions; AUC/PR-AUC read modest next to the revenue model's R² because churn is a rarer, noisier event to call than revenue — typical for a churn classifier, not a modeling miss. realized_ad_revenue's importance is a venue_type confound, not a causal driver. Each "Save now" / flagged venue also carries a SHAP top driver (from the fold model that never saw it) mapped to a concrete action — technical dispatch, AM retention call, content review — not a generic "reach out."</a:t>
            </a:r>
            <a:endParaRPr lang="en-US" sz="870" dirty="0"/>
          </a:p>
        </p:txBody>
      </p:sp>
      <p:sp>
        <p:nvSpPr>
          <p:cNvPr id="39" name="Text 36"/>
          <p:cNvSpPr/>
          <p:nvPr/>
        </p:nvSpPr>
        <p:spPr>
          <a:xfrm>
            <a:off x="457200" y="6537960"/>
            <a:ext cx="7315200" cy="274320"/>
          </a:xfrm>
          <a:prstGeom prst="rect">
            <a:avLst/>
          </a:prstGeom>
          <a:noFill/>
          <a:ln/>
        </p:spPr>
        <p:txBody>
          <a:bodyPr wrap="square" rtlCol="0" anchor="ctr"/>
          <a:lstStyle/>
          <a:p>
            <a:pPr indent="0" marL="0">
              <a:buNone/>
            </a:pPr>
            <a:r>
              <a:rPr lang="en-US" sz="900" dirty="0">
                <a:solidFill>
                  <a:srgbClr val="5B6178"/>
                </a:solidFill>
                <a:latin typeface="Calibri" pitchFamily="34" charset="0"/>
                <a:ea typeface="Calibri" pitchFamily="34" charset="-122"/>
                <a:cs typeface="Calibri" pitchFamily="34" charset="-120"/>
              </a:rPr>
              <a:t>Venue retention</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9144000" cy="731520"/>
          </a:xfrm>
          <a:prstGeom prst="rect">
            <a:avLst/>
          </a:prstGeom>
          <a:noFill/>
          <a:ln/>
        </p:spPr>
        <p:txBody>
          <a:bodyPr wrap="square"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Takeaways</a:t>
            </a:r>
            <a:endParaRPr lang="en-US" sz="3400" dirty="0"/>
          </a:p>
        </p:txBody>
      </p:sp>
      <p:sp>
        <p:nvSpPr>
          <p:cNvPr id="3" name="Shape 1"/>
          <p:cNvSpPr/>
          <p:nvPr/>
        </p:nvSpPr>
        <p:spPr>
          <a:xfrm>
            <a:off x="822960" y="1783080"/>
            <a:ext cx="365760" cy="365760"/>
          </a:xfrm>
          <a:prstGeom prst="ellipse">
            <a:avLst/>
          </a:prstGeom>
          <a:solidFill>
            <a:srgbClr val="E8871E"/>
          </a:solidFill>
          <a:ln/>
        </p:spPr>
      </p:sp>
      <p:sp>
        <p:nvSpPr>
          <p:cNvPr id="4" name="Text 2"/>
          <p:cNvSpPr/>
          <p:nvPr/>
        </p:nvSpPr>
        <p:spPr>
          <a:xfrm>
            <a:off x="822960" y="178308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1</a:t>
            </a:r>
            <a:endParaRPr lang="en-US" sz="1400" dirty="0"/>
          </a:p>
        </p:txBody>
      </p:sp>
      <p:sp>
        <p:nvSpPr>
          <p:cNvPr id="5" name="Text 3"/>
          <p:cNvSpPr/>
          <p:nvPr/>
        </p:nvSpPr>
        <p:spPr>
          <a:xfrm>
            <a:off x="1417320" y="169164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Match the method to the assignment mechanism — RCT where randomization is designed, synthetic control where it isn't, each with its own validation check.</a:t>
            </a:r>
            <a:endParaRPr lang="en-US" sz="1450" dirty="0"/>
          </a:p>
        </p:txBody>
      </p:sp>
      <p:sp>
        <p:nvSpPr>
          <p:cNvPr id="6" name="Shape 4"/>
          <p:cNvSpPr/>
          <p:nvPr/>
        </p:nvSpPr>
        <p:spPr>
          <a:xfrm>
            <a:off x="822960" y="2834640"/>
            <a:ext cx="365760" cy="365760"/>
          </a:xfrm>
          <a:prstGeom prst="ellipse">
            <a:avLst/>
          </a:prstGeom>
          <a:solidFill>
            <a:srgbClr val="E8871E"/>
          </a:solidFill>
          <a:ln/>
        </p:spPr>
      </p:sp>
      <p:sp>
        <p:nvSpPr>
          <p:cNvPr id="7" name="Text 5"/>
          <p:cNvSpPr/>
          <p:nvPr/>
        </p:nvSpPr>
        <p:spPr>
          <a:xfrm>
            <a:off x="822960" y="283464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2</a:t>
            </a:r>
            <a:endParaRPr lang="en-US" sz="1400" dirty="0"/>
          </a:p>
        </p:txBody>
      </p:sp>
      <p:sp>
        <p:nvSpPr>
          <p:cNvPr id="8" name="Text 6"/>
          <p:cNvSpPr/>
          <p:nvPr/>
        </p:nvSpPr>
        <p:spPr>
          <a:xfrm>
            <a:off x="1417320" y="274320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An uncalibrated MMM understated the RCT-calibrated estimate by up to 165% here — experiment calibration isn't optional polish, it's the identification fix.</a:t>
            </a:r>
            <a:endParaRPr lang="en-US" sz="1450" dirty="0"/>
          </a:p>
        </p:txBody>
      </p:sp>
      <p:sp>
        <p:nvSpPr>
          <p:cNvPr id="9" name="Shape 7"/>
          <p:cNvSpPr/>
          <p:nvPr/>
        </p:nvSpPr>
        <p:spPr>
          <a:xfrm>
            <a:off x="822960" y="3886200"/>
            <a:ext cx="365760" cy="365760"/>
          </a:xfrm>
          <a:prstGeom prst="ellipse">
            <a:avLst/>
          </a:prstGeom>
          <a:solidFill>
            <a:srgbClr val="E8871E"/>
          </a:solidFill>
          <a:ln/>
        </p:spPr>
      </p:sp>
      <p:sp>
        <p:nvSpPr>
          <p:cNvPr id="10" name="Text 8"/>
          <p:cNvSpPr/>
          <p:nvPr/>
        </p:nvSpPr>
        <p:spPr>
          <a:xfrm>
            <a:off x="822960" y="388620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3</a:t>
            </a:r>
            <a:endParaRPr lang="en-US" sz="1400" dirty="0"/>
          </a:p>
        </p:txBody>
      </p:sp>
      <p:sp>
        <p:nvSpPr>
          <p:cNvPr id="11" name="Text 9"/>
          <p:cNvSpPr/>
          <p:nvPr/>
        </p:nvSpPr>
        <p:spPr>
          <a:xfrm>
            <a:off x="1417320" y="379476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Optimization needs the right algorithm for the curve's shape — a greedy heuristic silently lost to a naive baseline on non-concave response curves; the exact DP formulation doesn't.</a:t>
            </a:r>
            <a:endParaRPr lang="en-US" sz="1450" dirty="0"/>
          </a:p>
        </p:txBody>
      </p:sp>
      <p:sp>
        <p:nvSpPr>
          <p:cNvPr id="12" name="Shape 10"/>
          <p:cNvSpPr/>
          <p:nvPr/>
        </p:nvSpPr>
        <p:spPr>
          <a:xfrm>
            <a:off x="822960" y="4937760"/>
            <a:ext cx="365760" cy="365760"/>
          </a:xfrm>
          <a:prstGeom prst="ellipse">
            <a:avLst/>
          </a:prstGeom>
          <a:solidFill>
            <a:srgbClr val="E8871E"/>
          </a:solidFill>
          <a:ln/>
        </p:spPr>
      </p:sp>
      <p:sp>
        <p:nvSpPr>
          <p:cNvPr id="13" name="Text 11"/>
          <p:cNvSpPr/>
          <p:nvPr/>
        </p:nvSpPr>
        <p:spPr>
          <a:xfrm>
            <a:off x="822960" y="4937760"/>
            <a:ext cx="365760" cy="365760"/>
          </a:xfrm>
          <a:prstGeom prst="rect">
            <a:avLst/>
          </a:prstGeom>
          <a:noFill/>
          <a:ln/>
        </p:spPr>
        <p:txBody>
          <a:bodyPr wrap="square" rtlCol="0" anchor="ctr"/>
          <a:lstStyle/>
          <a:p>
            <a:pPr algn="ctr" indent="0" marL="0">
              <a:buNone/>
            </a:pPr>
            <a:r>
              <a:rPr lang="en-US" sz="1400" b="1" dirty="0">
                <a:solidFill>
                  <a:srgbClr val="141B4D"/>
                </a:solidFill>
                <a:latin typeface="Calibri" pitchFamily="34" charset="0"/>
                <a:ea typeface="Calibri" pitchFamily="34" charset="-122"/>
                <a:cs typeface="Calibri" pitchFamily="34" charset="-120"/>
              </a:rPr>
              <a:t>4</a:t>
            </a:r>
            <a:endParaRPr lang="en-US" sz="1400" dirty="0"/>
          </a:p>
        </p:txBody>
      </p:sp>
      <p:sp>
        <p:nvSpPr>
          <p:cNvPr id="14" name="Text 12"/>
          <p:cNvSpPr/>
          <p:nvPr/>
        </p:nvSpPr>
        <p:spPr>
          <a:xfrm>
            <a:off x="1417320" y="4846320"/>
            <a:ext cx="10058400" cy="822960"/>
          </a:xfrm>
          <a:prstGeom prst="rect">
            <a:avLst/>
          </a:prstGeom>
          <a:noFill/>
          <a:ln/>
        </p:spPr>
        <p:txBody>
          <a:bodyPr wrap="square" rtlCol="0" anchor="ctr"/>
          <a:lstStyle/>
          <a:p>
            <a:pPr indent="0" marL="0">
              <a:lnSpc>
                <a:spcPts val="1800"/>
              </a:lnSpc>
              <a:buNone/>
            </a:pPr>
            <a:r>
              <a:rPr lang="en-US" sz="1450" dirty="0">
                <a:solidFill>
                  <a:srgbClr val="FFFFFF"/>
                </a:solidFill>
                <a:latin typeface="Calibri" pitchFamily="34" charset="0"/>
                <a:ea typeface="Calibri" pitchFamily="34" charset="-122"/>
                <a:cs typeface="Calibri" pitchFamily="34" charset="-120"/>
              </a:rPr>
              <a:t>One connected system, not four separate projects: the venue-revenue model reuses the causal pipeline's per-exposure value as an input; the retention model then combines its own churn-risk score with that revenue prediction into one value-×-risk priority quadrant — both models are evaluated honestly out-of-fold, never scored on a venue they were trained on, before either is trusted.</a:t>
            </a:r>
            <a:endParaRPr lang="en-US" sz="1450" dirty="0"/>
          </a:p>
        </p:txBody>
      </p:sp>
      <p:sp>
        <p:nvSpPr>
          <p:cNvPr id="15" name="Text 13"/>
          <p:cNvSpPr/>
          <p:nvPr/>
        </p:nvSpPr>
        <p:spPr>
          <a:xfrm>
            <a:off x="822960" y="6080760"/>
            <a:ext cx="5486400" cy="457200"/>
          </a:xfrm>
          <a:prstGeom prst="rect">
            <a:avLst/>
          </a:prstGeom>
          <a:noFill/>
          <a:ln/>
        </p:spPr>
        <p:txBody>
          <a:bodyPr wrap="square" rtlCol="0" anchor="ctr"/>
          <a:lstStyle/>
          <a:p>
            <a:pPr indent="0" marL="0">
              <a:buNone/>
            </a:pPr>
            <a:r>
              <a:rPr lang="en-US" sz="1600" i="1" dirty="0">
                <a:solidFill>
                  <a:srgbClr val="CADCFC"/>
                </a:solidFill>
                <a:latin typeface="Cambria" pitchFamily="34" charset="0"/>
                <a:ea typeface="Cambria" pitchFamily="34" charset="-122"/>
                <a:cs typeface="Cambria" pitchFamily="34" charset="-120"/>
              </a:rPr>
              <a:t>Thank you</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2026-09-08T18:48:09Z</dcterms:created>
  <dcterms:modified xsi:type="dcterms:W3CDTF">2026-09-08T18:48:09Z</dcterms:modified>
</cp:coreProperties>
</file>