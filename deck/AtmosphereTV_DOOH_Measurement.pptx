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(network-pooled)</c:v>
                </c:pt>
              </c:strCache>
            </c:strRef>
          </c:tx>
          <c:spPr>
            <a:solidFill>
              <a:srgbClr val="1E2761"/>
            </a:solidFill>
            <a:effectLst/>
          </c:spPr>
          <c:invertIfNegative val="0"/>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dPt>
            <c:idx val="0"/>
            <c:invertIfNegative val="0"/>
            <c:bubble3D val="0"/>
            <c:spPr>
              <a:solidFill>
                <a:srgbClr val="1E2761"/>
              </a:solidFill>
              <a:effectLst/>
            </c:spPr>
          </c:dPt>
          <c:dPt>
            <c:idx val="1"/>
            <c:invertIfNegative val="0"/>
            <c:bubble3D val="0"/>
            <c:spPr>
              <a:solidFill>
                <a:srgbClr val="E8871E"/>
              </a:solidFill>
              <a:effectLst/>
            </c:spPr>
          </c:dPt>
          <c:dPt>
            <c:idx val="2"/>
            <c:invertIfNegative val="0"/>
            <c:bubble3D val="0"/>
            <c:spPr>
              <a:solidFill>
                <a:srgbClr val="B7BCCB"/>
              </a:solidFill>
              <a:effectLst/>
            </c:spPr>
          </c:dPt>
          <c:dPt>
            <c:idx val="3"/>
            <c:invertIfNegative val="0"/>
            <c:bubble3D val="0"/>
            <c:spPr>
              <a:solidFill>
                <a:srgbClr val="B7BCCB"/>
              </a:solidFill>
              <a:effectLst/>
            </c:spPr>
          </c:dPt>
          <c:cat>
            <c:multiLvlStrRef>
              <c:f>Sheet1!$A$2:$A$5</c:f>
              <c:multiLvlStrCache>
                <c:ptCount val="4"/>
                <c:lvl>
                  <c:pt idx="0">
                    <c:v>During campaign</c:v>
                  </c:pt>
                  <c:pt idx="1">
                    <c:v>0–10 wks after</c:v>
                  </c:pt>
                  <c:pt idx="2">
                    <c:v>10–20 wks after</c:v>
                  </c:pt>
                  <c:pt idx="3">
                    <c:v>Full post-campaign</c:v>
                  </c:pt>
                </c:lvl>
              </c:multiLvlStrCache>
            </c:multiLvlStrRef>
          </c:cat>
          <c:val>
            <c:numRef>
              <c:f>Sheet1!$B$2:$B$5</c:f>
              <c:numCache>
                <c:formatCode>General</c:formatCode>
                <c:ptCount val="4"/>
                <c:pt idx="0">
                  <c:v>13.26</c:v>
                </c:pt>
                <c:pt idx="1">
                  <c:v>2.52</c:v>
                </c:pt>
                <c:pt idx="2">
                  <c:v>-1.43</c:v>
                </c:pt>
                <c:pt idx="3">
                  <c:v>0.05</c:v>
                </c:pt>
              </c:numCache>
            </c:numRef>
          </c:val>
        </c:ser>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59893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generating less ad revenue than their audience is worth,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The focus here is the methodology for solving the problem, not real company data or figures.</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budget an advertiser has already committed to Atmosphere,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An allocation Atmosphere optimizes on its own inventory and hands advertisers as part of the media plan — not a cross-channel budget call made elsewhere.</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The roadmap: four problems, one connected pipeline</a:t>
            </a:r>
            <a:endParaRPr lang="en-US" sz="2600" dirty="0"/>
          </a:p>
        </p:txBody>
      </p:sp>
      <p:sp>
        <p:nvSpPr>
          <p:cNvPr id="3" name="Text 1"/>
          <p:cNvSpPr/>
          <p:nvPr/>
        </p:nvSpPr>
        <p:spPr>
          <a:xfrm>
            <a:off x="548640" y="1097280"/>
            <a:ext cx="10972800" cy="365760"/>
          </a:xfrm>
          <a:prstGeom prst="rect">
            <a:avLst/>
          </a:prstGeom>
          <a:noFill/>
          <a:ln/>
        </p:spPr>
        <p:txBody>
          <a:bodyPr wrap="square" rtlCol="0" anchor="ctr"/>
          <a:lstStyle/>
          <a:p>
            <a:pPr indent="0" marL="0">
              <a:buNone/>
            </a:pPr>
            <a:r>
              <a:rPr lang="en-US" sz="1300" i="1" dirty="0">
                <a:solidFill>
                  <a:srgbClr val="5B6178"/>
                </a:solidFill>
                <a:latin typeface="Calibri" pitchFamily="34" charset="0"/>
                <a:ea typeface="Calibri" pitchFamily="34" charset="-122"/>
                <a:cs typeface="Calibri" pitchFamily="34" charset="-120"/>
              </a:rPr>
              <a:t>Before the deep dive — this is the shape of what follows.</a:t>
            </a:r>
            <a:endParaRPr lang="en-US" sz="1300" dirty="0"/>
          </a:p>
        </p:txBody>
      </p:sp>
      <p:sp>
        <p:nvSpPr>
          <p:cNvPr id="4" name="Shape 2"/>
          <p:cNvSpPr/>
          <p:nvPr/>
        </p:nvSpPr>
        <p:spPr>
          <a:xfrm>
            <a:off x="502920" y="1828800"/>
            <a:ext cx="1737360" cy="2834640"/>
          </a:xfrm>
          <a:prstGeom prst="roundRect">
            <a:avLst>
              <a:gd name="adj" fmla="val 5263"/>
            </a:avLst>
          </a:prstGeom>
          <a:solidFill>
            <a:srgbClr val="1E2761"/>
          </a:solidFill>
          <a:ln/>
        </p:spPr>
      </p:sp>
      <p:sp>
        <p:nvSpPr>
          <p:cNvPr id="5" name="Shape 3"/>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6" name="Text 4"/>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7" name="Text 5"/>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9" name="Text 7"/>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10" name="Text 8"/>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1" name="Text 9"/>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2" name="Shape 10"/>
          <p:cNvSpPr/>
          <p:nvPr/>
        </p:nvSpPr>
        <p:spPr>
          <a:xfrm>
            <a:off x="2423160" y="1828800"/>
            <a:ext cx="1737360" cy="2834640"/>
          </a:xfrm>
          <a:prstGeom prst="roundRect">
            <a:avLst>
              <a:gd name="adj" fmla="val 5263"/>
            </a:avLst>
          </a:prstGeom>
          <a:solidFill>
            <a:srgbClr val="E4E9F7"/>
          </a:solidFill>
          <a:ln/>
        </p:spPr>
      </p:sp>
      <p:sp>
        <p:nvSpPr>
          <p:cNvPr id="13" name="Shape 11"/>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4" name="Text 12"/>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5" name="Text 13"/>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6" name="Text 14"/>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7" name="Text 15"/>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8" name="Text 16"/>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9" name="Text 17"/>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0" name="Shape 18"/>
          <p:cNvSpPr/>
          <p:nvPr/>
        </p:nvSpPr>
        <p:spPr>
          <a:xfrm>
            <a:off x="4343400" y="1828800"/>
            <a:ext cx="1737360" cy="2834640"/>
          </a:xfrm>
          <a:prstGeom prst="roundRect">
            <a:avLst>
              <a:gd name="adj" fmla="val 5263"/>
            </a:avLst>
          </a:prstGeom>
          <a:solidFill>
            <a:srgbClr val="FBE8D2"/>
          </a:solidFill>
          <a:ln/>
        </p:spPr>
      </p:sp>
      <p:sp>
        <p:nvSpPr>
          <p:cNvPr id="21" name="Shape 19"/>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2" name="Text 20"/>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3" name="Text 21"/>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4" name="Text 22"/>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5" name="Text 23"/>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6" name="Text 24"/>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7" name="Text 25"/>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8" name="Shape 26"/>
          <p:cNvSpPr/>
          <p:nvPr/>
        </p:nvSpPr>
        <p:spPr>
          <a:xfrm>
            <a:off x="6263640" y="1828800"/>
            <a:ext cx="1737360" cy="2834640"/>
          </a:xfrm>
          <a:prstGeom prst="roundRect">
            <a:avLst>
              <a:gd name="adj" fmla="val 5263"/>
            </a:avLst>
          </a:prstGeom>
          <a:solidFill>
            <a:srgbClr val="E8871E"/>
          </a:solidFill>
          <a:ln/>
        </p:spPr>
      </p:sp>
      <p:sp>
        <p:nvSpPr>
          <p:cNvPr id="29" name="Shape 27"/>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30" name="Text 28"/>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1" name="Text 29"/>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2" name="Text 30"/>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3" name="Text 31"/>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4" name="Text 32"/>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5" name="Text 33"/>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6" name="Shape 34"/>
          <p:cNvSpPr/>
          <p:nvPr/>
        </p:nvSpPr>
        <p:spPr>
          <a:xfrm>
            <a:off x="8183880" y="1828800"/>
            <a:ext cx="1737360" cy="2834640"/>
          </a:xfrm>
          <a:prstGeom prst="roundRect">
            <a:avLst>
              <a:gd name="adj" fmla="val 5263"/>
            </a:avLst>
          </a:prstGeom>
          <a:solidFill>
            <a:srgbClr val="2C7A57"/>
          </a:solidFill>
          <a:ln/>
        </p:spPr>
      </p:sp>
      <p:sp>
        <p:nvSpPr>
          <p:cNvPr id="37" name="Shape 35"/>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8" name="Text 36"/>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9" name="Text 37"/>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40" name="Text 38"/>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1" name="Text 39"/>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2" name="Text 40"/>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3" name="Text 41"/>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4" name="Shape 42"/>
          <p:cNvSpPr/>
          <p:nvPr/>
        </p:nvSpPr>
        <p:spPr>
          <a:xfrm>
            <a:off x="10104120" y="1828800"/>
            <a:ext cx="1737360" cy="2834640"/>
          </a:xfrm>
          <a:prstGeom prst="roundRect">
            <a:avLst>
              <a:gd name="adj" fmla="val 5263"/>
            </a:avLst>
          </a:prstGeom>
          <a:solidFill>
            <a:srgbClr val="8E3B60"/>
          </a:solidFill>
          <a:ln/>
        </p:spPr>
      </p:sp>
      <p:sp>
        <p:nvSpPr>
          <p:cNvPr id="45" name="Shape 43"/>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6" name="Text 44"/>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7" name="Text 45"/>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8" name="Text 46"/>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9" name="Text 47"/>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50" name="Text 48"/>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1" name="Text 49"/>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2" name="Text 50"/>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3" name="Text 51"/>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4" name="Text 52"/>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5" name="Text 53"/>
          <p:cNvSpPr/>
          <p:nvPr/>
        </p:nvSpPr>
        <p:spPr>
          <a:xfrm>
            <a:off x="640080" y="5349240"/>
            <a:ext cx="10881360" cy="68580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One connected system, not four separate projects: the calibrated per-exposure lift from steps 1–4 becomes a feature in the venue-revenue model (step 5), which combines with the churn model's risk score (step 6) into one value-×-risk priority list.</a:t>
            </a:r>
            <a:endParaRPr lang="en-US" sz="1100" dirty="0"/>
          </a:p>
        </p:txBody>
      </p:sp>
      <p:sp>
        <p:nvSpPr>
          <p:cNvPr id="56" name="Text 5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Roadmap</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Two data sources: a designed holdout test, and campaign history</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Foundation for Steps 1–3 · Q1–Q2</a:t>
            </a:r>
            <a:endParaRPr lang="en-US" sz="950" dirty="0"/>
          </a:p>
        </p:txBody>
      </p:sp>
      <p:sp>
        <p:nvSpPr>
          <p:cNvPr id="5" name="Text 3"/>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1965960"/>
                <a:gridCol w="4562856"/>
                <a:gridCol w="4562856"/>
              </a:tblGrid>
              <a:tr h="384048">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RCT pool — 136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Observational pool — 264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r>
              <a:tr h="77724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Pre-period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for either arm — establishes each venue's own baseline.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yet for anyone — identical baseline 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52–59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(8 wks)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Still silent — the designed test hasn't launched yet. Unused by the current effect estimate.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24 of 264 self-activate here — each advertiser's own timing, no coordination.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60–69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(10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RCT window</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Treated: fixed 6 plays/wk. Holdout: still 0. The only window the RCT estimate uses.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37 more self-activate here — overlap with the RCT window is coincidence, not design.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70–103</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(34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Post-campaign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Ads stop — a real tail holds for ~10 weeks, then fades to zero (see persistence check, next).</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69 more (the largest group) start only now — most real campaigns land late, spread thin.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bl>
          </a:graphicData>
        </a:graphic>
      </p:graphicFrame>
      <p:sp>
        <p:nvSpPr>
          <p:cNvPr id="7" name="Text 4"/>
          <p:cNvSpPr/>
          <p:nvPr/>
        </p:nvSpPr>
        <p:spPr>
          <a:xfrm>
            <a:off x="548640" y="5623560"/>
            <a:ext cx="11091672" cy="68580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RCT pool: assignment is verified, not assumed — anchors high confidence. Observational pool: 134 of 264 venues never run a campaign at all, and the rest 130 venues self-activate on their own schedule — exactly why synthetic control (next) reconstructs the counterfactual instead of comparing before/after directly.</a:t>
            </a:r>
            <a:endParaRPr lang="en-US" sz="1100" dirty="0"/>
          </a:p>
        </p:txBody>
      </p:sp>
      <p:sp>
        <p:nvSpPr>
          <p:cNvPr id="8" name="Text 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The proof point: ads move real foot traffic</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of 6 · Answers Q1</a:t>
            </a:r>
            <a:endParaRPr lang="en-US" sz="950" dirty="0"/>
          </a:p>
        </p:txBody>
      </p:sp>
      <p:sp>
        <p:nvSpPr>
          <p:cNvPr id="5" name="Shape 3"/>
          <p:cNvSpPr/>
          <p:nvPr/>
        </p:nvSpPr>
        <p:spPr>
          <a:xfrm>
            <a:off x="9784080" y="457200"/>
            <a:ext cx="1920240" cy="502920"/>
          </a:xfrm>
          <a:prstGeom prst="roundRect">
            <a:avLst>
              <a:gd name="adj" fmla="val 14545"/>
            </a:avLst>
          </a:prstGeom>
          <a:solidFill>
            <a:srgbClr val="2C7A57"/>
          </a:solidFill>
          <a:ln/>
        </p:spPr>
      </p:sp>
      <p:sp>
        <p:nvSpPr>
          <p:cNvPr id="6" name="Text 4"/>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7" name="Chart 0" descr=""/>
          <p:cNvGraphicFramePr/>
          <p:nvPr/>
        </p:nvGraphicFramePr>
        <p:xfrm>
          <a:off x="548640" y="1188720"/>
          <a:ext cx="6583680" cy="301752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548640" y="42976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ANCOVA-style delta estimator</a:t>
            </a:r>
            <a:endParaRPr lang="en-US" sz="1250" dirty="0"/>
          </a:p>
        </p:txBody>
      </p:sp>
      <p:sp>
        <p:nvSpPr>
          <p:cNvPr id="9" name="Text 6"/>
          <p:cNvSpPr/>
          <p:nvPr/>
        </p:nvSpPr>
        <p:spPr>
          <a:xfrm>
            <a:off x="548640" y="4572000"/>
            <a:ext cx="6583680" cy="10515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① Per-venue delta = campaign-window avg − pre-period avg — nets out that venue's own baseline.</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② Effect = mean(treated deltas) − mean(holdout deltas) — a DiD-style comparison; any trend common to both arms cancels out too.</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③ Welch's t-test on the two delta samples (unequal variance, unequal n) → SE, 95% CI, p-value.</a:t>
            </a:r>
            <a:endParaRPr lang="en-US" sz="1000" dirty="0"/>
          </a:p>
        </p:txBody>
      </p:sp>
      <p:sp>
        <p:nvSpPr>
          <p:cNvPr id="10" name="Text 7"/>
          <p:cNvSpPr/>
          <p:nvPr/>
        </p:nvSpPr>
        <p:spPr>
          <a:xfrm>
            <a:off x="548640" y="5623560"/>
            <a:ext cx="6583680" cy="77724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Why delta, not raw post-period levels: individual venues differ a lot in baseline traffic even within one arm — differencing each against its own pre-period average removes that noise, so 15–19 venues/arm reach significance a raw-level comparison couldn't. Why Welch's, not Student's or z: arms are small and unequal in size, so we don't assume equal variance, and we use the t- (not z-) distribution — for both the p-value and the CI — because that variance is itself estimated from so few venues.</a:t>
            </a:r>
            <a:endParaRPr lang="en-US" sz="900" dirty="0"/>
          </a:p>
        </p:txBody>
      </p:sp>
      <p:sp>
        <p:nvSpPr>
          <p:cNvPr id="11" name="Text 8"/>
          <p:cNvSpPr/>
          <p:nvPr/>
        </p:nvSpPr>
        <p:spPr>
          <a:xfrm>
            <a:off x="7406640" y="1188720"/>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Venue type      n (T/H)   95% CI               p-value</a:t>
            </a:r>
            <a:endParaRPr lang="en-US" sz="950" dirty="0"/>
          </a:p>
        </p:txBody>
      </p:sp>
      <p:sp>
        <p:nvSpPr>
          <p:cNvPr id="12" name="Text 9"/>
          <p:cNvSpPr/>
          <p:nvPr/>
        </p:nvSpPr>
        <p:spPr>
          <a:xfrm>
            <a:off x="7406640" y="1508760"/>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Restaurants    18/17     [10.9, 22.7]   &lt; 0.001</a:t>
            </a:r>
            <a:endParaRPr lang="en-US" sz="1000" dirty="0"/>
          </a:p>
        </p:txBody>
      </p:sp>
      <p:sp>
        <p:nvSpPr>
          <p:cNvPr id="13" name="Text 10"/>
          <p:cNvSpPr/>
          <p:nvPr/>
        </p:nvSpPr>
        <p:spPr>
          <a:xfrm>
            <a:off x="7406640" y="1892808"/>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Gyms           15/17     [5.0, 15.7]   &lt; 0.001</a:t>
            </a:r>
            <a:endParaRPr lang="en-US" sz="1000" dirty="0"/>
          </a:p>
        </p:txBody>
      </p:sp>
      <p:sp>
        <p:nvSpPr>
          <p:cNvPr id="14" name="Text 11"/>
          <p:cNvSpPr/>
          <p:nvPr/>
        </p:nvSpPr>
        <p:spPr>
          <a:xfrm>
            <a:off x="7406640" y="2276856"/>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Bars           17/19     [13.1, 22.6]   &lt; 0.001</a:t>
            </a:r>
            <a:endParaRPr lang="en-US" sz="1000" dirty="0"/>
          </a:p>
        </p:txBody>
      </p:sp>
      <p:sp>
        <p:nvSpPr>
          <p:cNvPr id="15" name="Text 12"/>
          <p:cNvSpPr/>
          <p:nvPr/>
        </p:nvSpPr>
        <p:spPr>
          <a:xfrm>
            <a:off x="7406640" y="2660904"/>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Waiting Rooms  17/16     [5.0, 10.3]   &lt; 0.001</a:t>
            </a:r>
            <a:endParaRPr lang="en-US" sz="1000" dirty="0"/>
          </a:p>
        </p:txBody>
      </p:sp>
      <p:sp>
        <p:nvSpPr>
          <p:cNvPr id="16" name="Text 13"/>
          <p:cNvSpPr/>
          <p:nvPr/>
        </p:nvSpPr>
        <p:spPr>
          <a:xfrm>
            <a:off x="7406640" y="3319272"/>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Why 2/16 isn't a red flag</a:t>
            </a:r>
            <a:endParaRPr lang="en-US" sz="1200" dirty="0"/>
          </a:p>
        </p:txBody>
      </p:sp>
      <p:sp>
        <p:nvSpPr>
          <p:cNvPr id="17" name="Text 14"/>
          <p:cNvSpPr/>
          <p:nvPr/>
        </p:nvSpPr>
        <p:spPr>
          <a:xfrm>
            <a:off x="7406640" y="3639312"/>
            <a:ext cx="4206240" cy="91440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16 t-tests = 4 pre-treatment covariates (baseline traffic level, dwell time, screen count, audience quality) × 4 venue types — a separate check from the 136 RCT venues themselves. Only 2 came back significant at p≤0.05.</a:t>
            </a:r>
            <a:endParaRPr lang="en-US" sz="1050" dirty="0"/>
          </a:p>
        </p:txBody>
      </p:sp>
      <p:sp>
        <p:nvSpPr>
          <p:cNvPr id="18" name="Text 15"/>
          <p:cNvSpPr/>
          <p:nvPr/>
        </p:nvSpPr>
        <p:spPr>
          <a:xfrm>
            <a:off x="7406640" y="4599432"/>
            <a:ext cx="4206240" cy="12344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If randomization is clean, the count of false positives across 16 independent t-tests follows Binomial(16, 0.05): mean 0.8, P(≥2) ≈ 19%. Two sits well inside that distribution's main mass — nowhere near a red-flag tail value like 8+. Randomization worked as designed, not assumed.</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789920" cy="59436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How long does the lift last after the campaign ends?</a:t>
            </a:r>
            <a:endParaRPr lang="en-US" sz="26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persistence check · Q1</a:t>
            </a:r>
            <a:endParaRPr lang="en-US" sz="950" dirty="0"/>
          </a:p>
        </p:txBody>
      </p:sp>
      <p:sp>
        <p:nvSpPr>
          <p:cNvPr id="5" name="Text 3"/>
          <p:cNvSpPr/>
          <p:nvPr/>
        </p:nvSpPr>
        <p:spPr>
          <a:xfrm>
            <a:off x="548640" y="1005840"/>
            <a:ext cx="1097280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Same treated-vs-holdout contrast as the previous slide, applied to the weeks after the campaign ends — no new design, no new assumption.</a:t>
            </a:r>
            <a:endParaRPr lang="en-US" sz="1250" dirty="0"/>
          </a:p>
        </p:txBody>
      </p:sp>
      <p:graphicFrame>
        <p:nvGraphicFramePr>
          <p:cNvPr id="6" name="Chart 0" descr=""/>
          <p:cNvGraphicFramePr/>
          <p:nvPr/>
        </p:nvGraphicFramePr>
        <p:xfrm>
          <a:off x="548640" y="1600200"/>
          <a:ext cx="6583680" cy="28346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5262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same estimator, later windows</a:t>
            </a:r>
            <a:endParaRPr lang="en-US" sz="1250" dirty="0"/>
          </a:p>
        </p:txBody>
      </p:sp>
      <p:sp>
        <p:nvSpPr>
          <p:cNvPr id="8" name="Text 5"/>
          <p:cNvSpPr/>
          <p:nvPr/>
        </p:nvSpPr>
        <p:spPr>
          <a:xfrm>
            <a:off x="548640" y="4800600"/>
            <a:ext cx="6583680" cy="731520"/>
          </a:xfrm>
          <a:prstGeom prst="rect">
            <a:avLst/>
          </a:prstGeom>
          <a:noFill/>
          <a:ln/>
        </p:spPr>
        <p:txBody>
          <a:bodyPr wrap="square" rtlCol="0" anchor="ctr"/>
          <a:lstStyle/>
          <a:p>
            <a:pPr indent="0" marL="0">
              <a:lnSpc>
                <a:spcPts val="1300"/>
              </a:lnSpc>
              <a:buNone/>
            </a:pPr>
            <a:r>
              <a:rPr lang="en-US" sz="1000" dirty="0">
                <a:solidFill>
                  <a:srgbClr val="1A1A2E"/>
                </a:solidFill>
                <a:latin typeface="Calibri" pitchFamily="34" charset="0"/>
                <a:ea typeface="Calibri" pitchFamily="34" charset="-122"/>
                <a:cs typeface="Calibri" pitchFamily="34" charset="-120"/>
              </a:rPr>
              <a:t>Same 3-step ANCOVA-style delta as the RCT slide — per-venue delta (window avg − pre-period avg) → treated-mean minus holdout-mean → Welch's t-test for SE, CI, p-value — just re-applied to each window here instead of the single week 60–69 window.</a:t>
            </a:r>
            <a:endParaRPr lang="en-US" sz="1000" dirty="0"/>
          </a:p>
        </p:txBody>
      </p:sp>
      <p:sp>
        <p:nvSpPr>
          <p:cNvPr id="9" name="Text 6"/>
          <p:cNvSpPr/>
          <p:nvPr/>
        </p:nvSpPr>
        <p:spPr>
          <a:xfrm>
            <a:off x="548640" y="5577840"/>
            <a:ext cx="6583680" cy="77724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Pooled across all 4 venue types (67 treated / 69 holdout, every window) rather than split like the RCT slide: splitting was already thin at ~15–19 venues/arm for one window, and gets noisier once decay effects — smaller than the in-campaign one — are spread across four.</a:t>
            </a:r>
            <a:endParaRPr lang="en-US" sz="900" dirty="0"/>
          </a:p>
        </p:txBody>
      </p:sp>
      <p:sp>
        <p:nvSpPr>
          <p:cNvPr id="10" name="Text 7"/>
          <p:cNvSpPr/>
          <p:nvPr/>
        </p:nvSpPr>
        <p:spPr>
          <a:xfrm>
            <a:off x="7406640" y="1600200"/>
            <a:ext cx="4206240" cy="237744"/>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n = 67 treated / 69 holdout (same venues, every window)</a:t>
            </a:r>
            <a:endParaRPr lang="en-US" sz="950" dirty="0"/>
          </a:p>
        </p:txBody>
      </p:sp>
      <p:sp>
        <p:nvSpPr>
          <p:cNvPr id="11" name="Text 8"/>
          <p:cNvSpPr/>
          <p:nvPr/>
        </p:nvSpPr>
        <p:spPr>
          <a:xfrm>
            <a:off x="7406640" y="1892808"/>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Window              95% CI              p-value</a:t>
            </a:r>
            <a:endParaRPr lang="en-US" sz="950" dirty="0"/>
          </a:p>
        </p:txBody>
      </p:sp>
      <p:sp>
        <p:nvSpPr>
          <p:cNvPr id="12" name="Text 9"/>
          <p:cNvSpPr/>
          <p:nvPr/>
        </p:nvSpPr>
        <p:spPr>
          <a:xfrm>
            <a:off x="7406640" y="2185416"/>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During campaign    [10.8, 15.8]    &lt; 0.001</a:t>
            </a:r>
            <a:endParaRPr lang="en-US" sz="1000" dirty="0"/>
          </a:p>
        </p:txBody>
      </p:sp>
      <p:sp>
        <p:nvSpPr>
          <p:cNvPr id="13" name="Text 10"/>
          <p:cNvSpPr/>
          <p:nvPr/>
        </p:nvSpPr>
        <p:spPr>
          <a:xfrm>
            <a:off x="7406640" y="2514600"/>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0–10 wks after     [0.2, 4.8]      0.031</a:t>
            </a:r>
            <a:endParaRPr lang="en-US" sz="1000" dirty="0"/>
          </a:p>
        </p:txBody>
      </p:sp>
      <p:sp>
        <p:nvSpPr>
          <p:cNvPr id="14" name="Text 11"/>
          <p:cNvSpPr/>
          <p:nvPr/>
        </p:nvSpPr>
        <p:spPr>
          <a:xfrm>
            <a:off x="7406640" y="2843784"/>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10–20 wks after    [-3.8, 0.9]     0.236</a:t>
            </a:r>
            <a:endParaRPr lang="en-US" sz="1000" dirty="0"/>
          </a:p>
        </p:txBody>
      </p:sp>
      <p:sp>
        <p:nvSpPr>
          <p:cNvPr id="15" name="Text 12"/>
          <p:cNvSpPr/>
          <p:nvPr/>
        </p:nvSpPr>
        <p:spPr>
          <a:xfrm>
            <a:off x="7406640" y="3172968"/>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Full post (34wk)   [-1.4, 1.5]     0.945</a:t>
            </a:r>
            <a:endParaRPr lang="en-US" sz="1000" dirty="0"/>
          </a:p>
        </p:txBody>
      </p:sp>
      <p:sp>
        <p:nvSpPr>
          <p:cNvPr id="16" name="Text 13"/>
          <p:cNvSpPr/>
          <p:nvPr/>
        </p:nvSpPr>
        <p:spPr>
          <a:xfrm>
            <a:off x="7406640" y="3666744"/>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A small tail, then nothing</a:t>
            </a:r>
            <a:endParaRPr lang="en-US" sz="1200" dirty="0"/>
          </a:p>
        </p:txBody>
      </p:sp>
      <p:sp>
        <p:nvSpPr>
          <p:cNvPr id="17" name="Text 14"/>
          <p:cNvSpPr/>
          <p:nvPr/>
        </p:nvSpPr>
        <p:spPr>
          <a:xfrm>
            <a:off x="7406640" y="3977640"/>
            <a:ext cx="4206240" cy="1097280"/>
          </a:xfrm>
          <a:prstGeom prst="rect">
            <a:avLst/>
          </a:prstGeom>
          <a:noFill/>
          <a:ln/>
        </p:spPr>
        <p:txBody>
          <a:bodyPr wrap="square" rtlCol="0" anchor="ctr"/>
          <a:lstStyle/>
          <a:p>
            <a:pPr indent="0" marL="0">
              <a:lnSpc>
                <a:spcPts val="1350"/>
              </a:lnSpc>
              <a:buNone/>
            </a:pPr>
            <a:r>
              <a:rPr lang="en-US" sz="1050" dirty="0">
                <a:solidFill>
                  <a:srgbClr val="1A1A2E"/>
                </a:solidFill>
                <a:latin typeface="Calibri" pitchFamily="34" charset="0"/>
                <a:ea typeface="Calibri" pitchFamily="34" charset="-122"/>
                <a:cs typeface="Calibri" pitchFamily="34" charset="-120"/>
              </a:rPr>
              <a:t>The first 10 weeks after the campaign ends still show a real, significant tail — about 19% of the in-campaign lift (p=0.031). By 10–20 weeks out it's gone (p=0.236), and averaged across the full 34-week post-campaign panel the effect is a clean +0.05 (p=0.945).</a:t>
            </a:r>
            <a:endParaRPr lang="en-US" sz="1050" dirty="0"/>
          </a:p>
        </p:txBody>
      </p:sp>
      <p:sp>
        <p:nvSpPr>
          <p:cNvPr id="18" name="Text 15"/>
          <p:cNvSpPr/>
          <p:nvPr/>
        </p:nvSpPr>
        <p:spPr>
          <a:xfrm>
            <a:off x="7406640" y="5166360"/>
            <a:ext cx="4206240" cy="868680"/>
          </a:xfrm>
          <a:prstGeom prst="rect">
            <a:avLst/>
          </a:prstGeom>
          <a:noFill/>
          <a:ln/>
        </p:spPr>
        <p:txBody>
          <a:bodyPr wrap="square" rtlCol="0" anchor="ctr"/>
          <a:lstStyle/>
          <a:p>
            <a:pPr indent="0" marL="0">
              <a:lnSpc>
                <a:spcPts val="1350"/>
              </a:lnSpc>
              <a:buNone/>
            </a:pPr>
            <a:r>
              <a:rPr lang="en-US" sz="1050" i="1" dirty="0">
                <a:solidFill>
                  <a:srgbClr val="5B6178"/>
                </a:solidFill>
                <a:latin typeface="Calibri" pitchFamily="34" charset="0"/>
                <a:ea typeface="Calibri" pitchFamily="34" charset="-122"/>
                <a:cs typeface="Calibri" pitchFamily="34" charset="-120"/>
              </a:rPr>
              <a:t>Practical read: don't plan on meaningful carryover past the campaign's own window — each flight buys its own 10 weeks of impact, not lingering awareness. That argues for cadence, not one-and-done bursts.</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 post-campaign persistence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Measuring the campaigns we couldn't randomize</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2 of 6 · Answers Q1</a:t>
            </a:r>
            <a:endParaRPr lang="en-US" sz="950" dirty="0"/>
          </a:p>
        </p:txBody>
      </p:sp>
      <p:sp>
        <p:nvSpPr>
          <p:cNvPr id="5" name="Text 3"/>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Most advertisers' campaigns already ran, on venues they picked — not us. Synthetic control reconstructs the counterfactual anyway, with its own built-in checks.</a:t>
            </a:r>
            <a:endParaRPr lang="en-US" sz="1250" dirty="0"/>
          </a:p>
        </p:txBody>
      </p:sp>
      <p:graphicFrame>
        <p:nvGraphicFramePr>
          <p:cNvPr id="6" name="Chart 0" descr=""/>
          <p:cNvGraphicFramePr/>
          <p:nvPr/>
        </p:nvGraphicFramePr>
        <p:xfrm>
          <a:off x="548640" y="16459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406640" y="16459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Placebo p    Pre-RMSPE</a:t>
            </a:r>
            <a:endParaRPr lang="en-US" sz="1000" dirty="0"/>
          </a:p>
        </p:txBody>
      </p:sp>
      <p:sp>
        <p:nvSpPr>
          <p:cNvPr id="8" name="Text 5"/>
          <p:cNvSpPr/>
          <p:nvPr/>
        </p:nvSpPr>
        <p:spPr>
          <a:xfrm>
            <a:off x="7406640" y="19659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0.160        26.4</a:t>
            </a:r>
            <a:endParaRPr lang="en-US" sz="1050" dirty="0"/>
          </a:p>
        </p:txBody>
      </p:sp>
      <p:sp>
        <p:nvSpPr>
          <p:cNvPr id="9" name="Text 6"/>
          <p:cNvSpPr/>
          <p:nvPr/>
        </p:nvSpPr>
        <p:spPr>
          <a:xfrm>
            <a:off x="7406640" y="23500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0.050        14.4</a:t>
            </a:r>
            <a:endParaRPr lang="en-US" sz="1050" dirty="0"/>
          </a:p>
        </p:txBody>
      </p:sp>
      <p:sp>
        <p:nvSpPr>
          <p:cNvPr id="10" name="Text 7"/>
          <p:cNvSpPr/>
          <p:nvPr/>
        </p:nvSpPr>
        <p:spPr>
          <a:xfrm>
            <a:off x="7406640" y="27340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0.100        17.8</a:t>
            </a:r>
            <a:endParaRPr lang="en-US" sz="1050" dirty="0"/>
          </a:p>
        </p:txBody>
      </p:sp>
      <p:sp>
        <p:nvSpPr>
          <p:cNvPr id="11" name="Text 8"/>
          <p:cNvSpPr/>
          <p:nvPr/>
        </p:nvSpPr>
        <p:spPr>
          <a:xfrm>
            <a:off x="7406640" y="31181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0.110        8.3</a:t>
            </a:r>
            <a:endParaRPr lang="en-US" sz="1050" dirty="0"/>
          </a:p>
        </p:txBody>
      </p:sp>
      <p:sp>
        <p:nvSpPr>
          <p:cNvPr id="12" name="Text 9"/>
          <p:cNvSpPr/>
          <p:nvPr/>
        </p:nvSpPr>
        <p:spPr>
          <a:xfrm>
            <a:off x="7406640" y="3776472"/>
            <a:ext cx="4206240" cy="155448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Two validation checks, since synthetic control has no closed-form standard error: pre-period fit quality (RMSPE — poor fits are flagged and excluded from the aggregate estimate) and an in-space placebo test on every donor venue.</a:t>
            </a:r>
            <a:endParaRPr lang="en-US" sz="1100" dirty="0"/>
          </a:p>
        </p:txBody>
      </p:sp>
      <p:sp>
        <p:nvSpPr>
          <p:cNvPr id="13" name="Text 1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772400" y="1737360"/>
            <a:ext cx="3840480" cy="32004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Calibration adjustment</a:t>
            </a:r>
            <a:endParaRPr lang="en-US" sz="1200" dirty="0"/>
          </a:p>
        </p:txBody>
      </p:sp>
      <p:sp>
        <p:nvSpPr>
          <p:cNvPr id="8" name="Text 5"/>
          <p:cNvSpPr/>
          <p:nvPr/>
        </p:nvSpPr>
        <p:spPr>
          <a:xfrm>
            <a:off x="7772400" y="219456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Restaurants</a:t>
            </a:r>
            <a:endParaRPr lang="en-US" sz="1200" dirty="0"/>
          </a:p>
        </p:txBody>
      </p:sp>
      <p:sp>
        <p:nvSpPr>
          <p:cNvPr id="9" name="Text 6"/>
          <p:cNvSpPr/>
          <p:nvPr/>
        </p:nvSpPr>
        <p:spPr>
          <a:xfrm>
            <a:off x="9509760" y="219456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+134%</a:t>
            </a:r>
            <a:endParaRPr lang="en-US" sz="1800" dirty="0"/>
          </a:p>
        </p:txBody>
      </p:sp>
      <p:sp>
        <p:nvSpPr>
          <p:cNvPr id="10" name="Text 7"/>
          <p:cNvSpPr/>
          <p:nvPr/>
        </p:nvSpPr>
        <p:spPr>
          <a:xfrm>
            <a:off x="7772400" y="278892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Gyms</a:t>
            </a:r>
            <a:endParaRPr lang="en-US" sz="1200" dirty="0"/>
          </a:p>
        </p:txBody>
      </p:sp>
      <p:sp>
        <p:nvSpPr>
          <p:cNvPr id="11" name="Text 8"/>
          <p:cNvSpPr/>
          <p:nvPr/>
        </p:nvSpPr>
        <p:spPr>
          <a:xfrm>
            <a:off x="9509760" y="278892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+165%</a:t>
            </a:r>
            <a:endParaRPr lang="en-US" sz="1800" dirty="0"/>
          </a:p>
        </p:txBody>
      </p:sp>
      <p:sp>
        <p:nvSpPr>
          <p:cNvPr id="12" name="Text 9"/>
          <p:cNvSpPr/>
          <p:nvPr/>
        </p:nvSpPr>
        <p:spPr>
          <a:xfrm>
            <a:off x="7772400" y="338328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Bars</a:t>
            </a:r>
            <a:endParaRPr lang="en-US" sz="1200" dirty="0"/>
          </a:p>
        </p:txBody>
      </p:sp>
      <p:sp>
        <p:nvSpPr>
          <p:cNvPr id="13" name="Text 10"/>
          <p:cNvSpPr/>
          <p:nvPr/>
        </p:nvSpPr>
        <p:spPr>
          <a:xfrm>
            <a:off x="9509760" y="3383280"/>
            <a:ext cx="2103120" cy="502920"/>
          </a:xfrm>
          <a:prstGeom prst="rect">
            <a:avLst/>
          </a:prstGeom>
          <a:noFill/>
          <a:ln/>
        </p:spPr>
        <p:txBody>
          <a:bodyPr wrap="square" rtlCol="0" anchor="ctr"/>
          <a:lstStyle/>
          <a:p>
            <a:pPr indent="0" marL="0">
              <a:buNone/>
            </a:pPr>
            <a:r>
              <a:rPr lang="en-US" sz="1800" b="1" dirty="0">
                <a:solidFill>
                  <a:srgbClr val="2C7A57"/>
                </a:solidFill>
                <a:latin typeface="Calibri" pitchFamily="34" charset="0"/>
                <a:ea typeface="Calibri" pitchFamily="34" charset="-122"/>
                <a:cs typeface="Calibri" pitchFamily="34" charset="-120"/>
              </a:rPr>
              <a:t>+20%</a:t>
            </a:r>
            <a:endParaRPr lang="en-US" sz="1800" dirty="0"/>
          </a:p>
        </p:txBody>
      </p:sp>
      <p:sp>
        <p:nvSpPr>
          <p:cNvPr id="14" name="Text 11"/>
          <p:cNvSpPr/>
          <p:nvPr/>
        </p:nvSpPr>
        <p:spPr>
          <a:xfrm>
            <a:off x="7772400" y="397764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Waiting Rooms</a:t>
            </a:r>
            <a:endParaRPr lang="en-US" sz="1200" dirty="0"/>
          </a:p>
        </p:txBody>
      </p:sp>
      <p:sp>
        <p:nvSpPr>
          <p:cNvPr id="15" name="Text 12"/>
          <p:cNvSpPr/>
          <p:nvPr/>
        </p:nvSpPr>
        <p:spPr>
          <a:xfrm>
            <a:off x="9509760" y="397764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+100%</a:t>
            </a:r>
            <a:endParaRPr lang="en-US" sz="1800" dirty="0"/>
          </a:p>
        </p:txBody>
      </p:sp>
      <p:sp>
        <p:nvSpPr>
          <p:cNvPr id="16" name="Text 13"/>
          <p:cNvSpPr/>
          <p:nvPr/>
        </p:nvSpPr>
        <p:spPr>
          <a:xfrm>
            <a:off x="7772400" y="4709160"/>
            <a:ext cx="384048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For 3 of 4 venue types, the naive observational fit understated the RCT-calibrated estimate by 100–165% — the kind of gap real MMM practice cites as its core identification problem, and exactly why the RCT anchor matters.</a:t>
            </a:r>
            <a:endParaRPr lang="en-US" sz="1100" dirty="0"/>
          </a:p>
        </p:txBody>
      </p:sp>
      <p:sp>
        <p:nvSpPr>
          <p:cNvPr id="17"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robustness check ·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stress-test scenario: a competing advertiser ramps up on the same venues at the same time, correlated with Atmosphere's own exposure — the kind of overlap a real MMM has to prove it's robust to.</a:t>
            </a:r>
            <a:endParaRPr lang="en-US" sz="120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1600200"/>
            <a:ext cx="3867912" cy="1234440"/>
          </a:xfrm>
          <a:prstGeom prst="roundRect">
            <a:avLst>
              <a:gd name="adj" fmla="val 5926"/>
            </a:avLst>
          </a:prstGeom>
          <a:solidFill>
            <a:srgbClr val="F5F7FC"/>
          </a:solidFill>
          <a:ln/>
        </p:spPr>
      </p:sp>
      <p:sp>
        <p:nvSpPr>
          <p:cNvPr id="8" name="Text 5"/>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9" name="Text 6"/>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10" name="Text 7"/>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11" name="Text 8"/>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at a moderate 0.35 correlation between competing media and Atmosphere's own exposure ramp, nowhere near a worst case. Controlling for the confound (green) recovers this model's own baseline from the previous slide — the RCT-scale calibration from that same slide is what closes the rest of the gap.</a:t>
            </a:r>
            <a:endParaRPr lang="en-US" sz="1000" dirty="0"/>
          </a:p>
        </p:txBody>
      </p:sp>
      <p:sp>
        <p:nvSpPr>
          <p:cNvPr id="12" name="Shape 9"/>
          <p:cNvSpPr/>
          <p:nvPr/>
        </p:nvSpPr>
        <p:spPr>
          <a:xfrm>
            <a:off x="548640" y="5687568"/>
            <a:ext cx="11091672" cy="713232"/>
          </a:xfrm>
          <a:prstGeom prst="roundRect">
            <a:avLst>
              <a:gd name="adj" fmla="val 7692"/>
            </a:avLst>
          </a:prstGeom>
          <a:solidFill>
            <a:srgbClr val="FDF1E3"/>
          </a:solidFill>
          <a:ln/>
        </p:spPr>
      </p:sp>
      <p:sp>
        <p:nvSpPr>
          <p:cNvPr id="13" name="Text 10"/>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4" name="Text 11"/>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Budget allocator: exact DP, not a greedy walk</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of 6 · Answers Q2</a:t>
            </a:r>
            <a:endParaRPr lang="en-US" sz="950" dirty="0"/>
          </a:p>
        </p:txBody>
      </p:sp>
      <p:sp>
        <p:nvSpPr>
          <p:cNvPr id="5" name="Shape 3"/>
          <p:cNvSpPr/>
          <p:nvPr/>
        </p:nvSpPr>
        <p:spPr>
          <a:xfrm>
            <a:off x="548640" y="1143000"/>
            <a:ext cx="11064240" cy="914400"/>
          </a:xfrm>
          <a:prstGeom prst="roundRect">
            <a:avLst>
              <a:gd name="adj" fmla="val 8000"/>
            </a:avLst>
          </a:prstGeom>
          <a:solidFill>
            <a:srgbClr val="FDF1E3"/>
          </a:solidFill>
          <a:ln/>
        </p:spPr>
      </p:sp>
      <p:sp>
        <p:nvSpPr>
          <p:cNvPr id="6" name="Text 4"/>
          <p:cNvSpPr/>
          <p:nvPr/>
        </p:nvSpPr>
        <p:spPr>
          <a:xfrm>
            <a:off x="777240" y="1234440"/>
            <a:ext cx="10607040" cy="777240"/>
          </a:xfrm>
          <a:prstGeom prst="rect">
            <a:avLst/>
          </a:prstGeom>
          <a:noFill/>
          <a:ln/>
        </p:spPr>
        <p:txBody>
          <a:bodyPr wrap="square" rtlCol="0" anchor="ctr"/>
          <a:lstStyle/>
          <a:p>
            <a:pPr indent="0" marL="0">
              <a:lnSpc>
                <a:spcPts val="1500"/>
              </a:lnSpc>
              <a:buNone/>
            </a:pPr>
            <a:r>
              <a:rPr lang="en-US" sz="1200" i="1" dirty="0">
                <a:solidFill>
                  <a:srgbClr val="8A4B0A"/>
                </a:solidFill>
                <a:latin typeface="Calibri" pitchFamily="34" charset="0"/>
                <a:ea typeface="Calibri" pitchFamily="34" charset="-122"/>
                <a:cs typeface="Calibri" pitchFamily="34" charset="-120"/>
              </a:rPr>
              <a:t>A Hill/S-shaped response curve is CONVEX before its inflection point — a greedy “spend the next dollar on whichever venue type currently looks best” heuristic isn't guaranteed optimal there. An earlier greedy version of this allocator actually underperformed a naive equal-split baseline; the DP formulation below has no concavity requirement and is guaranteed to find the grid-optimal allocation.</a:t>
            </a:r>
            <a:endParaRPr lang="en-US" sz="1200" dirty="0"/>
          </a:p>
        </p:txBody>
      </p:sp>
      <p:graphicFrame>
        <p:nvGraphicFramePr>
          <p:cNvPr id="7" name="Chart 0" descr=""/>
          <p:cNvGraphicFramePr/>
          <p:nvPr/>
        </p:nvGraphicFramePr>
        <p:xfrm>
          <a:off x="548640" y="228600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498080" y="2331720"/>
            <a:ext cx="4114800" cy="36576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$100,000 weekly budget example</a:t>
            </a:r>
            <a:endParaRPr lang="en-US" sz="1300" dirty="0"/>
          </a:p>
        </p:txBody>
      </p:sp>
      <p:sp>
        <p:nvSpPr>
          <p:cNvPr id="9" name="Text 6"/>
          <p:cNvSpPr/>
          <p:nvPr/>
        </p:nvSpPr>
        <p:spPr>
          <a:xfrm>
            <a:off x="7498080" y="27889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10" name="Text 7"/>
          <p:cNvSpPr/>
          <p:nvPr/>
        </p:nvSpPr>
        <p:spPr>
          <a:xfrm>
            <a:off x="9326880" y="27432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11" name="Text 8"/>
          <p:cNvSpPr/>
          <p:nvPr/>
        </p:nvSpPr>
        <p:spPr>
          <a:xfrm>
            <a:off x="7498080" y="31729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2" name="Text 9"/>
          <p:cNvSpPr/>
          <p:nvPr/>
        </p:nvSpPr>
        <p:spPr>
          <a:xfrm>
            <a:off x="7498080" y="38404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3" name="Text 10"/>
          <p:cNvSpPr/>
          <p:nvPr/>
        </p:nvSpPr>
        <p:spPr>
          <a:xfrm>
            <a:off x="9326880" y="37947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4" name="Text 11"/>
          <p:cNvSpPr/>
          <p:nvPr/>
        </p:nvSpPr>
        <p:spPr>
          <a:xfrm>
            <a:off x="7498080" y="42245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5" name="Text 12"/>
          <p:cNvSpPr/>
          <p:nvPr/>
        </p:nvSpPr>
        <p:spPr>
          <a:xfrm>
            <a:off x="7498080" y="48920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6" name="Text 13"/>
          <p:cNvSpPr/>
          <p:nvPr/>
        </p:nvSpPr>
        <p:spPr>
          <a:xfrm>
            <a:off x="9326880" y="48463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7" name="Text 14"/>
          <p:cNvSpPr/>
          <p:nvPr/>
        </p:nvSpPr>
        <p:spPr>
          <a:xfrm>
            <a:off x="7498080" y="52760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8" name="Text 15"/>
          <p:cNvSpPr/>
          <p:nvPr/>
        </p:nvSpPr>
        <p:spPr>
          <a:xfrm>
            <a:off x="7498080" y="5989320"/>
            <a:ext cx="4206240" cy="5486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Transition · Q1–Q2 → Q3–Q4</a:t>
            </a:r>
            <a:endParaRPr lang="en-US" sz="950" dirty="0"/>
          </a:p>
        </p:txBody>
      </p:sp>
      <p:sp>
        <p:nvSpPr>
          <p:cNvPr id="5" name="Text 3"/>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6" name="Shape 4"/>
          <p:cNvSpPr/>
          <p:nvPr/>
        </p:nvSpPr>
        <p:spPr>
          <a:xfrm>
            <a:off x="548640" y="1691640"/>
            <a:ext cx="5212080" cy="4343400"/>
          </a:xfrm>
          <a:prstGeom prst="roundRect">
            <a:avLst>
              <a:gd name="adj" fmla="val 2105"/>
            </a:avLst>
          </a:prstGeom>
          <a:solidFill>
            <a:srgbClr val="2A3480"/>
          </a:solidFill>
          <a:ln/>
        </p:spPr>
      </p:sp>
      <p:sp>
        <p:nvSpPr>
          <p:cNvPr id="7" name="Text 5"/>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8" name="Text 6"/>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9" name="Text 7"/>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10" name="Text 8"/>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11" name="Text 9"/>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2" name="Shape 10"/>
          <p:cNvSpPr/>
          <p:nvPr/>
        </p:nvSpPr>
        <p:spPr>
          <a:xfrm>
            <a:off x="6217920" y="1691640"/>
            <a:ext cx="5212080" cy="4343400"/>
          </a:xfrm>
          <a:prstGeom prst="roundRect">
            <a:avLst>
              <a:gd name="adj" fmla="val 2105"/>
            </a:avLst>
          </a:prstGeom>
          <a:solidFill>
            <a:srgbClr val="E8871E"/>
          </a:solidFill>
          <a:ln/>
        </p:spPr>
      </p:sp>
      <p:sp>
        <p:nvSpPr>
          <p:cNvPr id="13" name="Text 11"/>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4" name="Text 12"/>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5" name="Text 13"/>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6" name="Text 14"/>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7" name="Text 15"/>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8" name="Text 16"/>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9" name="Text 17"/>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2C7A57"/>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Step 5 of 6 · Answers Q3</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Gradient-boosted trees on observable venue characteristics + the calibrated per-exposure lift as a feature.</a:t>
            </a:r>
            <a:endParaRPr lang="en-US" sz="125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$45</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MAE</a:t>
            </a:r>
            <a:endParaRPr lang="en-US" sz="95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Venues flagged</a:t>
            </a:r>
            <a:endParaRPr lang="en-US" sz="95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20" name="Text 17"/>
          <p:cNvSpPr/>
          <p:nvPr/>
        </p:nvSpPr>
        <p:spPr>
          <a:xfrm>
            <a:off x="6263640" y="3209544"/>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21" name="Text 18"/>
          <p:cNvSpPr/>
          <p:nvPr/>
        </p:nvSpPr>
        <p:spPr>
          <a:xfrm>
            <a:off x="9966960" y="3209544"/>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2" name="Text 19"/>
          <p:cNvSpPr/>
          <p:nvPr/>
        </p:nvSpPr>
        <p:spPr>
          <a:xfrm>
            <a:off x="6263640" y="3502152"/>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3" name="Text 20"/>
          <p:cNvSpPr/>
          <p:nvPr/>
        </p:nvSpPr>
        <p:spPr>
          <a:xfrm>
            <a:off x="9966960" y="3502152"/>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4" name="Text 21"/>
          <p:cNvSpPr/>
          <p:nvPr/>
        </p:nvSpPr>
        <p:spPr>
          <a:xfrm>
            <a:off x="6263640" y="3794760"/>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5" name="Text 22"/>
          <p:cNvSpPr/>
          <p:nvPr/>
        </p:nvSpPr>
        <p:spPr>
          <a:xfrm>
            <a:off x="9966960" y="3794760"/>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6" name="Text 23"/>
          <p:cNvSpPr/>
          <p:nvPr/>
        </p:nvSpPr>
        <p:spPr>
          <a:xfrm>
            <a:off x="6263640" y="4087368"/>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7" name="Text 24"/>
          <p:cNvSpPr/>
          <p:nvPr/>
        </p:nvSpPr>
        <p:spPr>
          <a:xfrm>
            <a:off x="9966960" y="4087368"/>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8" name="Text 25"/>
          <p:cNvSpPr/>
          <p:nvPr/>
        </p:nvSpPr>
        <p:spPr>
          <a:xfrm>
            <a:off x="6263640" y="4562856"/>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29" name="Text 26"/>
          <p:cNvSpPr/>
          <p:nvPr/>
        </p:nvSpPr>
        <p:spPr>
          <a:xfrm>
            <a:off x="6263640" y="4892040"/>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30" name="Text 27"/>
          <p:cNvSpPr/>
          <p:nvPr/>
        </p:nvSpPr>
        <p:spPr>
          <a:xfrm>
            <a:off x="10195560" y="4892040"/>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31" name="Text 28"/>
          <p:cNvSpPr/>
          <p:nvPr/>
        </p:nvSpPr>
        <p:spPr>
          <a:xfrm>
            <a:off x="6263640" y="5184648"/>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2" name="Text 29"/>
          <p:cNvSpPr/>
          <p:nvPr/>
        </p:nvSpPr>
        <p:spPr>
          <a:xfrm>
            <a:off x="10195560" y="5184648"/>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3" name="Text 30"/>
          <p:cNvSpPr/>
          <p:nvPr/>
        </p:nvSpPr>
        <p:spPr>
          <a:xfrm>
            <a:off x="6263640" y="5477256"/>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4" name="Text 31"/>
          <p:cNvSpPr/>
          <p:nvPr/>
        </p:nvSpPr>
        <p:spPr>
          <a:xfrm>
            <a:off x="10195560" y="5477256"/>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5" name="Text 32"/>
          <p:cNvSpPr/>
          <p:nvPr/>
        </p:nvSpPr>
        <p:spPr>
          <a:xfrm>
            <a:off x="6263640" y="5769864"/>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6" name="Text 33"/>
          <p:cNvSpPr/>
          <p:nvPr/>
        </p:nvSpPr>
        <p:spPr>
          <a:xfrm>
            <a:off x="10195560" y="5769864"/>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7" name="Text 34"/>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38" name="Text 3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8E3B60"/>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Step 6 of 6 · Answers Q4</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a:t>
            </a:r>
            <a:endParaRPr lang="en-US" sz="90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0.13</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Brier score</a:t>
            </a:r>
            <a:endParaRPr lang="en-US" sz="90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Venues flagged</a:t>
            </a:r>
            <a:endParaRPr lang="en-US" sz="90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20" name="Text 17"/>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21" name="Text 18"/>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2" name="Text 19"/>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3" name="Text 20"/>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4" name="Text 21"/>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5" name="Text 22"/>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6" name="Text 23"/>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7" name="Text 24"/>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8" name="Text 25"/>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9" name="Text 26"/>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30" name="Text 27"/>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31" name="Text 28"/>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3" name="Text 30"/>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4" name="Text 31"/>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5" name="Text 32"/>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7" name="Text 34"/>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8" name="Text 35"/>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because churn is a rarer, noisier event to call than revenue — typical for a churn classifier, not a modeling miss.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9" name="Text 3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the RCT-calibrated estimate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are evaluated honestly out-of-fold, never scored on a venue they were trained 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2026-09-08T15:29:16Z</dcterms:created>
  <dcterms:modified xsi:type="dcterms:W3CDTF">2026-09-08T15:29:16Z</dcterms:modified>
</cp:coreProperties>
</file>